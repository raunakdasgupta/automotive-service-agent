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a72aea1-f9e1-95e4-5f39-f47c87cd18d4}">
          <p14:sldIdLst>
            <p14:sldId id="256"/>
          </p14:sldIdLst>
        </p14:section>
        <p14:section name="Architecture" id="{550a3267-1895-7998-6c31-42f755f35388}">
          <p14:sldIdLst>
            <p14:sldId id="257"/>
          </p14:sldIdLst>
        </p14:section>
        <p14:section name="Application flow" id="{dd905b96-94bf-340a-7634-72b8bbc7133c}">
          <p14:sldIdLst>
            <p14:sldId id="258"/>
          </p14:sldIdLst>
        </p14:section>
        <p14:section name="Components" id="{d1d95a51-c19c-fd9d-5ae0-6e3de6b33c06}">
          <p14:sldIdLst>
            <p14:sldId id="259"/>
          </p14:sldIdLst>
        </p14:section>
        <p14:section name="Deployment" id="{a105c1b3-5aa9-3f71-30d7-d3ee12e33d8a}">
          <p14:sldIdLst>
            <p14:sldId id="260"/>
          </p14:sldIdLst>
        </p14:section>
        <p14:section name="Data model" id="{92119576-6055-2846-3ce4-fe6e691ff3d3}">
          <p14:sldIdLst>
            <p14:sldId id="261"/>
          </p14:sldIdLst>
        </p14:section>
        <p14:section name="Lifecycle" id="{62b8451e-4381-62ac-abf1-5cf666b73f13}">
          <p14:sldIdLst>
            <p14:sldId id="262"/>
          </p14:sldIdLst>
        </p14:section>
        <p14:section name="Usage" id="{a3765b3e-ac86-40ef-23dc-d49335b4f7a7}">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87.5% composed in Python is the project's thesis, and Grafana reports it independently of the eleven timings in docs/EXAMPLES.md.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574874" y="2249424"/>
            <a:ext cx="2645012" cy="1993392"/>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93162" y="2267712"/>
            <a:ext cx="2608436" cy="1956816"/>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Manager Assistant — the question</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the router picks one typed tool</a:t>
            </a:r>
            <a:endParaRPr lang="en-US" sz="1000" dirty="0"/>
          </a:p>
          <a:p>
            <a:pPr marL="342900" indent="-342900">
              <a:lnSpc>
                <a:spcPct val="100000"/>
              </a:lnSpc>
              <a:spcAft>
                <a:spcPts val="300"/>
              </a:spcAft>
              <a:buSzPct val="100000"/>
              <a:buChar char="•"/>
            </a:pPr>
            <a:r>
              <a:rPr lang="en-US" sz="1000" dirty="0">
                <a:solidFill>
                  <a:srgbClr val="5C6B64"/>
                </a:solidFill>
              </a:rPr>
              <a:t>Every figure traces to a record id</a:t>
            </a:r>
            <a:endParaRPr lang="en-US" sz="1000" dirty="0"/>
          </a:p>
          <a:p>
            <a:pPr marL="342900" indent="-342900">
              <a:lnSpc>
                <a:spcPct val="100000"/>
              </a:lnSpc>
              <a:spcAft>
                <a:spcPts val="300"/>
              </a:spcAft>
              <a:buSzPct val="100000"/>
              <a:buChar char="•"/>
            </a:pPr>
            <a:r>
              <a:rPr lang="en-US" sz="1000" dirty="0">
                <a:solidFill>
                  <a:srgbClr val="5C6B64"/>
                </a:solidFill>
              </a:rPr>
              <a:t>Refusals read the record first, then decline</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under real load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Ungrounded answers 0  ·  answers cut short 0</a:t>
            </a:r>
            <a:endParaRPr lang="en-US" sz="1000" dirty="0"/>
          </a:p>
          <a:p>
            <a:pPr marL="342900" indent="-342900">
              <a:lnSpc>
                <a:spcPct val="100000"/>
              </a:lnSpc>
              <a:spcAft>
                <a:spcPts val="300"/>
              </a:spcAft>
              <a:buSzPct val="100000"/>
              <a:buChar char="•"/>
            </a:pPr>
            <a:r>
              <a:rPr lang="en-US" sz="1000" dirty="0">
                <a:solidFill>
                  <a:srgbClr val="5C6B64"/>
                </a:solidFill>
              </a:rPr>
              <a:t>p95 by path: python ~0s against llm ~10s</a:t>
            </a:r>
            <a:endParaRPr lang="en-US" sz="1000" dirty="0"/>
          </a:p>
          <a:p>
            <a:pPr marL="342900" indent="-342900">
              <a:lnSpc>
                <a:spcPct val="100000"/>
              </a:lnSpc>
              <a:spcAft>
                <a:spcPts val="300"/>
              </a:spcAft>
              <a:buSzPct val="100000"/>
              <a:buChar char="•"/>
            </a:pPr>
            <a:r>
              <a:rPr lang="en-US" sz="1000" dirty="0">
                <a:solidFill>
                  <a:srgbClr val="5C6B64"/>
                </a:solidFill>
              </a:rPr>
              <a:t>Six tools in use; GPU tracks the semantic queries</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list_ros dominates; search_updates is the rare one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 traffic must hit the API</a:t>
            </a:r>
            <a:endParaRPr lang="en-US" sz="1000" dirty="0"/>
          </a:p>
        </p:txBody>
      </p:sp>
      <p:sp>
        <p:nvSpPr>
          <p:cNvPr id="34" name="frame-11-attu-schema-1"/>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schema-1024.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in Attu — loaded and indexed</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vector: FloatVector(1024), AUTOINDEX(COSINE)</a:t>
            </a:r>
            <a:endParaRPr lang="en-US" sz="1000" dirty="0"/>
          </a:p>
          <a:p>
            <a:pPr marL="342900" indent="-342900">
              <a:lnSpc>
                <a:spcPct val="100000"/>
              </a:lnSpc>
              <a:spcAft>
                <a:spcPts val="300"/>
              </a:spcAft>
              <a:buSzPct val="100000"/>
              <a:buChar char="•"/>
            </a:pPr>
            <a:r>
              <a:rPr lang="en-US" sz="1000" dirty="0">
                <a:solidFill>
                  <a:srgbClr val="5C6B64"/>
                </a:solidFill>
              </a:rPr>
              <a:t>Loaded, replica 1, entity count 1,690</a:t>
            </a:r>
            <a:endParaRPr lang="en-US" sz="1000" dirty="0"/>
          </a:p>
          <a:p>
            <a:pPr marL="342900" indent="-342900">
              <a:lnSpc>
                <a:spcPct val="100000"/>
              </a:lnSpc>
              <a:spcAft>
                <a:spcPts val="300"/>
              </a:spcAft>
              <a:buSzPct val="100000"/>
              <a:buChar char="•"/>
            </a:pPr>
            <a:r>
              <a:rPr lang="en-US" sz="1000" dirty="0">
                <a:solidFill>
                  <a:srgbClr val="5C6B64"/>
                </a:solidFill>
              </a:rPr>
              <a:t>Rerank earns its place: for "whistling noise",</a:t>
            </a:r>
            <a:endParaRPr lang="en-US" sz="1000" dirty="0"/>
          </a:p>
          <a:p>
            <a:pPr marL="342900" indent="-342900">
              <a:lnSpc>
                <a:spcPct val="100000"/>
              </a:lnSpc>
              <a:spcAft>
                <a:spcPts val="300"/>
              </a:spcAft>
              <a:buSzPct val="100000"/>
              <a:buChar char="•"/>
            </a:pPr>
            <a:r>
              <a:rPr lang="en-US" sz="1000" dirty="0">
                <a:solidFill>
                  <a:srgbClr val="5C6B64"/>
                </a:solidFill>
              </a:rPr>
              <a:t>vector-only returns knocking and vibration; the</a:t>
            </a:r>
            <a:endParaRPr lang="en-US" sz="1000" dirty="0"/>
          </a:p>
          <a:p>
            <a:pPr marL="342900" indent="-342900">
              <a:lnSpc>
                <a:spcPct val="100000"/>
              </a:lnSpc>
              <a:spcAft>
                <a:spcPts val="300"/>
              </a:spcAft>
              <a:buSzPct val="100000"/>
              <a:buChar char="•"/>
            </a:pPr>
            <a:r>
              <a:rPr lang="en-US" sz="1000" dirty="0">
                <a:solidFill>
                  <a:srgbClr val="5C6B64"/>
                </a:solidFill>
              </a:rPr>
              <a:t>reranker returns blowing-noise - different ROs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Every RO, filtered to safety, blocked, at-risk or waiting</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with the updates as written</a:t>
            </a:r>
            <a:endParaRPr lang="en-US" sz="1000" dirty="0"/>
          </a:p>
        </p:txBody>
      </p:sp>
      <p:sp>
        <p:nvSpPr>
          <p:cNvPr id="12" name="frame-03-app-technicia"/>
          <p:cNvSpPr/>
          <p:nvPr/>
        </p:nvSpPr>
        <p:spPr>
          <a:xfrm>
            <a:off x="8617775" y="1261872"/>
            <a:ext cx="2571878" cy="1938528"/>
          </a:xfrm>
          <a:prstGeom prst="rect">
            <a:avLst/>
          </a:prstGeom>
          <a:solidFill>
            <a:srgbClr val="FFFFFF"/>
          </a:solidFill>
          <a:ln w="12700">
            <a:solidFill>
              <a:srgbClr val="C3CCC0"/>
            </a:solidFill>
            <a:prstDash val="solid"/>
          </a:ln>
        </p:spPr>
      </p:sp>
      <p:pic>
        <p:nvPicPr>
          <p:cNvPr id="13" name="Image 2" descr="docs/screenshots/03-app-technician-update.jpg">    </p:cNvPr>
          <p:cNvPicPr>
            <a:picLocks noChangeAspect="1"/>
          </p:cNvPicPr>
          <p:nvPr/>
        </p:nvPicPr>
        <p:blipFill>
          <a:blip r:embed="rId3"/>
          <a:stretch>
            <a:fillRect/>
          </a:stretch>
        </p:blipFill>
        <p:spPr>
          <a:xfrm>
            <a:off x="8636063" y="1280160"/>
            <a:ext cx="2535302"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Log work by voice or text, then read the diff card</a:t>
            </a:r>
            <a:endParaRPr lang="en-US" sz="1000" dirty="0"/>
          </a:p>
        </p:txBody>
      </p:sp>
      <p:sp>
        <p:nvSpPr>
          <p:cNvPr id="16" name="frame-04-app-shift-han"/>
          <p:cNvSpPr/>
          <p:nvPr/>
        </p:nvSpPr>
        <p:spPr>
          <a:xfrm>
            <a:off x="1002042" y="4041648"/>
            <a:ext cx="2571878" cy="1938528"/>
          </a:xfrm>
          <a:prstGeom prst="rect">
            <a:avLst/>
          </a:prstGeom>
          <a:solidFill>
            <a:srgbClr val="FFFFFF"/>
          </a:solidFill>
          <a:ln w="12700">
            <a:solidFill>
              <a:srgbClr val="C3CCC0"/>
            </a:solidFill>
            <a:prstDash val="solid"/>
          </a:ln>
        </p:spPr>
      </p:sp>
      <p:pic>
        <p:nvPicPr>
          <p:cNvPr id="17" name="Image 3" descr="docs/screenshots/04-app-shift-handover.jpg">    </p:cNvPr>
          <p:cNvPicPr>
            <a:picLocks noChangeAspect="1"/>
          </p:cNvPicPr>
          <p:nvPr/>
        </p:nvPicPr>
        <p:blipFill>
          <a:blip r:embed="rId4"/>
          <a:stretch>
            <a:fillRect/>
          </a:stretch>
        </p:blipFill>
        <p:spPr>
          <a:xfrm>
            <a:off x="1020330" y="4059936"/>
            <a:ext cx="2535302"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Prioritised brief: safety, breached, at-risk, blocked</a:t>
            </a:r>
            <a:endParaRPr lang="en-US" sz="1000" dirty="0"/>
          </a:p>
        </p:txBody>
      </p:sp>
      <p:sp>
        <p:nvSpPr>
          <p:cNvPr id="20" name="frame-06-app-data-and-"/>
          <p:cNvSpPr/>
          <p:nvPr/>
        </p:nvSpPr>
        <p:spPr>
          <a:xfrm>
            <a:off x="4809909" y="4041648"/>
            <a:ext cx="2571878" cy="1938528"/>
          </a:xfrm>
          <a:prstGeom prst="rect">
            <a:avLst/>
          </a:prstGeom>
          <a:solidFill>
            <a:srgbClr val="FFFFFF"/>
          </a:solidFill>
          <a:ln w="12700">
            <a:solidFill>
              <a:srgbClr val="C3CCC0"/>
            </a:solidFill>
            <a:prstDash val="solid"/>
          </a:ln>
        </p:spPr>
      </p:sp>
      <p:pic>
        <p:nvPicPr>
          <p:cNvPr id="21" name="Image 4" descr="docs/screenshots/06-app-data-and-retrieval.jpg">    </p:cNvPr>
          <p:cNvPicPr>
            <a:picLocks noChangeAspect="1"/>
          </p:cNvPicPr>
          <p:nvPr/>
        </p:nvPicPr>
        <p:blipFill>
          <a:blip r:embed="rId5"/>
          <a:stretch>
            <a:fillRect/>
          </a:stretch>
        </p:blipFill>
        <p:spPr>
          <a:xfrm>
            <a:off x="4828197" y="4059936"/>
            <a:ext cx="2535302"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Data &amp; Retrieval</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Points at the store consoles rather than embedding them</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read-write, bound to loopback</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Technician Update, Shift Handover and Data &amp; Retrieval were captured against the hosted models rather than the local NIMs — Chromium hangs on those three Gradio tabs, so they are not re-taken automatically. docs/screenshots/README.md dates every frame.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2026-10-09T13:59:45Z</dcterms:created>
  <dcterms:modified xsi:type="dcterms:W3CDTF">2026-10-09T13:59:45Z</dcterms:modified>
</cp:coreProperties>
</file>