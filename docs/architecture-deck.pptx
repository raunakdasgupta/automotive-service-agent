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b5469768-56bd-f9f2-0761-843d6290ddd0}">
          <p14:sldIdLst>
            <p14:sldId id="256"/>
          </p14:sldIdLst>
        </p14:section>
        <p14:section name="Architecture" id="{c33dcb23-6997-0e4e-4092-7c58dd2a80b4}">
          <p14:sldIdLst>
            <p14:sldId id="257"/>
          </p14:sldIdLst>
        </p14:section>
        <p14:section name="Application flow" id="{33e1ae12-3fee-9c65-afdb-82b5956f019b}">
          <p14:sldIdLst>
            <p14:sldId id="258"/>
          </p14:sldIdLst>
        </p14:section>
        <p14:section name="Components" id="{1c800442-9b41-5e30-5d35-7a7fdd408146}">
          <p14:sldIdLst>
            <p14:sldId id="259"/>
          </p14:sldIdLst>
        </p14:section>
        <p14:section name="Deployment" id="{32ee63e6-ba1f-283c-e16a-4139ff13b3de}">
          <p14:sldIdLst>
            <p14:sldId id="260"/>
          </p14:sldIdLst>
        </p14:section>
        <p14:section name="Data model" id="{c0554a48-1909-2373-f1f1-5b5de235cd04}">
          <p14:sldIdLst>
            <p14:sldId id="261"/>
          </p14:sldIdLst>
        </p14:section>
        <p14:section name="Lifecycle" id="{53e5e271-ee25-bfc1-b41a-cd3820c7c919}">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Thirteen of the fourteen NVIDIA components are running; NemoClaw is blocked by a platform fault, so it is drawn dashed.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524 of 524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182880"/>
            <a:ext cx="8229600" cy="329184"/>
          </a:xfrm>
          <a:prstGeom prst="rect">
            <a:avLst/>
          </a:prstGeom>
          <a:noFill/>
          <a:ln/>
        </p:spPr>
        <p:txBody>
          <a:bodyPr wrap="square" lIns="0" tIns="0" rIns="0" bIns="0" rtlCol="0" anchor="ctr"/>
          <a:lstStyle/>
          <a:p>
            <a:pPr indent="0" marL="0">
              <a:buNone/>
            </a:pPr>
            <a:r>
              <a:rPr lang="en-US" sz="2300" b="1" spc="50" kern="0" dirty="0">
                <a:solidFill>
                  <a:srgbClr val="14302A"/>
                </a:solidFill>
                <a:latin typeface="Arial" pitchFamily="34" charset="0"/>
                <a:ea typeface="Arial" pitchFamily="34" charset="-122"/>
                <a:cs typeface="Arial" pitchFamily="34" charset="-120"/>
              </a:rPr>
              <a:t>AGENTIC AI USE CASE</a:t>
            </a:r>
            <a:endParaRPr lang="en-US" sz="2300" dirty="0"/>
          </a:p>
        </p:txBody>
      </p:sp>
      <p:sp>
        <p:nvSpPr>
          <p:cNvPr id="3" name="Text 1"/>
          <p:cNvSpPr txBox="1"/>
          <p:nvPr/>
        </p:nvSpPr>
        <p:spPr>
          <a:xfrm>
            <a:off x="502920" y="512064"/>
            <a:ext cx="9144000" cy="237744"/>
          </a:xfrm>
          <a:prstGeom prst="rect">
            <a:avLst/>
          </a:prstGeom>
          <a:noFill/>
          <a:ln/>
        </p:spPr>
        <p:txBody>
          <a:bodyPr wrap="square" lIns="0" tIns="0" rIns="0" bIns="0" rtlCol="0" anchor="ctr"/>
          <a:lstStyle/>
          <a:p>
            <a:pPr indent="0" marL="0">
              <a:buNone/>
            </a:pPr>
            <a:r>
              <a:rPr lang="en-US" sz="1450" b="1" dirty="0">
                <a:solidFill>
                  <a:srgbClr val="3E5A50"/>
                </a:solidFill>
                <a:latin typeface="Arial" pitchFamily="34" charset="0"/>
                <a:ea typeface="Arial" pitchFamily="34" charset="-122"/>
                <a:cs typeface="Arial" pitchFamily="34" charset="-120"/>
              </a:rPr>
              <a:t>Automotive Service Operations Intelligence Agent</a:t>
            </a:r>
            <a:endParaRPr lang="en-US" sz="1450" dirty="0"/>
          </a:p>
        </p:txBody>
      </p:sp>
      <p:sp>
        <p:nvSpPr>
          <p:cNvPr id="4" name="panel-OBJECTIVE"/>
          <p:cNvSpPr/>
          <p:nvPr/>
        </p:nvSpPr>
        <p:spPr>
          <a:xfrm>
            <a:off x="502920" y="786384"/>
            <a:ext cx="5455768" cy="1042416"/>
          </a:xfrm>
          <a:prstGeom prst="rect">
            <a:avLst/>
          </a:prstGeom>
          <a:solidFill>
            <a:srgbClr val="EFF4EA"/>
          </a:solidFill>
          <a:ln w="12700">
            <a:solidFill>
              <a:srgbClr val="EFF4EA"/>
            </a:solidFill>
            <a:prstDash val="solid"/>
          </a:ln>
        </p:spPr>
      </p:sp>
      <p:sp>
        <p:nvSpPr>
          <p:cNvPr id="5" name="Shape 3"/>
          <p:cNvSpPr/>
          <p:nvPr/>
        </p:nvSpPr>
        <p:spPr>
          <a:xfrm>
            <a:off x="502920" y="786384"/>
            <a:ext cx="68580" cy="1042416"/>
          </a:xfrm>
          <a:prstGeom prst="rect">
            <a:avLst/>
          </a:prstGeom>
          <a:solidFill>
            <a:srgbClr val="76B900"/>
          </a:solidFill>
          <a:ln w="12700">
            <a:solidFill>
              <a:srgbClr val="76B900"/>
            </a:solidFill>
            <a:prstDash val="solid"/>
          </a:ln>
        </p:spPr>
      </p:sp>
      <p:sp>
        <p:nvSpPr>
          <p:cNvPr id="6" name="Text 4"/>
          <p:cNvSpPr txBox="1"/>
          <p:nvPr/>
        </p:nvSpPr>
        <p:spPr>
          <a:xfrm>
            <a:off x="704088"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OBJECTIVE</a:t>
            </a:r>
            <a:endParaRPr lang="en-US" sz="1100" dirty="0"/>
          </a:p>
        </p:txBody>
      </p:sp>
      <p:sp>
        <p:nvSpPr>
          <p:cNvPr id="7" name="Text 5"/>
          <p:cNvSpPr txBox="1"/>
          <p:nvPr/>
        </p:nvSpPr>
        <p:spPr>
          <a:xfrm>
            <a:off x="704088" y="1069848"/>
            <a:ext cx="5071720" cy="694944"/>
          </a:xfrm>
          <a:prstGeom prst="rect">
            <a:avLst/>
          </a:prstGeom>
          <a:noFill/>
          <a:ln/>
        </p:spPr>
        <p:txBody>
          <a:bodyPr wrap="square" lIns="0" tIns="0" rIns="0" bIns="0" rtlCol="0" anchor="t"/>
          <a:lstStyle/>
          <a:p>
            <a:pPr indent="0" marL="0">
              <a:lnSpc>
                <a:spcPct val="98000"/>
              </a:lnSpc>
              <a:buNone/>
            </a:pPr>
            <a:r>
              <a:rPr lang="en-US" sz="1050" dirty="0">
                <a:solidFill>
                  <a:srgbClr val="3E5A50"/>
                </a:solidFill>
              </a:rPr>
              <a:t>A service department's day is recorded in speech and free text at the bay. Turning that into the state of each repair order is done by hand and from memory, so updates are lost and a manager's question gets an answer nobody can trace back.</a:t>
            </a:r>
            <a:endParaRPr lang="en-US" sz="1050" dirty="0"/>
          </a:p>
        </p:txBody>
      </p:sp>
      <p:sp>
        <p:nvSpPr>
          <p:cNvPr id="8" name="panel-BUSINESS OUTCOME"/>
          <p:cNvSpPr/>
          <p:nvPr/>
        </p:nvSpPr>
        <p:spPr>
          <a:xfrm>
            <a:off x="6233008" y="786384"/>
            <a:ext cx="5455768" cy="1042416"/>
          </a:xfrm>
          <a:prstGeom prst="rect">
            <a:avLst/>
          </a:prstGeom>
          <a:solidFill>
            <a:srgbClr val="F7EDE6"/>
          </a:solidFill>
          <a:ln w="12700">
            <a:solidFill>
              <a:srgbClr val="F7EDE6"/>
            </a:solidFill>
            <a:prstDash val="solid"/>
          </a:ln>
        </p:spPr>
      </p:sp>
      <p:sp>
        <p:nvSpPr>
          <p:cNvPr id="9" name="Shape 7"/>
          <p:cNvSpPr/>
          <p:nvPr/>
        </p:nvSpPr>
        <p:spPr>
          <a:xfrm>
            <a:off x="6233008" y="786384"/>
            <a:ext cx="68580" cy="1042416"/>
          </a:xfrm>
          <a:prstGeom prst="rect">
            <a:avLst/>
          </a:prstGeom>
          <a:solidFill>
            <a:srgbClr val="C1562A"/>
          </a:solidFill>
          <a:ln w="12700">
            <a:solidFill>
              <a:srgbClr val="C1562A"/>
            </a:solidFill>
            <a:prstDash val="solid"/>
          </a:ln>
        </p:spPr>
      </p:sp>
      <p:sp>
        <p:nvSpPr>
          <p:cNvPr id="10" name="Text 8"/>
          <p:cNvSpPr txBox="1"/>
          <p:nvPr/>
        </p:nvSpPr>
        <p:spPr>
          <a:xfrm>
            <a:off x="6434176"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BUSINESS OUTCOME</a:t>
            </a:r>
            <a:endParaRPr lang="en-US" sz="1100" dirty="0"/>
          </a:p>
        </p:txBody>
      </p:sp>
      <p:sp>
        <p:nvSpPr>
          <p:cNvPr id="11" name="Text 9"/>
          <p:cNvSpPr txBox="1"/>
          <p:nvPr/>
        </p:nvSpPr>
        <p:spPr>
          <a:xfrm>
            <a:off x="6434176" y="1069848"/>
            <a:ext cx="5071720" cy="694944"/>
          </a:xfrm>
          <a:prstGeom prst="rect">
            <a:avLst/>
          </a:prstGeom>
          <a:noFill/>
          <a:ln/>
        </p:spPr>
        <p:txBody>
          <a:bodyPr wrap="square" lIns="0" tIns="0" rIns="0" bIns="0" rtlCol="0" anchor="t"/>
          <a:lstStyle/>
          <a:p>
            <a:pPr marL="342900" indent="-342900">
              <a:lnSpc>
                <a:spcPct val="98000"/>
              </a:lnSpc>
              <a:buSzPct val="100000"/>
              <a:buChar char="•"/>
            </a:pPr>
            <a:r>
              <a:rPr lang="en-US" sz="1050" dirty="0">
                <a:solidFill>
                  <a:srgbClr val="3E5A50"/>
                </a:solidFill>
              </a:rPr>
              <a:t>Spoken and typed updates become repair-order state</a:t>
            </a:r>
            <a:endParaRPr lang="en-US" sz="1050" dirty="0"/>
          </a:p>
          <a:p>
            <a:pPr marL="342900" indent="-342900">
              <a:lnSpc>
                <a:spcPct val="98000"/>
              </a:lnSpc>
              <a:buSzPct val="100000"/>
              <a:buChar char="•"/>
            </a:pPr>
            <a:r>
              <a:rPr lang="en-US" sz="1050" dirty="0">
                <a:solidFill>
                  <a:srgbClr val="3E5A50"/>
                </a:solidFill>
              </a:rPr>
              <a:t>Every figure in an answer traces to an order and an update id</a:t>
            </a:r>
            <a:endParaRPr lang="en-US" sz="1050" dirty="0"/>
          </a:p>
          <a:p>
            <a:pPr marL="342900" indent="-342900">
              <a:lnSpc>
                <a:spcPct val="98000"/>
              </a:lnSpc>
              <a:buSzPct val="100000"/>
              <a:buChar char="•"/>
            </a:pPr>
            <a:r>
              <a:rPr lang="en-US" sz="1050" dirty="0">
                <a:solidFill>
                  <a:srgbClr val="3E5A50"/>
                </a:solidFill>
              </a:rPr>
              <a:t>Five of six question classes need no model call at all</a:t>
            </a:r>
            <a:endParaRPr lang="en-US" sz="1050" dirty="0"/>
          </a:p>
        </p:txBody>
      </p:sp>
      <p:sp>
        <p:nvSpPr>
          <p:cNvPr id="12" name="Text 10"/>
          <p:cNvSpPr txBox="1"/>
          <p:nvPr/>
        </p:nvSpPr>
        <p:spPr>
          <a:xfrm>
            <a:off x="502920" y="1883664"/>
            <a:ext cx="3657600" cy="256032"/>
          </a:xfrm>
          <a:prstGeom prst="rect">
            <a:avLst/>
          </a:prstGeom>
          <a:noFill/>
          <a:ln/>
        </p:spPr>
        <p:txBody>
          <a:bodyPr wrap="square" lIns="0" tIns="0" rIns="0" bIns="0" rtlCol="0" anchor="ctr"/>
          <a:lstStyle/>
          <a:p>
            <a:pPr indent="0" marL="0">
              <a:buNone/>
            </a:pPr>
            <a:r>
              <a:rPr lang="en-US" sz="1400" b="1" spc="120" kern="0" dirty="0">
                <a:solidFill>
                  <a:srgbClr val="14302A"/>
                </a:solidFill>
                <a:latin typeface="Arial" pitchFamily="34" charset="0"/>
                <a:ea typeface="Arial" pitchFamily="34" charset="-122"/>
                <a:cs typeface="Arial" pitchFamily="34" charset="-120"/>
              </a:rPr>
              <a:t>ARCHITECTURE</a:t>
            </a:r>
            <a:endParaRPr lang="en-US" sz="1400" dirty="0"/>
          </a:p>
        </p:txBody>
      </p:sp>
      <p:sp>
        <p:nvSpPr>
          <p:cNvPr id="13" name="legend-NVIDIA COMPONE"/>
          <p:cNvSpPr/>
          <p:nvPr/>
        </p:nvSpPr>
        <p:spPr>
          <a:xfrm>
            <a:off x="6348679" y="1883664"/>
            <a:ext cx="1719072" cy="256032"/>
          </a:xfrm>
          <a:prstGeom prst="rect">
            <a:avLst/>
          </a:prstGeom>
          <a:solidFill>
            <a:srgbClr val="5B8C3A"/>
          </a:solidFill>
          <a:ln w="15875">
            <a:solidFill>
              <a:srgbClr val="446B29"/>
            </a:solidFill>
            <a:prstDash val="solid"/>
          </a:ln>
        </p:spPr>
      </p:sp>
      <p:sp>
        <p:nvSpPr>
          <p:cNvPr id="14" name="Text 12"/>
          <p:cNvSpPr txBox="1"/>
          <p:nvPr/>
        </p:nvSpPr>
        <p:spPr>
          <a:xfrm>
            <a:off x="6348679"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FFFFFF"/>
                </a:solidFill>
              </a:rPr>
              <a:t>NVIDIA COMPONENTS</a:t>
            </a:r>
            <a:endParaRPr lang="en-US" sz="1000" dirty="0"/>
          </a:p>
        </p:txBody>
      </p:sp>
      <p:sp>
        <p:nvSpPr>
          <p:cNvPr id="15" name="legend-NVIDIA FRAMEWO"/>
          <p:cNvSpPr/>
          <p:nvPr/>
        </p:nvSpPr>
        <p:spPr>
          <a:xfrm>
            <a:off x="8159191" y="1883664"/>
            <a:ext cx="1719072" cy="256032"/>
          </a:xfrm>
          <a:prstGeom prst="rect">
            <a:avLst/>
          </a:prstGeom>
          <a:solidFill>
            <a:srgbClr val="FFFFFF"/>
          </a:solidFill>
          <a:ln w="19050">
            <a:solidFill>
              <a:srgbClr val="76B900"/>
            </a:solidFill>
            <a:prstDash val="solid"/>
          </a:ln>
        </p:spPr>
      </p:sp>
      <p:sp>
        <p:nvSpPr>
          <p:cNvPr id="16" name="Text 14"/>
          <p:cNvSpPr txBox="1"/>
          <p:nvPr/>
        </p:nvSpPr>
        <p:spPr>
          <a:xfrm>
            <a:off x="8159191"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NVIDIA FRAMEWORK</a:t>
            </a:r>
            <a:endParaRPr lang="en-US" sz="1000" dirty="0"/>
          </a:p>
        </p:txBody>
      </p:sp>
      <p:sp>
        <p:nvSpPr>
          <p:cNvPr id="17" name="legend-ROADMAP · BLOC"/>
          <p:cNvSpPr/>
          <p:nvPr/>
        </p:nvSpPr>
        <p:spPr>
          <a:xfrm>
            <a:off x="9969703" y="1883664"/>
            <a:ext cx="1719072" cy="256032"/>
          </a:xfrm>
          <a:prstGeom prst="rect">
            <a:avLst/>
          </a:prstGeom>
          <a:solidFill>
            <a:srgbClr val="FFFFFF"/>
          </a:solidFill>
          <a:ln w="19050">
            <a:solidFill>
              <a:srgbClr val="76B900"/>
            </a:solidFill>
            <a:prstDash val="dash"/>
          </a:ln>
        </p:spPr>
      </p:sp>
      <p:sp>
        <p:nvSpPr>
          <p:cNvPr id="18" name="Text 16"/>
          <p:cNvSpPr txBox="1"/>
          <p:nvPr/>
        </p:nvSpPr>
        <p:spPr>
          <a:xfrm>
            <a:off x="9969703"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ROADMAP · BLOCKED</a:t>
            </a:r>
            <a:endParaRPr lang="en-US" sz="1000" dirty="0"/>
          </a:p>
        </p:txBody>
      </p:sp>
      <p:sp>
        <p:nvSpPr>
          <p:cNvPr id="19" name="Shape 17"/>
          <p:cNvSpPr/>
          <p:nvPr/>
        </p:nvSpPr>
        <p:spPr>
          <a:xfrm>
            <a:off x="502920" y="2212848"/>
            <a:ext cx="2212848" cy="201168"/>
          </a:xfrm>
          <a:prstGeom prst="rect">
            <a:avLst/>
          </a:prstGeom>
          <a:solidFill>
            <a:srgbClr val="1E4035"/>
          </a:solidFill>
          <a:ln w="12700">
            <a:solidFill>
              <a:srgbClr val="1E4035"/>
            </a:solidFill>
            <a:prstDash val="solid"/>
          </a:ln>
        </p:spPr>
      </p:sp>
      <p:sp>
        <p:nvSpPr>
          <p:cNvPr id="20" name="Text 18"/>
          <p:cNvSpPr txBox="1"/>
          <p:nvPr/>
        </p:nvSpPr>
        <p:spPr>
          <a:xfrm>
            <a:off x="612648" y="2212848"/>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INPUTS</a:t>
            </a:r>
            <a:endParaRPr lang="en-US" sz="1000" dirty="0"/>
          </a:p>
        </p:txBody>
      </p:sp>
      <p:sp>
        <p:nvSpPr>
          <p:cNvPr id="21" name="card-Spoken update"/>
          <p:cNvSpPr/>
          <p:nvPr/>
        </p:nvSpPr>
        <p:spPr>
          <a:xfrm>
            <a:off x="502920" y="2450592"/>
            <a:ext cx="2212848" cy="356616"/>
          </a:xfrm>
          <a:prstGeom prst="rect">
            <a:avLst/>
          </a:prstGeom>
          <a:solidFill>
            <a:srgbClr val="FFFFFF"/>
          </a:solidFill>
          <a:ln w="12700">
            <a:solidFill>
              <a:srgbClr val="C3CCC0"/>
            </a:solidFill>
            <a:prstDash val="solid"/>
          </a:ln>
        </p:spPr>
      </p:sp>
      <p:sp>
        <p:nvSpPr>
          <p:cNvPr id="22" name="Text 20"/>
          <p:cNvSpPr txBox="1"/>
          <p:nvPr/>
        </p:nvSpPr>
        <p:spPr>
          <a:xfrm>
            <a:off x="566928" y="24871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23" name="card-Typed update"/>
          <p:cNvSpPr/>
          <p:nvPr/>
        </p:nvSpPr>
        <p:spPr>
          <a:xfrm>
            <a:off x="502920" y="2834640"/>
            <a:ext cx="2212848" cy="356616"/>
          </a:xfrm>
          <a:prstGeom prst="rect">
            <a:avLst/>
          </a:prstGeom>
          <a:solidFill>
            <a:srgbClr val="FFFFFF"/>
          </a:solidFill>
          <a:ln w="12700">
            <a:solidFill>
              <a:srgbClr val="C3CCC0"/>
            </a:solidFill>
            <a:prstDash val="solid"/>
          </a:ln>
        </p:spPr>
      </p:sp>
      <p:sp>
        <p:nvSpPr>
          <p:cNvPr id="24" name="Text 22"/>
          <p:cNvSpPr txBox="1"/>
          <p:nvPr/>
        </p:nvSpPr>
        <p:spPr>
          <a:xfrm>
            <a:off x="566928" y="28712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25" name="card-Manager question"/>
          <p:cNvSpPr/>
          <p:nvPr/>
        </p:nvSpPr>
        <p:spPr>
          <a:xfrm>
            <a:off x="502920" y="3218688"/>
            <a:ext cx="2212848" cy="356616"/>
          </a:xfrm>
          <a:prstGeom prst="rect">
            <a:avLst/>
          </a:prstGeom>
          <a:solidFill>
            <a:srgbClr val="FFFFFF"/>
          </a:solidFill>
          <a:ln w="12700">
            <a:solidFill>
              <a:srgbClr val="C3CCC0"/>
            </a:solidFill>
            <a:prstDash val="solid"/>
          </a:ln>
        </p:spPr>
      </p:sp>
      <p:sp>
        <p:nvSpPr>
          <p:cNvPr id="26" name="Text 24"/>
          <p:cNvSpPr txBox="1"/>
          <p:nvPr/>
        </p:nvSpPr>
        <p:spPr>
          <a:xfrm>
            <a:off x="566928" y="32552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27" name="Shape 25"/>
          <p:cNvSpPr/>
          <p:nvPr/>
        </p:nvSpPr>
        <p:spPr>
          <a:xfrm>
            <a:off x="502920" y="3657600"/>
            <a:ext cx="2212848" cy="201168"/>
          </a:xfrm>
          <a:prstGeom prst="rect">
            <a:avLst/>
          </a:prstGeom>
          <a:solidFill>
            <a:srgbClr val="1E4035"/>
          </a:solidFill>
          <a:ln w="12700">
            <a:solidFill>
              <a:srgbClr val="1E4035"/>
            </a:solidFill>
            <a:prstDash val="solid"/>
          </a:ln>
        </p:spPr>
      </p:sp>
      <p:sp>
        <p:nvSpPr>
          <p:cNvPr id="28" name="Text 26"/>
          <p:cNvSpPr txBox="1"/>
          <p:nvPr/>
        </p:nvSpPr>
        <p:spPr>
          <a:xfrm>
            <a:off x="612648" y="3657600"/>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CORPORA</a:t>
            </a:r>
            <a:endParaRPr lang="en-US" sz="1000" dirty="0"/>
          </a:p>
        </p:txBody>
      </p:sp>
      <p:sp>
        <p:nvSpPr>
          <p:cNvPr id="29" name="card-Repair orders · 40"/>
          <p:cNvSpPr/>
          <p:nvPr/>
        </p:nvSpPr>
        <p:spPr>
          <a:xfrm>
            <a:off x="502920" y="3895344"/>
            <a:ext cx="2212848" cy="356616"/>
          </a:xfrm>
          <a:prstGeom prst="rect">
            <a:avLst/>
          </a:prstGeom>
          <a:solidFill>
            <a:srgbClr val="FFFFFF"/>
          </a:solidFill>
          <a:ln w="12700">
            <a:solidFill>
              <a:srgbClr val="C3CCC0"/>
            </a:solidFill>
            <a:prstDash val="solid"/>
          </a:ln>
        </p:spPr>
      </p:sp>
      <p:sp>
        <p:nvSpPr>
          <p:cNvPr id="30" name="Text 28"/>
          <p:cNvSpPr txBox="1"/>
          <p:nvPr/>
        </p:nvSpPr>
        <p:spPr>
          <a:xfrm>
            <a:off x="566928" y="3931920"/>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31" name="card-Shift updates · 1,"/>
          <p:cNvSpPr/>
          <p:nvPr/>
        </p:nvSpPr>
        <p:spPr>
          <a:xfrm>
            <a:off x="502920" y="4279392"/>
            <a:ext cx="2212848" cy="356616"/>
          </a:xfrm>
          <a:prstGeom prst="rect">
            <a:avLst/>
          </a:prstGeom>
          <a:solidFill>
            <a:srgbClr val="FFFFFF"/>
          </a:solidFill>
          <a:ln w="12700">
            <a:solidFill>
              <a:srgbClr val="C3CCC0"/>
            </a:solidFill>
            <a:prstDash val="solid"/>
          </a:ln>
        </p:spPr>
      </p:sp>
      <p:sp>
        <p:nvSpPr>
          <p:cNvPr id="32" name="Text 30"/>
          <p:cNvSpPr txBox="1"/>
          <p:nvPr/>
        </p:nvSpPr>
        <p:spPr>
          <a:xfrm>
            <a:off x="566928" y="43159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33" name="card-Labour op codes · "/>
          <p:cNvSpPr/>
          <p:nvPr/>
        </p:nvSpPr>
        <p:spPr>
          <a:xfrm>
            <a:off x="502920" y="4663440"/>
            <a:ext cx="2212848" cy="356616"/>
          </a:xfrm>
          <a:prstGeom prst="rect">
            <a:avLst/>
          </a:prstGeom>
          <a:solidFill>
            <a:srgbClr val="FFFFFF"/>
          </a:solidFill>
          <a:ln w="12700">
            <a:solidFill>
              <a:srgbClr val="C3CCC0"/>
            </a:solidFill>
            <a:prstDash val="solid"/>
          </a:ln>
        </p:spPr>
      </p:sp>
      <p:sp>
        <p:nvSpPr>
          <p:cNvPr id="34" name="Text 32"/>
          <p:cNvSpPr txBox="1"/>
          <p:nvPr/>
        </p:nvSpPr>
        <p:spPr>
          <a:xfrm>
            <a:off x="566928" y="47000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 codes · 104</a:t>
            </a:r>
            <a:endParaRPr lang="en-US" sz="1100" dirty="0"/>
          </a:p>
        </p:txBody>
      </p:sp>
      <p:sp>
        <p:nvSpPr>
          <p:cNvPr id="35" name="card-Staff · 50"/>
          <p:cNvSpPr/>
          <p:nvPr/>
        </p:nvSpPr>
        <p:spPr>
          <a:xfrm>
            <a:off x="502920" y="5047488"/>
            <a:ext cx="2212848" cy="356616"/>
          </a:xfrm>
          <a:prstGeom prst="rect">
            <a:avLst/>
          </a:prstGeom>
          <a:solidFill>
            <a:srgbClr val="FFFFFF"/>
          </a:solidFill>
          <a:ln w="12700">
            <a:solidFill>
              <a:srgbClr val="C3CCC0"/>
            </a:solidFill>
            <a:prstDash val="solid"/>
          </a:ln>
        </p:spPr>
      </p:sp>
      <p:sp>
        <p:nvSpPr>
          <p:cNvPr id="36" name="Text 34"/>
          <p:cNvSpPr txBox="1"/>
          <p:nvPr/>
        </p:nvSpPr>
        <p:spPr>
          <a:xfrm>
            <a:off x="566928" y="50840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37" name="Shape 35"/>
          <p:cNvSpPr/>
          <p:nvPr/>
        </p:nvSpPr>
        <p:spPr>
          <a:xfrm>
            <a:off x="2862072" y="2212848"/>
            <a:ext cx="5918911" cy="219456"/>
          </a:xfrm>
          <a:prstGeom prst="rect">
            <a:avLst/>
          </a:prstGeom>
          <a:solidFill>
            <a:srgbClr val="14302A"/>
          </a:solidFill>
          <a:ln w="12700">
            <a:solidFill>
              <a:srgbClr val="14302A"/>
            </a:solidFill>
            <a:prstDash val="solid"/>
          </a:ln>
        </p:spPr>
      </p:sp>
      <p:sp>
        <p:nvSpPr>
          <p:cNvPr id="38" name="Text 36"/>
          <p:cNvSpPr txBox="1"/>
          <p:nvPr/>
        </p:nvSpPr>
        <p:spPr>
          <a:xfrm>
            <a:off x="2971800" y="2212848"/>
            <a:ext cx="5699455" cy="219456"/>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AGENT</a:t>
            </a:r>
            <a:endParaRPr lang="en-US" sz="1050" dirty="0"/>
          </a:p>
        </p:txBody>
      </p:sp>
      <p:sp>
        <p:nvSpPr>
          <p:cNvPr id="39" name="Shape 37"/>
          <p:cNvSpPr/>
          <p:nvPr/>
        </p:nvSpPr>
        <p:spPr>
          <a:xfrm>
            <a:off x="2862072" y="2468880"/>
            <a:ext cx="5918911" cy="182880"/>
          </a:xfrm>
          <a:prstGeom prst="rect">
            <a:avLst/>
          </a:prstGeom>
          <a:solidFill>
            <a:srgbClr val="1E4035"/>
          </a:solidFill>
          <a:ln w="12700">
            <a:solidFill>
              <a:srgbClr val="1E4035"/>
            </a:solidFill>
            <a:prstDash val="solid"/>
          </a:ln>
        </p:spPr>
      </p:sp>
      <p:sp>
        <p:nvSpPr>
          <p:cNvPr id="40" name="Text 38"/>
          <p:cNvSpPr txBox="1"/>
          <p:nvPr/>
        </p:nvSpPr>
        <p:spPr>
          <a:xfrm>
            <a:off x="2971800" y="24688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41" name="lane-Riva ASR"/>
          <p:cNvSpPr/>
          <p:nvPr/>
        </p:nvSpPr>
        <p:spPr>
          <a:xfrm>
            <a:off x="2862072" y="2660904"/>
            <a:ext cx="1431722" cy="310896"/>
          </a:xfrm>
          <a:prstGeom prst="rect">
            <a:avLst/>
          </a:prstGeom>
          <a:solidFill>
            <a:srgbClr val="5B8C3A"/>
          </a:solidFill>
          <a:ln w="19050">
            <a:solidFill>
              <a:srgbClr val="446B29"/>
            </a:solidFill>
            <a:prstDash val="solid"/>
          </a:ln>
        </p:spPr>
      </p:sp>
      <p:sp>
        <p:nvSpPr>
          <p:cNvPr id="42" name="Text 40"/>
          <p:cNvSpPr txBox="1"/>
          <p:nvPr/>
        </p:nvSpPr>
        <p:spPr>
          <a:xfrm>
            <a:off x="290779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43" name="lane-Nemotron 8B"/>
          <p:cNvSpPr/>
          <p:nvPr/>
        </p:nvSpPr>
        <p:spPr>
          <a:xfrm>
            <a:off x="4357802" y="2660904"/>
            <a:ext cx="1431722" cy="310896"/>
          </a:xfrm>
          <a:prstGeom prst="rect">
            <a:avLst/>
          </a:prstGeom>
          <a:solidFill>
            <a:srgbClr val="5B8C3A"/>
          </a:solidFill>
          <a:ln w="19050">
            <a:solidFill>
              <a:srgbClr val="446B29"/>
            </a:solidFill>
            <a:prstDash val="solid"/>
          </a:ln>
        </p:spPr>
      </p:sp>
      <p:sp>
        <p:nvSpPr>
          <p:cNvPr id="44" name="Text 42"/>
          <p:cNvSpPr txBox="1"/>
          <p:nvPr/>
        </p:nvSpPr>
        <p:spPr>
          <a:xfrm>
            <a:off x="440352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45" name="lane-Entity resolver"/>
          <p:cNvSpPr/>
          <p:nvPr/>
        </p:nvSpPr>
        <p:spPr>
          <a:xfrm>
            <a:off x="5853532" y="2660904"/>
            <a:ext cx="1431722" cy="310896"/>
          </a:xfrm>
          <a:prstGeom prst="rect">
            <a:avLst/>
          </a:prstGeom>
          <a:solidFill>
            <a:srgbClr val="FFFFFF"/>
          </a:solidFill>
          <a:ln w="12700">
            <a:solidFill>
              <a:srgbClr val="C3CCC0"/>
            </a:solidFill>
            <a:prstDash val="solid"/>
          </a:ln>
        </p:spPr>
      </p:sp>
      <p:sp>
        <p:nvSpPr>
          <p:cNvPr id="46" name="Text 44"/>
          <p:cNvSpPr txBox="1"/>
          <p:nvPr/>
        </p:nvSpPr>
        <p:spPr>
          <a:xfrm>
            <a:off x="589925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47" name="lane-Reconciler"/>
          <p:cNvSpPr/>
          <p:nvPr/>
        </p:nvSpPr>
        <p:spPr>
          <a:xfrm>
            <a:off x="7349261" y="2660904"/>
            <a:ext cx="1431722" cy="310896"/>
          </a:xfrm>
          <a:prstGeom prst="rect">
            <a:avLst/>
          </a:prstGeom>
          <a:solidFill>
            <a:srgbClr val="FFFFFF"/>
          </a:solidFill>
          <a:ln w="12700">
            <a:solidFill>
              <a:srgbClr val="C3CCC0"/>
            </a:solidFill>
            <a:prstDash val="solid"/>
          </a:ln>
        </p:spPr>
      </p:sp>
      <p:sp>
        <p:nvSpPr>
          <p:cNvPr id="48" name="Text 46"/>
          <p:cNvSpPr txBox="1"/>
          <p:nvPr/>
        </p:nvSpPr>
        <p:spPr>
          <a:xfrm>
            <a:off x="7394981"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49" name="Shape 47"/>
          <p:cNvSpPr/>
          <p:nvPr/>
        </p:nvSpPr>
        <p:spPr>
          <a:xfrm>
            <a:off x="2862072" y="2971800"/>
            <a:ext cx="5918911" cy="182880"/>
          </a:xfrm>
          <a:prstGeom prst="rect">
            <a:avLst/>
          </a:prstGeom>
          <a:solidFill>
            <a:srgbClr val="1E4035"/>
          </a:solidFill>
          <a:ln w="12700">
            <a:solidFill>
              <a:srgbClr val="1E4035"/>
            </a:solidFill>
            <a:prstDash val="solid"/>
          </a:ln>
        </p:spPr>
      </p:sp>
      <p:sp>
        <p:nvSpPr>
          <p:cNvPr id="50" name="Text 48"/>
          <p:cNvSpPr txBox="1"/>
          <p:nvPr/>
        </p:nvSpPr>
        <p:spPr>
          <a:xfrm>
            <a:off x="2971800" y="297180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51" name="lane-Event log"/>
          <p:cNvSpPr/>
          <p:nvPr/>
        </p:nvSpPr>
        <p:spPr>
          <a:xfrm>
            <a:off x="2862072" y="3163824"/>
            <a:ext cx="1431722" cy="310896"/>
          </a:xfrm>
          <a:prstGeom prst="rect">
            <a:avLst/>
          </a:prstGeom>
          <a:solidFill>
            <a:srgbClr val="FFFFFF"/>
          </a:solidFill>
          <a:ln w="12700">
            <a:solidFill>
              <a:srgbClr val="C3CCC0"/>
            </a:solidFill>
            <a:prstDash val="solid"/>
          </a:ln>
        </p:spPr>
      </p:sp>
      <p:sp>
        <p:nvSpPr>
          <p:cNvPr id="52" name="Text 50"/>
          <p:cNvSpPr txBox="1"/>
          <p:nvPr/>
        </p:nvSpPr>
        <p:spPr>
          <a:xfrm>
            <a:off x="290779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53" name="lane-Fold engine"/>
          <p:cNvSpPr/>
          <p:nvPr/>
        </p:nvSpPr>
        <p:spPr>
          <a:xfrm>
            <a:off x="4357802" y="3163824"/>
            <a:ext cx="1431722" cy="310896"/>
          </a:xfrm>
          <a:prstGeom prst="rect">
            <a:avLst/>
          </a:prstGeom>
          <a:solidFill>
            <a:srgbClr val="FFFFFF"/>
          </a:solidFill>
          <a:ln w="12700">
            <a:solidFill>
              <a:srgbClr val="C3CCC0"/>
            </a:solidFill>
            <a:prstDash val="solid"/>
          </a:ln>
        </p:spPr>
      </p:sp>
      <p:sp>
        <p:nvSpPr>
          <p:cNvPr id="54" name="Text 52"/>
          <p:cNvSpPr txBox="1"/>
          <p:nvPr/>
        </p:nvSpPr>
        <p:spPr>
          <a:xfrm>
            <a:off x="440352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55" name="lane-Lifecycle gate"/>
          <p:cNvSpPr/>
          <p:nvPr/>
        </p:nvSpPr>
        <p:spPr>
          <a:xfrm>
            <a:off x="5853532" y="3163824"/>
            <a:ext cx="1431722" cy="310896"/>
          </a:xfrm>
          <a:prstGeom prst="rect">
            <a:avLst/>
          </a:prstGeom>
          <a:solidFill>
            <a:srgbClr val="FFFFFF"/>
          </a:solidFill>
          <a:ln w="12700">
            <a:solidFill>
              <a:srgbClr val="C3CCC0"/>
            </a:solidFill>
            <a:prstDash val="solid"/>
          </a:ln>
        </p:spPr>
      </p:sp>
      <p:sp>
        <p:nvSpPr>
          <p:cNvPr id="56" name="Text 54"/>
          <p:cNvSpPr txBox="1"/>
          <p:nvPr/>
        </p:nvSpPr>
        <p:spPr>
          <a:xfrm>
            <a:off x="589925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57" name="lane-Diff card"/>
          <p:cNvSpPr/>
          <p:nvPr/>
        </p:nvSpPr>
        <p:spPr>
          <a:xfrm>
            <a:off x="7349261" y="3163824"/>
            <a:ext cx="1431722" cy="310896"/>
          </a:xfrm>
          <a:prstGeom prst="rect">
            <a:avLst/>
          </a:prstGeom>
          <a:solidFill>
            <a:srgbClr val="FFFFFF"/>
          </a:solidFill>
          <a:ln w="12700">
            <a:solidFill>
              <a:srgbClr val="C3CCC0"/>
            </a:solidFill>
            <a:prstDash val="solid"/>
          </a:ln>
        </p:spPr>
      </p:sp>
      <p:sp>
        <p:nvSpPr>
          <p:cNvPr id="58" name="Text 56"/>
          <p:cNvSpPr txBox="1"/>
          <p:nvPr/>
        </p:nvSpPr>
        <p:spPr>
          <a:xfrm>
            <a:off x="7394981"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59" name="Shape 57"/>
          <p:cNvSpPr/>
          <p:nvPr/>
        </p:nvSpPr>
        <p:spPr>
          <a:xfrm>
            <a:off x="2862072" y="3474720"/>
            <a:ext cx="5918911" cy="182880"/>
          </a:xfrm>
          <a:prstGeom prst="rect">
            <a:avLst/>
          </a:prstGeom>
          <a:solidFill>
            <a:srgbClr val="1E4035"/>
          </a:solidFill>
          <a:ln w="12700">
            <a:solidFill>
              <a:srgbClr val="1E4035"/>
            </a:solidFill>
            <a:prstDash val="solid"/>
          </a:ln>
        </p:spPr>
      </p:sp>
      <p:sp>
        <p:nvSpPr>
          <p:cNvPr id="60" name="Text 58"/>
          <p:cNvSpPr txBox="1"/>
          <p:nvPr/>
        </p:nvSpPr>
        <p:spPr>
          <a:xfrm>
            <a:off x="2971800" y="347472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61" name="lane-NeMo Curator"/>
          <p:cNvSpPr/>
          <p:nvPr/>
        </p:nvSpPr>
        <p:spPr>
          <a:xfrm>
            <a:off x="2862072" y="3666744"/>
            <a:ext cx="1431722" cy="310896"/>
          </a:xfrm>
          <a:prstGeom prst="rect">
            <a:avLst/>
          </a:prstGeom>
          <a:solidFill>
            <a:srgbClr val="FFFFFF"/>
          </a:solidFill>
          <a:ln w="22225">
            <a:solidFill>
              <a:srgbClr val="76B900"/>
            </a:solidFill>
            <a:prstDash val="solid"/>
          </a:ln>
        </p:spPr>
      </p:sp>
      <p:sp>
        <p:nvSpPr>
          <p:cNvPr id="62" name="Text 60"/>
          <p:cNvSpPr txBox="1"/>
          <p:nvPr/>
        </p:nvSpPr>
        <p:spPr>
          <a:xfrm>
            <a:off x="290779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63" name="lane-NV-EmbedQA E5"/>
          <p:cNvSpPr/>
          <p:nvPr/>
        </p:nvSpPr>
        <p:spPr>
          <a:xfrm>
            <a:off x="4357802" y="3666744"/>
            <a:ext cx="1431722" cy="310896"/>
          </a:xfrm>
          <a:prstGeom prst="rect">
            <a:avLst/>
          </a:prstGeom>
          <a:solidFill>
            <a:srgbClr val="5B8C3A"/>
          </a:solidFill>
          <a:ln w="19050">
            <a:solidFill>
              <a:srgbClr val="446B29"/>
            </a:solidFill>
            <a:prstDash val="solid"/>
          </a:ln>
        </p:spPr>
      </p:sp>
      <p:sp>
        <p:nvSpPr>
          <p:cNvPr id="64" name="Text 62"/>
          <p:cNvSpPr txBox="1"/>
          <p:nvPr/>
        </p:nvSpPr>
        <p:spPr>
          <a:xfrm>
            <a:off x="440352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65" name="lane-Milvus upsert"/>
          <p:cNvSpPr/>
          <p:nvPr/>
        </p:nvSpPr>
        <p:spPr>
          <a:xfrm>
            <a:off x="5853532" y="3666744"/>
            <a:ext cx="1431722" cy="310896"/>
          </a:xfrm>
          <a:prstGeom prst="rect">
            <a:avLst/>
          </a:prstGeom>
          <a:solidFill>
            <a:srgbClr val="FFFFFF"/>
          </a:solidFill>
          <a:ln w="12700">
            <a:solidFill>
              <a:srgbClr val="C3CCC0"/>
            </a:solidFill>
            <a:prstDash val="solid"/>
          </a:ln>
        </p:spPr>
      </p:sp>
      <p:sp>
        <p:nvSpPr>
          <p:cNvPr id="66" name="Text 64"/>
          <p:cNvSpPr txBox="1"/>
          <p:nvPr/>
        </p:nvSpPr>
        <p:spPr>
          <a:xfrm>
            <a:off x="589925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67" name="lane-Index audit"/>
          <p:cNvSpPr/>
          <p:nvPr/>
        </p:nvSpPr>
        <p:spPr>
          <a:xfrm>
            <a:off x="7349261" y="3666744"/>
            <a:ext cx="1431722" cy="310896"/>
          </a:xfrm>
          <a:prstGeom prst="rect">
            <a:avLst/>
          </a:prstGeom>
          <a:solidFill>
            <a:srgbClr val="FFFFFF"/>
          </a:solidFill>
          <a:ln w="12700">
            <a:solidFill>
              <a:srgbClr val="C3CCC0"/>
            </a:solidFill>
            <a:prstDash val="solid"/>
          </a:ln>
        </p:spPr>
      </p:sp>
      <p:sp>
        <p:nvSpPr>
          <p:cNvPr id="68" name="Text 66"/>
          <p:cNvSpPr txBox="1"/>
          <p:nvPr/>
        </p:nvSpPr>
        <p:spPr>
          <a:xfrm>
            <a:off x="7394981"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69" name="Shape 67"/>
          <p:cNvSpPr/>
          <p:nvPr/>
        </p:nvSpPr>
        <p:spPr>
          <a:xfrm>
            <a:off x="2862072" y="3977640"/>
            <a:ext cx="5918911" cy="182880"/>
          </a:xfrm>
          <a:prstGeom prst="rect">
            <a:avLst/>
          </a:prstGeom>
          <a:solidFill>
            <a:srgbClr val="1E4035"/>
          </a:solidFill>
          <a:ln w="12700">
            <a:solidFill>
              <a:srgbClr val="1E4035"/>
            </a:solidFill>
            <a:prstDash val="solid"/>
          </a:ln>
        </p:spPr>
      </p:sp>
      <p:sp>
        <p:nvSpPr>
          <p:cNvPr id="70" name="Text 68"/>
          <p:cNvSpPr txBox="1"/>
          <p:nvPr/>
        </p:nvSpPr>
        <p:spPr>
          <a:xfrm>
            <a:off x="2971800" y="397764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71" name="lane-Vector search"/>
          <p:cNvSpPr/>
          <p:nvPr/>
        </p:nvSpPr>
        <p:spPr>
          <a:xfrm>
            <a:off x="2862072" y="4169664"/>
            <a:ext cx="1431722" cy="310896"/>
          </a:xfrm>
          <a:prstGeom prst="rect">
            <a:avLst/>
          </a:prstGeom>
          <a:solidFill>
            <a:srgbClr val="FFFFFF"/>
          </a:solidFill>
          <a:ln w="12700">
            <a:solidFill>
              <a:srgbClr val="C3CCC0"/>
            </a:solidFill>
            <a:prstDash val="solid"/>
          </a:ln>
        </p:spPr>
      </p:sp>
      <p:sp>
        <p:nvSpPr>
          <p:cNvPr id="72" name="Text 70"/>
          <p:cNvSpPr txBox="1"/>
          <p:nvPr/>
        </p:nvSpPr>
        <p:spPr>
          <a:xfrm>
            <a:off x="290779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73" name="lane-NV-RerankQA 4B"/>
          <p:cNvSpPr/>
          <p:nvPr/>
        </p:nvSpPr>
        <p:spPr>
          <a:xfrm>
            <a:off x="4357802" y="4169664"/>
            <a:ext cx="1431722" cy="310896"/>
          </a:xfrm>
          <a:prstGeom prst="rect">
            <a:avLst/>
          </a:prstGeom>
          <a:solidFill>
            <a:srgbClr val="5B8C3A"/>
          </a:solidFill>
          <a:ln w="19050">
            <a:solidFill>
              <a:srgbClr val="446B29"/>
            </a:solidFill>
            <a:prstDash val="solid"/>
          </a:ln>
        </p:spPr>
      </p:sp>
      <p:sp>
        <p:nvSpPr>
          <p:cNvPr id="74" name="Text 72"/>
          <p:cNvSpPr txBox="1"/>
          <p:nvPr/>
        </p:nvSpPr>
        <p:spPr>
          <a:xfrm>
            <a:off x="440352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75" name="lane-Context assembly"/>
          <p:cNvSpPr/>
          <p:nvPr/>
        </p:nvSpPr>
        <p:spPr>
          <a:xfrm>
            <a:off x="5853532" y="4169664"/>
            <a:ext cx="1431722" cy="310896"/>
          </a:xfrm>
          <a:prstGeom prst="rect">
            <a:avLst/>
          </a:prstGeom>
          <a:solidFill>
            <a:srgbClr val="FFFFFF"/>
          </a:solidFill>
          <a:ln w="12700">
            <a:solidFill>
              <a:srgbClr val="C3CCC0"/>
            </a:solidFill>
            <a:prstDash val="solid"/>
          </a:ln>
        </p:spPr>
      </p:sp>
      <p:sp>
        <p:nvSpPr>
          <p:cNvPr id="76" name="Text 74"/>
          <p:cNvSpPr txBox="1"/>
          <p:nvPr/>
        </p:nvSpPr>
        <p:spPr>
          <a:xfrm>
            <a:off x="589925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77" name="lane-Citations"/>
          <p:cNvSpPr/>
          <p:nvPr/>
        </p:nvSpPr>
        <p:spPr>
          <a:xfrm>
            <a:off x="7349261" y="4169664"/>
            <a:ext cx="1431722" cy="310896"/>
          </a:xfrm>
          <a:prstGeom prst="rect">
            <a:avLst/>
          </a:prstGeom>
          <a:solidFill>
            <a:srgbClr val="FFFFFF"/>
          </a:solidFill>
          <a:ln w="12700">
            <a:solidFill>
              <a:srgbClr val="C3CCC0"/>
            </a:solidFill>
            <a:prstDash val="solid"/>
          </a:ln>
        </p:spPr>
      </p:sp>
      <p:sp>
        <p:nvSpPr>
          <p:cNvPr id="78" name="Text 76"/>
          <p:cNvSpPr txBox="1"/>
          <p:nvPr/>
        </p:nvSpPr>
        <p:spPr>
          <a:xfrm>
            <a:off x="7394981"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79" name="Shape 77"/>
          <p:cNvSpPr/>
          <p:nvPr/>
        </p:nvSpPr>
        <p:spPr>
          <a:xfrm>
            <a:off x="2862072" y="4480560"/>
            <a:ext cx="5918911" cy="182880"/>
          </a:xfrm>
          <a:prstGeom prst="rect">
            <a:avLst/>
          </a:prstGeom>
          <a:solidFill>
            <a:srgbClr val="1E4035"/>
          </a:solidFill>
          <a:ln w="12700">
            <a:solidFill>
              <a:srgbClr val="1E4035"/>
            </a:solidFill>
            <a:prstDash val="solid"/>
          </a:ln>
        </p:spPr>
      </p:sp>
      <p:sp>
        <p:nvSpPr>
          <p:cNvPr id="80" name="Text 78"/>
          <p:cNvSpPr txBox="1"/>
          <p:nvPr/>
        </p:nvSpPr>
        <p:spPr>
          <a:xfrm>
            <a:off x="2971800" y="448056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81" name="lane-Query planner"/>
          <p:cNvSpPr/>
          <p:nvPr/>
        </p:nvSpPr>
        <p:spPr>
          <a:xfrm>
            <a:off x="2862072" y="4672584"/>
            <a:ext cx="1431722" cy="310896"/>
          </a:xfrm>
          <a:prstGeom prst="rect">
            <a:avLst/>
          </a:prstGeom>
          <a:solidFill>
            <a:srgbClr val="FFFFFF"/>
          </a:solidFill>
          <a:ln w="12700">
            <a:solidFill>
              <a:srgbClr val="C3CCC0"/>
            </a:solidFill>
            <a:prstDash val="solid"/>
          </a:ln>
        </p:spPr>
      </p:sp>
      <p:sp>
        <p:nvSpPr>
          <p:cNvPr id="82" name="Text 80"/>
          <p:cNvSpPr txBox="1"/>
          <p:nvPr/>
        </p:nvSpPr>
        <p:spPr>
          <a:xfrm>
            <a:off x="290779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83" name="lane-Switchyard"/>
          <p:cNvSpPr/>
          <p:nvPr/>
        </p:nvSpPr>
        <p:spPr>
          <a:xfrm>
            <a:off x="4357802" y="4672584"/>
            <a:ext cx="1431722" cy="310896"/>
          </a:xfrm>
          <a:prstGeom prst="rect">
            <a:avLst/>
          </a:prstGeom>
          <a:solidFill>
            <a:srgbClr val="FFFFFF"/>
          </a:solidFill>
          <a:ln w="22225">
            <a:solidFill>
              <a:srgbClr val="76B900"/>
            </a:solidFill>
            <a:prstDash val="solid"/>
          </a:ln>
        </p:spPr>
      </p:sp>
      <p:sp>
        <p:nvSpPr>
          <p:cNvPr id="84" name="Text 82"/>
          <p:cNvSpPr txBox="1"/>
          <p:nvPr/>
        </p:nvSpPr>
        <p:spPr>
          <a:xfrm>
            <a:off x="440352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85" name="lane-11 typed tools"/>
          <p:cNvSpPr/>
          <p:nvPr/>
        </p:nvSpPr>
        <p:spPr>
          <a:xfrm>
            <a:off x="5853532" y="4672584"/>
            <a:ext cx="1431722" cy="310896"/>
          </a:xfrm>
          <a:prstGeom prst="rect">
            <a:avLst/>
          </a:prstGeom>
          <a:solidFill>
            <a:srgbClr val="FFFFFF"/>
          </a:solidFill>
          <a:ln w="12700">
            <a:solidFill>
              <a:srgbClr val="C3CCC0"/>
            </a:solidFill>
            <a:prstDash val="solid"/>
          </a:ln>
        </p:spPr>
      </p:sp>
      <p:sp>
        <p:nvSpPr>
          <p:cNvPr id="86" name="Text 84"/>
          <p:cNvSpPr txBox="1"/>
          <p:nvPr/>
        </p:nvSpPr>
        <p:spPr>
          <a:xfrm>
            <a:off x="589925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11 typed tools</a:t>
            </a:r>
            <a:endParaRPr lang="en-US" sz="1100" dirty="0"/>
          </a:p>
        </p:txBody>
      </p:sp>
      <p:sp>
        <p:nvSpPr>
          <p:cNvPr id="87" name="lane-Narration"/>
          <p:cNvSpPr/>
          <p:nvPr/>
        </p:nvSpPr>
        <p:spPr>
          <a:xfrm>
            <a:off x="7349261" y="4672584"/>
            <a:ext cx="1431722" cy="310896"/>
          </a:xfrm>
          <a:prstGeom prst="rect">
            <a:avLst/>
          </a:prstGeom>
          <a:solidFill>
            <a:srgbClr val="5B8C3A"/>
          </a:solidFill>
          <a:ln w="19050">
            <a:solidFill>
              <a:srgbClr val="446B29"/>
            </a:solidFill>
            <a:prstDash val="solid"/>
          </a:ln>
        </p:spPr>
      </p:sp>
      <p:sp>
        <p:nvSpPr>
          <p:cNvPr id="88" name="Text 86"/>
          <p:cNvSpPr txBox="1"/>
          <p:nvPr/>
        </p:nvSpPr>
        <p:spPr>
          <a:xfrm>
            <a:off x="7394981"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89" name="Shape 87"/>
          <p:cNvSpPr/>
          <p:nvPr/>
        </p:nvSpPr>
        <p:spPr>
          <a:xfrm>
            <a:off x="2862072" y="4983480"/>
            <a:ext cx="5918911" cy="182880"/>
          </a:xfrm>
          <a:prstGeom prst="rect">
            <a:avLst/>
          </a:prstGeom>
          <a:solidFill>
            <a:srgbClr val="1E4035"/>
          </a:solidFill>
          <a:ln w="12700">
            <a:solidFill>
              <a:srgbClr val="1E4035"/>
            </a:solidFill>
            <a:prstDash val="solid"/>
          </a:ln>
        </p:spPr>
      </p:sp>
      <p:sp>
        <p:nvSpPr>
          <p:cNvPr id="90" name="Text 88"/>
          <p:cNvSpPr txBox="1"/>
          <p:nvPr/>
        </p:nvSpPr>
        <p:spPr>
          <a:xfrm>
            <a:off x="2971800" y="49834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91" name="lane-NeMo Guardrails"/>
          <p:cNvSpPr/>
          <p:nvPr/>
        </p:nvSpPr>
        <p:spPr>
          <a:xfrm>
            <a:off x="2862072" y="5175504"/>
            <a:ext cx="1431722" cy="310896"/>
          </a:xfrm>
          <a:prstGeom prst="rect">
            <a:avLst/>
          </a:prstGeom>
          <a:solidFill>
            <a:srgbClr val="FFFFFF"/>
          </a:solidFill>
          <a:ln w="22225">
            <a:solidFill>
              <a:srgbClr val="76B900"/>
            </a:solidFill>
            <a:prstDash val="solid"/>
          </a:ln>
        </p:spPr>
      </p:sp>
      <p:sp>
        <p:nvSpPr>
          <p:cNvPr id="92" name="Text 90"/>
          <p:cNvSpPr txBox="1"/>
          <p:nvPr/>
        </p:nvSpPr>
        <p:spPr>
          <a:xfrm>
            <a:off x="290779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93" name="lane-Injection rail"/>
          <p:cNvSpPr/>
          <p:nvPr/>
        </p:nvSpPr>
        <p:spPr>
          <a:xfrm>
            <a:off x="4357802" y="5175504"/>
            <a:ext cx="1431722" cy="310896"/>
          </a:xfrm>
          <a:prstGeom prst="rect">
            <a:avLst/>
          </a:prstGeom>
          <a:solidFill>
            <a:srgbClr val="FFFFFF"/>
          </a:solidFill>
          <a:ln w="12700">
            <a:solidFill>
              <a:srgbClr val="C3CCC0"/>
            </a:solidFill>
            <a:prstDash val="solid"/>
          </a:ln>
        </p:spPr>
      </p:sp>
      <p:sp>
        <p:nvSpPr>
          <p:cNvPr id="94" name="Text 92"/>
          <p:cNvSpPr txBox="1"/>
          <p:nvPr/>
        </p:nvSpPr>
        <p:spPr>
          <a:xfrm>
            <a:off x="440352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95" name="lane-Grounding rail"/>
          <p:cNvSpPr/>
          <p:nvPr/>
        </p:nvSpPr>
        <p:spPr>
          <a:xfrm>
            <a:off x="5853532" y="5175504"/>
            <a:ext cx="1431722" cy="310896"/>
          </a:xfrm>
          <a:prstGeom prst="rect">
            <a:avLst/>
          </a:prstGeom>
          <a:solidFill>
            <a:srgbClr val="FFFFFF"/>
          </a:solidFill>
          <a:ln w="12700">
            <a:solidFill>
              <a:srgbClr val="C3CCC0"/>
            </a:solidFill>
            <a:prstDash val="solid"/>
          </a:ln>
        </p:spPr>
      </p:sp>
      <p:sp>
        <p:nvSpPr>
          <p:cNvPr id="96" name="Text 94"/>
          <p:cNvSpPr txBox="1"/>
          <p:nvPr/>
        </p:nvSpPr>
        <p:spPr>
          <a:xfrm>
            <a:off x="589925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97" name="lane-Release claim"/>
          <p:cNvSpPr/>
          <p:nvPr/>
        </p:nvSpPr>
        <p:spPr>
          <a:xfrm>
            <a:off x="7349261" y="5175504"/>
            <a:ext cx="1431722" cy="310896"/>
          </a:xfrm>
          <a:prstGeom prst="rect">
            <a:avLst/>
          </a:prstGeom>
          <a:solidFill>
            <a:srgbClr val="FFFFFF"/>
          </a:solidFill>
          <a:ln w="12700">
            <a:solidFill>
              <a:srgbClr val="C3CCC0"/>
            </a:solidFill>
            <a:prstDash val="solid"/>
          </a:ln>
        </p:spPr>
      </p:sp>
      <p:sp>
        <p:nvSpPr>
          <p:cNvPr id="98" name="Text 96"/>
          <p:cNvSpPr txBox="1"/>
          <p:nvPr/>
        </p:nvSpPr>
        <p:spPr>
          <a:xfrm>
            <a:off x="7394981"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99" name="Shape 97"/>
          <p:cNvSpPr/>
          <p:nvPr/>
        </p:nvSpPr>
        <p:spPr>
          <a:xfrm>
            <a:off x="2734056" y="3364992"/>
            <a:ext cx="109728" cy="146304"/>
          </a:xfrm>
          <a:prstGeom prst="rightArrow">
            <a:avLst/>
          </a:prstGeom>
          <a:solidFill>
            <a:srgbClr val="76B900"/>
          </a:solidFill>
          <a:ln w="12700">
            <a:solidFill>
              <a:srgbClr val="76B900"/>
            </a:solidFill>
            <a:prstDash val="solid"/>
          </a:ln>
        </p:spPr>
      </p:sp>
      <p:sp>
        <p:nvSpPr>
          <p:cNvPr id="100" name="Shape 98"/>
          <p:cNvSpPr/>
          <p:nvPr/>
        </p:nvSpPr>
        <p:spPr>
          <a:xfrm>
            <a:off x="8799271" y="3364992"/>
            <a:ext cx="109728" cy="146304"/>
          </a:xfrm>
          <a:prstGeom prst="rightArrow">
            <a:avLst/>
          </a:prstGeom>
          <a:solidFill>
            <a:srgbClr val="76B900"/>
          </a:solidFill>
          <a:ln w="12700">
            <a:solidFill>
              <a:srgbClr val="76B900"/>
            </a:solidFill>
            <a:prstDash val="solid"/>
          </a:ln>
        </p:spPr>
      </p:sp>
      <p:sp>
        <p:nvSpPr>
          <p:cNvPr id="101" name="Shape 99"/>
          <p:cNvSpPr/>
          <p:nvPr/>
        </p:nvSpPr>
        <p:spPr>
          <a:xfrm>
            <a:off x="8927287" y="2212848"/>
            <a:ext cx="2761488" cy="201168"/>
          </a:xfrm>
          <a:prstGeom prst="rect">
            <a:avLst/>
          </a:prstGeom>
          <a:solidFill>
            <a:srgbClr val="1E4035"/>
          </a:solidFill>
          <a:ln w="12700">
            <a:solidFill>
              <a:srgbClr val="1E4035"/>
            </a:solidFill>
            <a:prstDash val="solid"/>
          </a:ln>
        </p:spPr>
      </p:sp>
      <p:sp>
        <p:nvSpPr>
          <p:cNvPr id="102" name="Text 100"/>
          <p:cNvSpPr txBox="1"/>
          <p:nvPr/>
        </p:nvSpPr>
        <p:spPr>
          <a:xfrm>
            <a:off x="9037015" y="2212848"/>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EXPERIENCE</a:t>
            </a:r>
            <a:endParaRPr lang="en-US" sz="1000" dirty="0"/>
          </a:p>
        </p:txBody>
      </p:sp>
      <p:sp>
        <p:nvSpPr>
          <p:cNvPr id="103" name="card-Operations console"/>
          <p:cNvSpPr/>
          <p:nvPr/>
        </p:nvSpPr>
        <p:spPr>
          <a:xfrm>
            <a:off x="8927287" y="2450592"/>
            <a:ext cx="2761488" cy="356616"/>
          </a:xfrm>
          <a:prstGeom prst="rect">
            <a:avLst/>
          </a:prstGeom>
          <a:solidFill>
            <a:srgbClr val="FFFFFF"/>
          </a:solidFill>
          <a:ln w="12700">
            <a:solidFill>
              <a:srgbClr val="C3CCC0"/>
            </a:solidFill>
            <a:prstDash val="solid"/>
          </a:ln>
        </p:spPr>
      </p:sp>
      <p:sp>
        <p:nvSpPr>
          <p:cNvPr id="104" name="Text 102"/>
          <p:cNvSpPr txBox="1"/>
          <p:nvPr/>
        </p:nvSpPr>
        <p:spPr>
          <a:xfrm>
            <a:off x="8991295" y="24871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105" name="card-Review workbench ·"/>
          <p:cNvSpPr/>
          <p:nvPr/>
        </p:nvSpPr>
        <p:spPr>
          <a:xfrm>
            <a:off x="8927287" y="2834640"/>
            <a:ext cx="2761488" cy="356616"/>
          </a:xfrm>
          <a:prstGeom prst="rect">
            <a:avLst/>
          </a:prstGeom>
          <a:solidFill>
            <a:srgbClr val="FFFFFF"/>
          </a:solidFill>
          <a:ln w="12700">
            <a:solidFill>
              <a:srgbClr val="C3CCC0"/>
            </a:solidFill>
            <a:prstDash val="solid"/>
          </a:ln>
        </p:spPr>
      </p:sp>
      <p:sp>
        <p:nvSpPr>
          <p:cNvPr id="106" name="Text 104"/>
          <p:cNvSpPr txBox="1"/>
          <p:nvPr/>
        </p:nvSpPr>
        <p:spPr>
          <a:xfrm>
            <a:off x="8991295" y="28712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107" name="card-HTTP API · 27 rout"/>
          <p:cNvSpPr/>
          <p:nvPr/>
        </p:nvSpPr>
        <p:spPr>
          <a:xfrm>
            <a:off x="8927287" y="3218688"/>
            <a:ext cx="2761488" cy="356616"/>
          </a:xfrm>
          <a:prstGeom prst="rect">
            <a:avLst/>
          </a:prstGeom>
          <a:solidFill>
            <a:srgbClr val="FFFFFF"/>
          </a:solidFill>
          <a:ln w="12700">
            <a:solidFill>
              <a:srgbClr val="C3CCC0"/>
            </a:solidFill>
            <a:prstDash val="solid"/>
          </a:ln>
        </p:spPr>
      </p:sp>
      <p:sp>
        <p:nvSpPr>
          <p:cNvPr id="108" name="Text 106"/>
          <p:cNvSpPr txBox="1"/>
          <p:nvPr/>
        </p:nvSpPr>
        <p:spPr>
          <a:xfrm>
            <a:off x="8991295" y="32552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109" name="Shape 107"/>
          <p:cNvSpPr/>
          <p:nvPr/>
        </p:nvSpPr>
        <p:spPr>
          <a:xfrm>
            <a:off x="8927287" y="3657600"/>
            <a:ext cx="2761488" cy="201168"/>
          </a:xfrm>
          <a:prstGeom prst="rect">
            <a:avLst/>
          </a:prstGeom>
          <a:solidFill>
            <a:srgbClr val="1E4035"/>
          </a:solidFill>
          <a:ln w="12700">
            <a:solidFill>
              <a:srgbClr val="1E4035"/>
            </a:solidFill>
            <a:prstDash val="solid"/>
          </a:ln>
        </p:spPr>
      </p:sp>
      <p:sp>
        <p:nvSpPr>
          <p:cNvPr id="110" name="Text 108"/>
          <p:cNvSpPr txBox="1"/>
          <p:nvPr/>
        </p:nvSpPr>
        <p:spPr>
          <a:xfrm>
            <a:off x="9037015" y="3657600"/>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OBSERVABILITY</a:t>
            </a:r>
            <a:endParaRPr lang="en-US" sz="1000" dirty="0"/>
          </a:p>
        </p:txBody>
      </p:sp>
      <p:sp>
        <p:nvSpPr>
          <p:cNvPr id="111" name="card-NVIDIA DCGM · 19 s"/>
          <p:cNvSpPr/>
          <p:nvPr/>
        </p:nvSpPr>
        <p:spPr>
          <a:xfrm>
            <a:off x="8927287" y="3895344"/>
            <a:ext cx="2761488" cy="356616"/>
          </a:xfrm>
          <a:prstGeom prst="rect">
            <a:avLst/>
          </a:prstGeom>
          <a:solidFill>
            <a:srgbClr val="5B8C3A"/>
          </a:solidFill>
          <a:ln w="19050">
            <a:solidFill>
              <a:srgbClr val="446B29"/>
            </a:solidFill>
            <a:prstDash val="solid"/>
          </a:ln>
        </p:spPr>
      </p:sp>
      <p:sp>
        <p:nvSpPr>
          <p:cNvPr id="112" name="Text 110"/>
          <p:cNvSpPr txBox="1"/>
          <p:nvPr/>
        </p:nvSpPr>
        <p:spPr>
          <a:xfrm>
            <a:off x="8991295" y="3931920"/>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series</a:t>
            </a:r>
            <a:endParaRPr lang="en-US" sz="1100" dirty="0"/>
          </a:p>
        </p:txBody>
      </p:sp>
      <p:sp>
        <p:nvSpPr>
          <p:cNvPr id="113" name="card-Prometheus · 13 se"/>
          <p:cNvSpPr/>
          <p:nvPr/>
        </p:nvSpPr>
        <p:spPr>
          <a:xfrm>
            <a:off x="8927287" y="4279392"/>
            <a:ext cx="2761488" cy="356616"/>
          </a:xfrm>
          <a:prstGeom prst="rect">
            <a:avLst/>
          </a:prstGeom>
          <a:solidFill>
            <a:srgbClr val="FFFFFF"/>
          </a:solidFill>
          <a:ln w="12700">
            <a:solidFill>
              <a:srgbClr val="C3CCC0"/>
            </a:solidFill>
            <a:prstDash val="solid"/>
          </a:ln>
        </p:spPr>
      </p:sp>
      <p:sp>
        <p:nvSpPr>
          <p:cNvPr id="114" name="Text 112"/>
          <p:cNvSpPr txBox="1"/>
          <p:nvPr/>
        </p:nvSpPr>
        <p:spPr>
          <a:xfrm>
            <a:off x="8991295" y="43159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series</a:t>
            </a:r>
            <a:endParaRPr lang="en-US" sz="1100" dirty="0"/>
          </a:p>
        </p:txBody>
      </p:sp>
      <p:sp>
        <p:nvSpPr>
          <p:cNvPr id="115" name="card-Grafana · 11 panel"/>
          <p:cNvSpPr/>
          <p:nvPr/>
        </p:nvSpPr>
        <p:spPr>
          <a:xfrm>
            <a:off x="8927287" y="4663440"/>
            <a:ext cx="2761488" cy="356616"/>
          </a:xfrm>
          <a:prstGeom prst="rect">
            <a:avLst/>
          </a:prstGeom>
          <a:solidFill>
            <a:srgbClr val="FFFFFF"/>
          </a:solidFill>
          <a:ln w="12700">
            <a:solidFill>
              <a:srgbClr val="C3CCC0"/>
            </a:solidFill>
            <a:prstDash val="solid"/>
          </a:ln>
        </p:spPr>
      </p:sp>
      <p:sp>
        <p:nvSpPr>
          <p:cNvPr id="116" name="Text 114"/>
          <p:cNvSpPr txBox="1"/>
          <p:nvPr/>
        </p:nvSpPr>
        <p:spPr>
          <a:xfrm>
            <a:off x="8991295" y="47000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17" name="card-Attu and sqlite-we"/>
          <p:cNvSpPr/>
          <p:nvPr/>
        </p:nvSpPr>
        <p:spPr>
          <a:xfrm>
            <a:off x="8927287" y="5047488"/>
            <a:ext cx="2761488" cy="356616"/>
          </a:xfrm>
          <a:prstGeom prst="rect">
            <a:avLst/>
          </a:prstGeom>
          <a:solidFill>
            <a:srgbClr val="FFFFFF"/>
          </a:solidFill>
          <a:ln w="12700">
            <a:solidFill>
              <a:srgbClr val="C3CCC0"/>
            </a:solidFill>
            <a:prstDash val="solid"/>
          </a:ln>
        </p:spPr>
      </p:sp>
      <p:sp>
        <p:nvSpPr>
          <p:cNvPr id="118" name="Text 116"/>
          <p:cNvSpPr txBox="1"/>
          <p:nvPr/>
        </p:nvSpPr>
        <p:spPr>
          <a:xfrm>
            <a:off x="8991295" y="50840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19" name="Shape 117"/>
          <p:cNvSpPr/>
          <p:nvPr/>
        </p:nvSpPr>
        <p:spPr>
          <a:xfrm>
            <a:off x="502920" y="5541264"/>
            <a:ext cx="11185855" cy="201168"/>
          </a:xfrm>
          <a:prstGeom prst="rect">
            <a:avLst/>
          </a:prstGeom>
          <a:solidFill>
            <a:srgbClr val="14302A"/>
          </a:solidFill>
          <a:ln w="12700">
            <a:solidFill>
              <a:srgbClr val="14302A"/>
            </a:solidFill>
            <a:prstDash val="solid"/>
          </a:ln>
        </p:spPr>
      </p:sp>
      <p:sp>
        <p:nvSpPr>
          <p:cNvPr id="120" name="Text 118"/>
          <p:cNvSpPr txBox="1"/>
          <p:nvPr/>
        </p:nvSpPr>
        <p:spPr>
          <a:xfrm>
            <a:off x="612648" y="5541264"/>
            <a:ext cx="10966399" cy="201168"/>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21" name="gov-Answer log"/>
          <p:cNvSpPr/>
          <p:nvPr/>
        </p:nvSpPr>
        <p:spPr>
          <a:xfrm>
            <a:off x="502920" y="5760720"/>
            <a:ext cx="1788109" cy="384048"/>
          </a:xfrm>
          <a:prstGeom prst="rect">
            <a:avLst/>
          </a:prstGeom>
          <a:solidFill>
            <a:srgbClr val="FFFFFF"/>
          </a:solidFill>
          <a:ln w="12700">
            <a:solidFill>
              <a:srgbClr val="C3CCC0"/>
            </a:solidFill>
            <a:prstDash val="solid"/>
          </a:ln>
        </p:spPr>
      </p:sp>
      <p:sp>
        <p:nvSpPr>
          <p:cNvPr id="122" name="Text 120"/>
          <p:cNvSpPr txBox="1"/>
          <p:nvPr/>
        </p:nvSpPr>
        <p:spPr>
          <a:xfrm>
            <a:off x="576072"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Answer log</a:t>
            </a:r>
            <a:endParaRPr lang="en-US" sz="1050" dirty="0"/>
          </a:p>
          <a:p>
            <a:pPr indent="0" marL="0">
              <a:lnSpc>
                <a:spcPct val="86000"/>
              </a:lnSpc>
              <a:buNone/>
            </a:pPr>
            <a:r>
              <a:rPr lang="en-US" sz="1000" dirty="0">
                <a:solidFill>
                  <a:srgbClr val="5C6B64"/>
                </a:solidFill>
              </a:rPr>
              <a:t>706 logged</a:t>
            </a:r>
            <a:endParaRPr lang="en-US" sz="1050" dirty="0"/>
          </a:p>
        </p:txBody>
      </p:sp>
      <p:sp>
        <p:nvSpPr>
          <p:cNvPr id="123" name="gov-NeMo Relay"/>
          <p:cNvSpPr/>
          <p:nvPr/>
        </p:nvSpPr>
        <p:spPr>
          <a:xfrm>
            <a:off x="2382469" y="5760720"/>
            <a:ext cx="1788109" cy="384048"/>
          </a:xfrm>
          <a:prstGeom prst="rect">
            <a:avLst/>
          </a:prstGeom>
          <a:solidFill>
            <a:srgbClr val="FFFFFF"/>
          </a:solidFill>
          <a:ln w="22225">
            <a:solidFill>
              <a:srgbClr val="76B900"/>
            </a:solidFill>
            <a:prstDash val="solid"/>
          </a:ln>
        </p:spPr>
      </p:sp>
      <p:sp>
        <p:nvSpPr>
          <p:cNvPr id="124" name="Text 122"/>
          <p:cNvSpPr txBox="1"/>
          <p:nvPr/>
        </p:nvSpPr>
        <p:spPr>
          <a:xfrm>
            <a:off x="2455621"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Relay</a:t>
            </a:r>
            <a:endParaRPr lang="en-US" sz="1050" dirty="0"/>
          </a:p>
          <a:p>
            <a:pPr indent="0" marL="0">
              <a:lnSpc>
                <a:spcPct val="86000"/>
              </a:lnSpc>
              <a:buNone/>
            </a:pPr>
            <a:r>
              <a:rPr lang="en-US" sz="1000" dirty="0">
                <a:solidFill>
                  <a:srgbClr val="5C6B64"/>
                </a:solidFill>
              </a:rPr>
              <a:t>trace spans</a:t>
            </a:r>
            <a:endParaRPr lang="en-US" sz="1050" dirty="0"/>
          </a:p>
        </p:txBody>
      </p:sp>
      <p:sp>
        <p:nvSpPr>
          <p:cNvPr id="125" name="gov-NeMo Evaluator"/>
          <p:cNvSpPr/>
          <p:nvPr/>
        </p:nvSpPr>
        <p:spPr>
          <a:xfrm>
            <a:off x="4262018" y="5760720"/>
            <a:ext cx="1788109" cy="384048"/>
          </a:xfrm>
          <a:prstGeom prst="rect">
            <a:avLst/>
          </a:prstGeom>
          <a:solidFill>
            <a:srgbClr val="FFFFFF"/>
          </a:solidFill>
          <a:ln w="22225">
            <a:solidFill>
              <a:srgbClr val="76B900"/>
            </a:solidFill>
            <a:prstDash val="solid"/>
          </a:ln>
        </p:spPr>
      </p:sp>
      <p:sp>
        <p:nvSpPr>
          <p:cNvPr id="126" name="Text 124"/>
          <p:cNvSpPr txBox="1"/>
          <p:nvPr/>
        </p:nvSpPr>
        <p:spPr>
          <a:xfrm>
            <a:off x="433517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Evaluator</a:t>
            </a:r>
            <a:endParaRPr lang="en-US" sz="1050" dirty="0"/>
          </a:p>
          <a:p>
            <a:pPr indent="0" marL="0">
              <a:lnSpc>
                <a:spcPct val="86000"/>
              </a:lnSpc>
              <a:buNone/>
            </a:pPr>
            <a:r>
              <a:rPr lang="en-US" sz="1000" dirty="0">
                <a:solidFill>
                  <a:srgbClr val="5C6B64"/>
                </a:solidFill>
              </a:rPr>
              <a:t>run over run</a:t>
            </a:r>
            <a:endParaRPr lang="en-US" sz="1050" dirty="0"/>
          </a:p>
        </p:txBody>
      </p:sp>
      <p:sp>
        <p:nvSpPr>
          <p:cNvPr id="127" name="gov-Riva Magpie TTS"/>
          <p:cNvSpPr/>
          <p:nvPr/>
        </p:nvSpPr>
        <p:spPr>
          <a:xfrm>
            <a:off x="6141568" y="5760720"/>
            <a:ext cx="1788109" cy="384048"/>
          </a:xfrm>
          <a:prstGeom prst="rect">
            <a:avLst/>
          </a:prstGeom>
          <a:solidFill>
            <a:srgbClr val="5B8C3A"/>
          </a:solidFill>
          <a:ln w="12700">
            <a:solidFill>
              <a:srgbClr val="C3CCC0"/>
            </a:solidFill>
            <a:prstDash val="solid"/>
          </a:ln>
        </p:spPr>
      </p:sp>
      <p:sp>
        <p:nvSpPr>
          <p:cNvPr id="128" name="Text 126"/>
          <p:cNvSpPr txBox="1"/>
          <p:nvPr/>
        </p:nvSpPr>
        <p:spPr>
          <a:xfrm>
            <a:off x="621472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FFFFFF"/>
                </a:solidFill>
              </a:rPr>
              <a:t>Riva Magpie TTS</a:t>
            </a:r>
            <a:endParaRPr lang="en-US" sz="1050" dirty="0"/>
          </a:p>
          <a:p>
            <a:pPr indent="0" marL="0">
              <a:lnSpc>
                <a:spcPct val="86000"/>
              </a:lnSpc>
              <a:buNone/>
            </a:pPr>
            <a:r>
              <a:rPr lang="en-US" sz="1000" dirty="0">
                <a:solidFill>
                  <a:srgbClr val="DCE8CF"/>
                </a:solidFill>
              </a:rPr>
              <a:t>speech harness</a:t>
            </a:r>
            <a:endParaRPr lang="en-US" sz="1050" dirty="0"/>
          </a:p>
        </p:txBody>
      </p:sp>
      <p:sp>
        <p:nvSpPr>
          <p:cNvPr id="129" name="gov-Acceptance gates"/>
          <p:cNvSpPr/>
          <p:nvPr/>
        </p:nvSpPr>
        <p:spPr>
          <a:xfrm>
            <a:off x="8021117" y="5760720"/>
            <a:ext cx="1788109" cy="384048"/>
          </a:xfrm>
          <a:prstGeom prst="rect">
            <a:avLst/>
          </a:prstGeom>
          <a:solidFill>
            <a:srgbClr val="FFFFFF"/>
          </a:solidFill>
          <a:ln w="12700">
            <a:solidFill>
              <a:srgbClr val="C3CCC0"/>
            </a:solidFill>
            <a:prstDash val="solid"/>
          </a:ln>
        </p:spPr>
      </p:sp>
      <p:sp>
        <p:nvSpPr>
          <p:cNvPr id="130" name="Text 128"/>
          <p:cNvSpPr txBox="1"/>
          <p:nvPr/>
        </p:nvSpPr>
        <p:spPr>
          <a:xfrm>
            <a:off x="8094269"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Acceptance gates</a:t>
            </a:r>
            <a:endParaRPr lang="en-US" sz="1050" dirty="0"/>
          </a:p>
          <a:p>
            <a:pPr indent="0" marL="0">
              <a:lnSpc>
                <a:spcPct val="86000"/>
              </a:lnSpc>
              <a:buNone/>
            </a:pPr>
            <a:r>
              <a:rPr lang="en-US" sz="1000" dirty="0">
                <a:solidFill>
                  <a:srgbClr val="5C6B64"/>
                </a:solidFill>
              </a:rPr>
              <a:t>six floors</a:t>
            </a:r>
            <a:endParaRPr lang="en-US" sz="1050" dirty="0"/>
          </a:p>
        </p:txBody>
      </p:sp>
      <p:sp>
        <p:nvSpPr>
          <p:cNvPr id="131" name="gov-NemoClaw"/>
          <p:cNvSpPr/>
          <p:nvPr/>
        </p:nvSpPr>
        <p:spPr>
          <a:xfrm>
            <a:off x="9900666" y="5760720"/>
            <a:ext cx="1788109" cy="384048"/>
          </a:xfrm>
          <a:prstGeom prst="rect">
            <a:avLst/>
          </a:prstGeom>
          <a:solidFill>
            <a:srgbClr val="FFFFFF"/>
          </a:solidFill>
          <a:ln w="19050">
            <a:solidFill>
              <a:srgbClr val="76B900"/>
            </a:solidFill>
            <a:prstDash val="dash"/>
          </a:ln>
        </p:spPr>
      </p:sp>
      <p:sp>
        <p:nvSpPr>
          <p:cNvPr id="132" name="Text 130"/>
          <p:cNvSpPr txBox="1"/>
          <p:nvPr/>
        </p:nvSpPr>
        <p:spPr>
          <a:xfrm>
            <a:off x="9973818"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4A7023"/>
                </a:solidFill>
              </a:rPr>
              <a:t>NemoClaw</a:t>
            </a:r>
            <a:endParaRPr lang="en-US" sz="1050" dirty="0"/>
          </a:p>
          <a:p>
            <a:pPr indent="0" marL="0">
              <a:lnSpc>
                <a:spcPct val="86000"/>
              </a:lnSpc>
              <a:buNone/>
            </a:pPr>
            <a:r>
              <a:rPr lang="en-US" sz="1000" dirty="0">
                <a:solidFill>
                  <a:srgbClr val="5C6B64"/>
                </a:solidFill>
              </a:rPr>
              <a:t>blocked</a:t>
            </a:r>
            <a:endParaRPr lang="en-US" sz="1050" dirty="0"/>
          </a:p>
        </p:txBody>
      </p:sp>
      <p:sp>
        <p:nvSpPr>
          <p:cNvPr id="133" name="Shape 131"/>
          <p:cNvSpPr/>
          <p:nvPr/>
        </p:nvSpPr>
        <p:spPr>
          <a:xfrm>
            <a:off x="502920" y="6181344"/>
            <a:ext cx="1554480" cy="219456"/>
          </a:xfrm>
          <a:prstGeom prst="rect">
            <a:avLst/>
          </a:prstGeom>
          <a:solidFill>
            <a:srgbClr val="1E4035"/>
          </a:solidFill>
          <a:ln w="12700">
            <a:solidFill>
              <a:srgbClr val="1E4035"/>
            </a:solidFill>
            <a:prstDash val="solid"/>
          </a:ln>
        </p:spPr>
      </p:sp>
      <p:sp>
        <p:nvSpPr>
          <p:cNvPr id="134" name="Text 132"/>
          <p:cNvSpPr txBox="1"/>
          <p:nvPr/>
        </p:nvSpPr>
        <p:spPr>
          <a:xfrm>
            <a:off x="612648" y="6181344"/>
            <a:ext cx="1335024" cy="219456"/>
          </a:xfrm>
          <a:prstGeom prst="rect">
            <a:avLst/>
          </a:prstGeom>
          <a:noFill/>
          <a:ln/>
        </p:spPr>
        <p:txBody>
          <a:bodyPr wrap="square" lIns="0" tIns="0" rIns="0" bIns="0" rtlCol="0" anchor="ctr"/>
          <a:lstStyle/>
          <a:p>
            <a:pPr algn="ctr" indent="0" marL="0">
              <a:buNone/>
            </a:pPr>
            <a:r>
              <a:rPr lang="en-US" sz="1000" b="1" spc="60" kern="0" dirty="0">
                <a:solidFill>
                  <a:srgbClr val="FFFFFF"/>
                </a:solidFill>
              </a:rPr>
              <a:t>Infrastructure</a:t>
            </a:r>
            <a:endParaRPr lang="en-US" sz="1000" dirty="0"/>
          </a:p>
        </p:txBody>
      </p:sp>
      <p:sp>
        <p:nvSpPr>
          <p:cNvPr id="135" name="infra-NVIDIA Brev "/>
          <p:cNvSpPr/>
          <p:nvPr/>
        </p:nvSpPr>
        <p:spPr>
          <a:xfrm>
            <a:off x="2130552" y="6181344"/>
            <a:ext cx="2194560" cy="219456"/>
          </a:xfrm>
          <a:prstGeom prst="rect">
            <a:avLst/>
          </a:prstGeom>
          <a:solidFill>
            <a:srgbClr val="5B8C3A"/>
          </a:solidFill>
          <a:ln w="12700">
            <a:solidFill>
              <a:srgbClr val="446B29"/>
            </a:solidFill>
            <a:prstDash val="solid"/>
          </a:ln>
        </p:spPr>
      </p:sp>
      <p:sp>
        <p:nvSpPr>
          <p:cNvPr id="136" name="Text 134"/>
          <p:cNvSpPr txBox="1"/>
          <p:nvPr/>
        </p:nvSpPr>
        <p:spPr>
          <a:xfrm>
            <a:off x="2130552" y="6181344"/>
            <a:ext cx="219456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Brev · L40S 48 GB</a:t>
            </a:r>
            <a:endParaRPr lang="en-US" sz="1000" dirty="0"/>
          </a:p>
        </p:txBody>
      </p:sp>
      <p:sp>
        <p:nvSpPr>
          <p:cNvPr id="137" name="infra-NVIDIA NIM ·"/>
          <p:cNvSpPr/>
          <p:nvPr/>
        </p:nvSpPr>
        <p:spPr>
          <a:xfrm>
            <a:off x="4398264" y="6181344"/>
            <a:ext cx="2606040" cy="219456"/>
          </a:xfrm>
          <a:prstGeom prst="rect">
            <a:avLst/>
          </a:prstGeom>
          <a:solidFill>
            <a:srgbClr val="5B8C3A"/>
          </a:solidFill>
          <a:ln w="12700">
            <a:solidFill>
              <a:srgbClr val="446B29"/>
            </a:solidFill>
            <a:prstDash val="solid"/>
          </a:ln>
        </p:spPr>
      </p:sp>
      <p:sp>
        <p:nvSpPr>
          <p:cNvPr id="138" name="Text 136"/>
          <p:cNvSpPr txBox="1"/>
          <p:nvPr/>
        </p:nvSpPr>
        <p:spPr>
          <a:xfrm>
            <a:off x="4398264" y="6181344"/>
            <a:ext cx="260604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NIM · 3 served models</a:t>
            </a:r>
            <a:endParaRPr lang="en-US" sz="1000" dirty="0"/>
          </a:p>
        </p:txBody>
      </p:sp>
      <p:sp>
        <p:nvSpPr>
          <p:cNvPr id="139" name="Text 137"/>
          <p:cNvSpPr txBox="1"/>
          <p:nvPr/>
        </p:nvSpPr>
        <p:spPr>
          <a:xfrm>
            <a:off x="7095744" y="6181344"/>
            <a:ext cx="4593031" cy="219456"/>
          </a:xfrm>
          <a:prstGeom prst="rect">
            <a:avLst/>
          </a:prstGeom>
          <a:noFill/>
          <a:ln/>
        </p:spPr>
        <p:txBody>
          <a:bodyPr wrap="square" lIns="0" tIns="0" rIns="0" bIns="0" rtlCol="0" anchor="ctr"/>
          <a:lstStyle/>
          <a:p>
            <a:pPr indent="0" marL="0">
              <a:buNone/>
            </a:pPr>
            <a:r>
              <a:rPr lang="en-US" sz="1000" dirty="0">
                <a:solidFill>
                  <a:srgbClr val="5C6B64"/>
                </a:solidFill>
              </a:rPr>
              <a:t>Milvus · SQLite · Gradio · FastAPI · Prometheus · Grafana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78992"/>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7899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89888"/>
            <a:ext cx="1988454" cy="822960"/>
          </a:xfrm>
          <a:prstGeom prst="rect">
            <a:avLst/>
          </a:prstGeom>
          <a:solidFill>
            <a:srgbClr val="FFFFFF"/>
          </a:solidFill>
          <a:ln w="12700">
            <a:solidFill>
              <a:srgbClr val="C3CCC0"/>
            </a:solidFill>
            <a:prstDash val="solid"/>
          </a:ln>
        </p:spPr>
      </p:sp>
      <p:sp>
        <p:nvSpPr>
          <p:cNvPr id="7" name="Text 5"/>
          <p:cNvSpPr txBox="1"/>
          <p:nvPr/>
        </p:nvSpPr>
        <p:spPr>
          <a:xfrm>
            <a:off x="6126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Capture</a:t>
            </a:r>
            <a:endParaRPr lang="en-US" sz="1200" dirty="0"/>
          </a:p>
          <a:p>
            <a:pPr indent="0" marL="0">
              <a:lnSpc>
                <a:spcPct val="94000"/>
              </a:lnSpc>
              <a:buNone/>
            </a:pPr>
            <a:r>
              <a:rPr lang="en-US" sz="1050" dirty="0">
                <a:solidFill>
                  <a:srgbClr val="5C6B64"/>
                </a:solidFill>
              </a:rPr>
              <a:t>spoken at the bay, or typed</a:t>
            </a:r>
            <a:endParaRPr lang="en-US" sz="1200" dirty="0"/>
          </a:p>
        </p:txBody>
      </p:sp>
      <p:sp>
        <p:nvSpPr>
          <p:cNvPr id="8" name="step-Riva ASR"/>
          <p:cNvSpPr/>
          <p:nvPr/>
        </p:nvSpPr>
        <p:spPr>
          <a:xfrm>
            <a:off x="2802270" y="1389888"/>
            <a:ext cx="1988454" cy="822960"/>
          </a:xfrm>
          <a:prstGeom prst="rect">
            <a:avLst/>
          </a:prstGeom>
          <a:solidFill>
            <a:srgbClr val="5B8C3A"/>
          </a:solidFill>
          <a:ln w="19050">
            <a:solidFill>
              <a:srgbClr val="446B29"/>
            </a:solidFill>
            <a:prstDash val="solid"/>
          </a:ln>
        </p:spPr>
      </p:sp>
      <p:sp>
        <p:nvSpPr>
          <p:cNvPr id="9" name="Text 7"/>
          <p:cNvSpPr txBox="1"/>
          <p:nvPr/>
        </p:nvSpPr>
        <p:spPr>
          <a:xfrm>
            <a:off x="291199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Riva ASR</a:t>
            </a:r>
            <a:endParaRPr lang="en-US" sz="1200" dirty="0"/>
          </a:p>
          <a:p>
            <a:pPr indent="0" marL="0">
              <a:lnSpc>
                <a:spcPct val="94000"/>
              </a:lnSpc>
              <a:buNone/>
            </a:pPr>
            <a:r>
              <a:rPr lang="en-US" sz="1050" dirty="0">
                <a:solidFill>
                  <a:srgbClr val="DCE8CF"/>
                </a:solidFill>
              </a:rPr>
              <a:t>speech to text, on the GPU</a:t>
            </a:r>
            <a:endParaRPr lang="en-US" sz="1200" dirty="0"/>
          </a:p>
        </p:txBody>
      </p:sp>
      <p:sp>
        <p:nvSpPr>
          <p:cNvPr id="10" name="Shape 8"/>
          <p:cNvSpPr/>
          <p:nvPr/>
        </p:nvSpPr>
        <p:spPr>
          <a:xfrm>
            <a:off x="2573670" y="1728216"/>
            <a:ext cx="146304" cy="146304"/>
          </a:xfrm>
          <a:prstGeom prst="rightArrow">
            <a:avLst/>
          </a:prstGeom>
          <a:solidFill>
            <a:srgbClr val="76B900"/>
          </a:solidFill>
          <a:ln w="12700">
            <a:solidFill>
              <a:srgbClr val="76B900"/>
            </a:solidFill>
            <a:prstDash val="solid"/>
          </a:ln>
        </p:spPr>
      </p:sp>
      <p:sp>
        <p:nvSpPr>
          <p:cNvPr id="11" name="step-Nemotron 8B"/>
          <p:cNvSpPr/>
          <p:nvPr/>
        </p:nvSpPr>
        <p:spPr>
          <a:xfrm>
            <a:off x="5101620" y="1389888"/>
            <a:ext cx="1988454" cy="822960"/>
          </a:xfrm>
          <a:prstGeom prst="rect">
            <a:avLst/>
          </a:prstGeom>
          <a:solidFill>
            <a:srgbClr val="5B8C3A"/>
          </a:solidFill>
          <a:ln w="19050">
            <a:solidFill>
              <a:srgbClr val="446B29"/>
            </a:solidFill>
            <a:prstDash val="solid"/>
          </a:ln>
        </p:spPr>
      </p:sp>
      <p:sp>
        <p:nvSpPr>
          <p:cNvPr id="12" name="Text 10"/>
          <p:cNvSpPr txBox="1"/>
          <p:nvPr/>
        </p:nvSpPr>
        <p:spPr>
          <a:xfrm>
            <a:off x="52113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Nemotron 8B</a:t>
            </a:r>
            <a:endParaRPr lang="en-US" sz="1200" dirty="0"/>
          </a:p>
          <a:p>
            <a:pPr indent="0" marL="0">
              <a:lnSpc>
                <a:spcPct val="94000"/>
              </a:lnSpc>
              <a:buNone/>
            </a:pPr>
            <a:r>
              <a:rPr lang="en-US" sz="1050" dirty="0">
                <a:solidFill>
                  <a:srgbClr val="DCE8CF"/>
                </a:solidFill>
              </a:rPr>
              <a:t>free prose → strict JSON</a:t>
            </a:r>
            <a:endParaRPr lang="en-US" sz="1200" dirty="0"/>
          </a:p>
        </p:txBody>
      </p:sp>
      <p:sp>
        <p:nvSpPr>
          <p:cNvPr id="13" name="Shape 11"/>
          <p:cNvSpPr/>
          <p:nvPr/>
        </p:nvSpPr>
        <p:spPr>
          <a:xfrm>
            <a:off x="4873020" y="1728216"/>
            <a:ext cx="146304" cy="146304"/>
          </a:xfrm>
          <a:prstGeom prst="rightArrow">
            <a:avLst/>
          </a:prstGeom>
          <a:solidFill>
            <a:srgbClr val="76B900"/>
          </a:solidFill>
          <a:ln w="12700">
            <a:solidFill>
              <a:srgbClr val="76B900"/>
            </a:solidFill>
            <a:prstDash val="solid"/>
          </a:ln>
        </p:spPr>
      </p:sp>
      <p:sp>
        <p:nvSpPr>
          <p:cNvPr id="14" name="step-Resolve &amp; reconc"/>
          <p:cNvSpPr/>
          <p:nvPr/>
        </p:nvSpPr>
        <p:spPr>
          <a:xfrm>
            <a:off x="7400971" y="1389888"/>
            <a:ext cx="1988454" cy="822960"/>
          </a:xfrm>
          <a:prstGeom prst="rect">
            <a:avLst/>
          </a:prstGeom>
          <a:solidFill>
            <a:srgbClr val="FFFFFF"/>
          </a:solidFill>
          <a:ln w="12700">
            <a:solidFill>
              <a:srgbClr val="C3CCC0"/>
            </a:solidFill>
            <a:prstDash val="solid"/>
          </a:ln>
        </p:spPr>
      </p:sp>
      <p:sp>
        <p:nvSpPr>
          <p:cNvPr id="15" name="Text 13"/>
          <p:cNvSpPr txBox="1"/>
          <p:nvPr/>
        </p:nvSpPr>
        <p:spPr>
          <a:xfrm>
            <a:off x="751069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Resolve &amp; reconcile</a:t>
            </a:r>
            <a:endParaRPr lang="en-US" sz="1200" dirty="0"/>
          </a:p>
          <a:p>
            <a:pPr indent="0" marL="0">
              <a:lnSpc>
                <a:spcPct val="94000"/>
              </a:lnSpc>
              <a:buNone/>
            </a:pPr>
            <a:r>
              <a:rPr lang="en-US" sz="1050" dirty="0">
                <a:solidFill>
                  <a:srgbClr val="5C6B64"/>
                </a:solidFill>
              </a:rPr>
              <a:t>orders matched; conflicts surfaced</a:t>
            </a:r>
            <a:endParaRPr lang="en-US" sz="1200" dirty="0"/>
          </a:p>
        </p:txBody>
      </p:sp>
      <p:sp>
        <p:nvSpPr>
          <p:cNvPr id="16" name="Shape 14"/>
          <p:cNvSpPr/>
          <p:nvPr/>
        </p:nvSpPr>
        <p:spPr>
          <a:xfrm>
            <a:off x="7172371" y="1728216"/>
            <a:ext cx="146304" cy="146304"/>
          </a:xfrm>
          <a:prstGeom prst="rightArrow">
            <a:avLst/>
          </a:prstGeom>
          <a:solidFill>
            <a:srgbClr val="76B900"/>
          </a:solidFill>
          <a:ln w="12700">
            <a:solidFill>
              <a:srgbClr val="76B900"/>
            </a:solidFill>
            <a:prstDash val="solid"/>
          </a:ln>
        </p:spPr>
      </p:sp>
      <p:sp>
        <p:nvSpPr>
          <p:cNvPr id="17" name="step-Curate &amp; embed"/>
          <p:cNvSpPr/>
          <p:nvPr/>
        </p:nvSpPr>
        <p:spPr>
          <a:xfrm>
            <a:off x="9700321" y="1389888"/>
            <a:ext cx="1988454" cy="822960"/>
          </a:xfrm>
          <a:prstGeom prst="rect">
            <a:avLst/>
          </a:prstGeom>
          <a:solidFill>
            <a:srgbClr val="FFFFFF"/>
          </a:solidFill>
          <a:ln w="22225">
            <a:solidFill>
              <a:srgbClr val="76B900"/>
            </a:solidFill>
            <a:prstDash val="solid"/>
          </a:ln>
        </p:spPr>
      </p:sp>
      <p:sp>
        <p:nvSpPr>
          <p:cNvPr id="18" name="Text 16"/>
          <p:cNvSpPr txBox="1"/>
          <p:nvPr/>
        </p:nvSpPr>
        <p:spPr>
          <a:xfrm>
            <a:off x="981004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Curate &amp; embed</a:t>
            </a:r>
            <a:endParaRPr lang="en-US" sz="1200" dirty="0"/>
          </a:p>
          <a:p>
            <a:pPr indent="0" marL="0">
              <a:lnSpc>
                <a:spcPct val="94000"/>
              </a:lnSpc>
              <a:buNone/>
            </a:pPr>
            <a:r>
              <a:rPr lang="en-US" sz="1050" dirty="0">
                <a:solidFill>
                  <a:srgbClr val="5C6B64"/>
                </a:solidFill>
              </a:rPr>
              <a:t>six Curator stages, then indexed</a:t>
            </a:r>
            <a:endParaRPr lang="en-US" sz="1200" dirty="0"/>
          </a:p>
        </p:txBody>
      </p:sp>
      <p:sp>
        <p:nvSpPr>
          <p:cNvPr id="19" name="Shape 17"/>
          <p:cNvSpPr/>
          <p:nvPr/>
        </p:nvSpPr>
        <p:spPr>
          <a:xfrm>
            <a:off x="9471721" y="1728216"/>
            <a:ext cx="146304" cy="146304"/>
          </a:xfrm>
          <a:prstGeom prst="rightArrow">
            <a:avLst/>
          </a:prstGeom>
          <a:solidFill>
            <a:srgbClr val="76B900"/>
          </a:solidFill>
          <a:ln w="12700">
            <a:solidFill>
              <a:srgbClr val="76B900"/>
            </a:solidFill>
            <a:prstDash val="solid"/>
          </a:ln>
        </p:spPr>
      </p:sp>
      <p:sp>
        <p:nvSpPr>
          <p:cNvPr id="20" name="Shape 18"/>
          <p:cNvSpPr/>
          <p:nvPr/>
        </p:nvSpPr>
        <p:spPr>
          <a:xfrm>
            <a:off x="5958688" y="2286000"/>
            <a:ext cx="274320" cy="274320"/>
          </a:xfrm>
          <a:prstGeom prst="downArrow">
            <a:avLst/>
          </a:prstGeom>
          <a:solidFill>
            <a:srgbClr val="76B900"/>
          </a:solidFill>
          <a:ln w="12700">
            <a:solidFill>
              <a:srgbClr val="76B900"/>
            </a:solidFill>
            <a:prstDash val="solid"/>
          </a:ln>
        </p:spPr>
      </p:sp>
      <p:sp>
        <p:nvSpPr>
          <p:cNvPr id="21" name="Shape 19"/>
          <p:cNvSpPr/>
          <p:nvPr/>
        </p:nvSpPr>
        <p:spPr>
          <a:xfrm>
            <a:off x="502920" y="2633472"/>
            <a:ext cx="11185855" cy="237744"/>
          </a:xfrm>
          <a:prstGeom prst="rect">
            <a:avLst/>
          </a:prstGeom>
          <a:solidFill>
            <a:srgbClr val="1E4035"/>
          </a:solidFill>
          <a:ln w="12700">
            <a:solidFill>
              <a:srgbClr val="1E4035"/>
            </a:solidFill>
            <a:prstDash val="solid"/>
          </a:ln>
        </p:spPr>
      </p:sp>
      <p:sp>
        <p:nvSpPr>
          <p:cNvPr id="22" name="Text 20"/>
          <p:cNvSpPr txBox="1"/>
          <p:nvPr/>
        </p:nvSpPr>
        <p:spPr>
          <a:xfrm>
            <a:off x="612648" y="2633472"/>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3" name="card-Event log — 10,927"/>
          <p:cNvSpPr/>
          <p:nvPr/>
        </p:nvSpPr>
        <p:spPr>
          <a:xfrm>
            <a:off x="502920" y="2944368"/>
            <a:ext cx="5501488" cy="548640"/>
          </a:xfrm>
          <a:prstGeom prst="rect">
            <a:avLst/>
          </a:prstGeom>
          <a:solidFill>
            <a:srgbClr val="FFFFFF"/>
          </a:solidFill>
          <a:ln w="12700">
            <a:solidFill>
              <a:srgbClr val="C3CCC0"/>
            </a:solidFill>
            <a:prstDash val="solid"/>
          </a:ln>
        </p:spPr>
      </p:sp>
      <p:sp>
        <p:nvSpPr>
          <p:cNvPr id="24" name="Text 22"/>
          <p:cNvSpPr txBox="1"/>
          <p:nvPr/>
        </p:nvSpPr>
        <p:spPr>
          <a:xfrm>
            <a:off x="566928"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Event log — 10,927 events</a:t>
            </a:r>
            <a:endParaRPr lang="en-US" sz="1200" dirty="0"/>
          </a:p>
          <a:p>
            <a:pPr algn="l" indent="0" marL="0">
              <a:lnSpc>
                <a:spcPct val="92000"/>
              </a:lnSpc>
              <a:buNone/>
            </a:pPr>
            <a:r>
              <a:rPr lang="en-US" sz="1050" dirty="0">
                <a:solidFill>
                  <a:srgbClr val="5C6B64"/>
                </a:solidFill>
              </a:rPr>
              <a:t>Append-only. Every order's state is folded from it on each read.</a:t>
            </a:r>
            <a:endParaRPr lang="en-US" sz="1200" dirty="0"/>
          </a:p>
        </p:txBody>
      </p:sp>
      <p:sp>
        <p:nvSpPr>
          <p:cNvPr id="25" name="card-Vector index — 1,9"/>
          <p:cNvSpPr/>
          <p:nvPr/>
        </p:nvSpPr>
        <p:spPr>
          <a:xfrm>
            <a:off x="6187288" y="2944368"/>
            <a:ext cx="5501488" cy="548640"/>
          </a:xfrm>
          <a:prstGeom prst="rect">
            <a:avLst/>
          </a:prstGeom>
          <a:solidFill>
            <a:srgbClr val="FFFFFF"/>
          </a:solidFill>
          <a:ln w="12700">
            <a:solidFill>
              <a:srgbClr val="C3CCC0"/>
            </a:solidFill>
            <a:prstDash val="solid"/>
          </a:ln>
        </p:spPr>
      </p:sp>
      <p:sp>
        <p:nvSpPr>
          <p:cNvPr id="26" name="Text 24"/>
          <p:cNvSpPr txBox="1"/>
          <p:nvPr/>
        </p:nvSpPr>
        <p:spPr>
          <a:xfrm>
            <a:off x="6251296"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Vector index — 1,949 @ 1024d</a:t>
            </a:r>
            <a:endParaRPr lang="en-US" sz="1200" dirty="0"/>
          </a:p>
          <a:p>
            <a:pPr algn="l" indent="0" marL="0">
              <a:lnSpc>
                <a:spcPct val="92000"/>
              </a:lnSpc>
              <a:buNone/>
            </a:pPr>
            <a:r>
              <a:rPr lang="en-US" sz="1050" dirty="0">
                <a:solidFill>
                  <a:srgbClr val="5C6B64"/>
                </a:solidFill>
              </a:rPr>
              <a:t>Derived, and rebuildable. Holds no fact the record does not.</a:t>
            </a:r>
            <a:endParaRPr lang="en-US" sz="1200" dirty="0"/>
          </a:p>
        </p:txBody>
      </p:sp>
      <p:sp>
        <p:nvSpPr>
          <p:cNvPr id="27" name="Shape 25"/>
          <p:cNvSpPr/>
          <p:nvPr/>
        </p:nvSpPr>
        <p:spPr>
          <a:xfrm>
            <a:off x="5958688" y="3566160"/>
            <a:ext cx="274320" cy="274320"/>
          </a:xfrm>
          <a:prstGeom prst="downArrow">
            <a:avLst/>
          </a:prstGeom>
          <a:solidFill>
            <a:srgbClr val="76B900"/>
          </a:solidFill>
          <a:ln w="12700">
            <a:solidFill>
              <a:srgbClr val="76B900"/>
            </a:solidFill>
            <a:prstDash val="solid"/>
          </a:ln>
        </p:spPr>
      </p:sp>
      <p:sp>
        <p:nvSpPr>
          <p:cNvPr id="28" name="Shape 26"/>
          <p:cNvSpPr/>
          <p:nvPr/>
        </p:nvSpPr>
        <p:spPr>
          <a:xfrm>
            <a:off x="502920" y="39136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39136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30" name="step-Question"/>
          <p:cNvSpPr/>
          <p:nvPr/>
        </p:nvSpPr>
        <p:spPr>
          <a:xfrm>
            <a:off x="502920" y="4224528"/>
            <a:ext cx="1988454" cy="822960"/>
          </a:xfrm>
          <a:prstGeom prst="rect">
            <a:avLst/>
          </a:prstGeom>
          <a:solidFill>
            <a:srgbClr val="FFFFFF"/>
          </a:solidFill>
          <a:ln w="12700">
            <a:solidFill>
              <a:srgbClr val="C3CCC0"/>
            </a:solidFill>
            <a:prstDash val="solid"/>
          </a:ln>
        </p:spPr>
      </p:sp>
      <p:sp>
        <p:nvSpPr>
          <p:cNvPr id="31" name="Text 29"/>
          <p:cNvSpPr txBox="1"/>
          <p:nvPr/>
        </p:nvSpPr>
        <p:spPr>
          <a:xfrm>
            <a:off x="6126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Question</a:t>
            </a:r>
            <a:endParaRPr lang="en-US" sz="1200" dirty="0"/>
          </a:p>
          <a:p>
            <a:pPr indent="0" marL="0">
              <a:lnSpc>
                <a:spcPct val="94000"/>
              </a:lnSpc>
              <a:buNone/>
            </a:pPr>
            <a:r>
              <a:rPr lang="en-US" sz="1050" dirty="0">
                <a:solidFill>
                  <a:srgbClr val="5C6B64"/>
                </a:solidFill>
              </a:rPr>
              <a:t>console or HTTP API</a:t>
            </a:r>
            <a:endParaRPr lang="en-US" sz="1200" dirty="0"/>
          </a:p>
        </p:txBody>
      </p:sp>
      <p:sp>
        <p:nvSpPr>
          <p:cNvPr id="32" name="step-Rails"/>
          <p:cNvSpPr/>
          <p:nvPr/>
        </p:nvSpPr>
        <p:spPr>
          <a:xfrm>
            <a:off x="2802270" y="4224528"/>
            <a:ext cx="1988454" cy="822960"/>
          </a:xfrm>
          <a:prstGeom prst="rect">
            <a:avLst/>
          </a:prstGeom>
          <a:solidFill>
            <a:srgbClr val="FFFFFF"/>
          </a:solidFill>
          <a:ln w="22225">
            <a:solidFill>
              <a:srgbClr val="76B900"/>
            </a:solidFill>
            <a:prstDash val="solid"/>
          </a:ln>
        </p:spPr>
      </p:sp>
      <p:sp>
        <p:nvSpPr>
          <p:cNvPr id="33" name="Text 31"/>
          <p:cNvSpPr txBox="1"/>
          <p:nvPr/>
        </p:nvSpPr>
        <p:spPr>
          <a:xfrm>
            <a:off x="291199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Rails</a:t>
            </a:r>
            <a:endParaRPr lang="en-US" sz="1200" dirty="0"/>
          </a:p>
          <a:p>
            <a:pPr indent="0" marL="0">
              <a:lnSpc>
                <a:spcPct val="94000"/>
              </a:lnSpc>
              <a:buNone/>
            </a:pPr>
            <a:r>
              <a:rPr lang="en-US" sz="1050" dirty="0">
                <a:solidFill>
                  <a:srgbClr val="5C6B64"/>
                </a:solidFill>
              </a:rPr>
              <a:t>injection, scope, NeMo self-check</a:t>
            </a:r>
            <a:endParaRPr lang="en-US" sz="1200" dirty="0"/>
          </a:p>
        </p:txBody>
      </p:sp>
      <p:sp>
        <p:nvSpPr>
          <p:cNvPr id="34" name="Shape 32"/>
          <p:cNvSpPr/>
          <p:nvPr/>
        </p:nvSpPr>
        <p:spPr>
          <a:xfrm>
            <a:off x="2573670" y="4562856"/>
            <a:ext cx="146304" cy="146304"/>
          </a:xfrm>
          <a:prstGeom prst="rightArrow">
            <a:avLst/>
          </a:prstGeom>
          <a:solidFill>
            <a:srgbClr val="76B900"/>
          </a:solidFill>
          <a:ln w="12700">
            <a:solidFill>
              <a:srgbClr val="76B900"/>
            </a:solidFill>
            <a:prstDash val="solid"/>
          </a:ln>
        </p:spPr>
      </p:sp>
      <p:sp>
        <p:nvSpPr>
          <p:cNvPr id="35" name="step-Plan → tool call"/>
          <p:cNvSpPr/>
          <p:nvPr/>
        </p:nvSpPr>
        <p:spPr>
          <a:xfrm>
            <a:off x="5101620" y="4224528"/>
            <a:ext cx="1988454" cy="822960"/>
          </a:xfrm>
          <a:prstGeom prst="rect">
            <a:avLst/>
          </a:prstGeom>
          <a:solidFill>
            <a:srgbClr val="FFFFFF"/>
          </a:solidFill>
          <a:ln w="12700">
            <a:solidFill>
              <a:srgbClr val="C3CCC0"/>
            </a:solidFill>
            <a:prstDash val="solid"/>
          </a:ln>
        </p:spPr>
      </p:sp>
      <p:sp>
        <p:nvSpPr>
          <p:cNvPr id="36" name="Text 34"/>
          <p:cNvSpPr txBox="1"/>
          <p:nvPr/>
        </p:nvSpPr>
        <p:spPr>
          <a:xfrm>
            <a:off x="52113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Plan → tool call</a:t>
            </a:r>
            <a:endParaRPr lang="en-US" sz="1200" dirty="0"/>
          </a:p>
          <a:p>
            <a:pPr indent="0" marL="0">
              <a:lnSpc>
                <a:spcPct val="94000"/>
              </a:lnSpc>
              <a:buNone/>
            </a:pPr>
            <a:r>
              <a:rPr lang="en-US" sz="1050" dirty="0">
                <a:solidFill>
                  <a:srgbClr val="5C6B64"/>
                </a:solidFill>
              </a:rPr>
              <a:t>routes 30 of 30 with no model</a:t>
            </a:r>
            <a:endParaRPr lang="en-US" sz="1200" dirty="0"/>
          </a:p>
        </p:txBody>
      </p:sp>
      <p:sp>
        <p:nvSpPr>
          <p:cNvPr id="37" name="Shape 35"/>
          <p:cNvSpPr/>
          <p:nvPr/>
        </p:nvSpPr>
        <p:spPr>
          <a:xfrm>
            <a:off x="4873020" y="4562856"/>
            <a:ext cx="146304" cy="146304"/>
          </a:xfrm>
          <a:prstGeom prst="rightArrow">
            <a:avLst/>
          </a:prstGeom>
          <a:solidFill>
            <a:srgbClr val="76B900"/>
          </a:solidFill>
          <a:ln w="12700">
            <a:solidFill>
              <a:srgbClr val="76B900"/>
            </a:solidFill>
            <a:prstDash val="solid"/>
          </a:ln>
        </p:spPr>
      </p:sp>
      <p:sp>
        <p:nvSpPr>
          <p:cNvPr id="38" name="step-Retrieve + reran"/>
          <p:cNvSpPr/>
          <p:nvPr/>
        </p:nvSpPr>
        <p:spPr>
          <a:xfrm>
            <a:off x="7400971" y="4224528"/>
            <a:ext cx="1988454" cy="822960"/>
          </a:xfrm>
          <a:prstGeom prst="rect">
            <a:avLst/>
          </a:prstGeom>
          <a:solidFill>
            <a:srgbClr val="5B8C3A"/>
          </a:solidFill>
          <a:ln w="19050">
            <a:solidFill>
              <a:srgbClr val="446B29"/>
            </a:solidFill>
            <a:prstDash val="solid"/>
          </a:ln>
        </p:spPr>
      </p:sp>
      <p:sp>
        <p:nvSpPr>
          <p:cNvPr id="39" name="Text 37"/>
          <p:cNvSpPr txBox="1"/>
          <p:nvPr/>
        </p:nvSpPr>
        <p:spPr>
          <a:xfrm>
            <a:off x="751069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Retrieve + rerank</a:t>
            </a:r>
            <a:endParaRPr lang="en-US" sz="1200" dirty="0"/>
          </a:p>
          <a:p>
            <a:pPr indent="0" marL="0">
              <a:lnSpc>
                <a:spcPct val="94000"/>
              </a:lnSpc>
              <a:buNone/>
            </a:pPr>
            <a:r>
              <a:rPr lang="en-US" sz="1050" dirty="0">
                <a:solidFill>
                  <a:srgbClr val="DCE8CF"/>
                </a:solidFill>
              </a:rPr>
              <a:t>free-text search only</a:t>
            </a:r>
            <a:endParaRPr lang="en-US" sz="1200" dirty="0"/>
          </a:p>
        </p:txBody>
      </p:sp>
      <p:sp>
        <p:nvSpPr>
          <p:cNvPr id="40" name="Shape 38"/>
          <p:cNvSpPr/>
          <p:nvPr/>
        </p:nvSpPr>
        <p:spPr>
          <a:xfrm>
            <a:off x="7172371" y="4562856"/>
            <a:ext cx="146304" cy="146304"/>
          </a:xfrm>
          <a:prstGeom prst="rightArrow">
            <a:avLst/>
          </a:prstGeom>
          <a:solidFill>
            <a:srgbClr val="76B900"/>
          </a:solidFill>
          <a:ln w="12700">
            <a:solidFill>
              <a:srgbClr val="76B900"/>
            </a:solidFill>
            <a:prstDash val="solid"/>
          </a:ln>
        </p:spPr>
      </p:sp>
      <p:sp>
        <p:nvSpPr>
          <p:cNvPr id="41" name="step-Compose or narra"/>
          <p:cNvSpPr/>
          <p:nvPr/>
        </p:nvSpPr>
        <p:spPr>
          <a:xfrm>
            <a:off x="9700321" y="4224528"/>
            <a:ext cx="1988454" cy="822960"/>
          </a:xfrm>
          <a:prstGeom prst="rect">
            <a:avLst/>
          </a:prstGeom>
          <a:solidFill>
            <a:srgbClr val="5B8C3A"/>
          </a:solidFill>
          <a:ln w="19050">
            <a:solidFill>
              <a:srgbClr val="446B29"/>
            </a:solidFill>
            <a:prstDash val="solid"/>
          </a:ln>
        </p:spPr>
      </p:sp>
      <p:sp>
        <p:nvSpPr>
          <p:cNvPr id="42" name="Text 40"/>
          <p:cNvSpPr txBox="1"/>
          <p:nvPr/>
        </p:nvSpPr>
        <p:spPr>
          <a:xfrm>
            <a:off x="981004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Compose or narrate</a:t>
            </a:r>
            <a:endParaRPr lang="en-US" sz="1200" dirty="0"/>
          </a:p>
          <a:p>
            <a:pPr indent="0" marL="0">
              <a:lnSpc>
                <a:spcPct val="94000"/>
              </a:lnSpc>
              <a:buNone/>
            </a:pPr>
            <a:r>
              <a:rPr lang="en-US" sz="1050" dirty="0">
                <a:solidFill>
                  <a:srgbClr val="DCE8CF"/>
                </a:solidFill>
              </a:rPr>
              <a:t>figures computed, then prose</a:t>
            </a:r>
            <a:endParaRPr lang="en-US" sz="1200" dirty="0"/>
          </a:p>
        </p:txBody>
      </p:sp>
      <p:sp>
        <p:nvSpPr>
          <p:cNvPr id="43" name="Shape 41"/>
          <p:cNvSpPr/>
          <p:nvPr/>
        </p:nvSpPr>
        <p:spPr>
          <a:xfrm>
            <a:off x="9471721" y="4562856"/>
            <a:ext cx="146304" cy="146304"/>
          </a:xfrm>
          <a:prstGeom prst="rightArrow">
            <a:avLst/>
          </a:prstGeom>
          <a:solidFill>
            <a:srgbClr val="76B900"/>
          </a:solidFill>
          <a:ln w="12700">
            <a:solidFill>
              <a:srgbClr val="76B900"/>
            </a:solidFill>
            <a:prstDash val="solid"/>
          </a:ln>
        </p:spPr>
      </p:sp>
      <p:sp>
        <p:nvSpPr>
          <p:cNvPr id="44" name="card-Grounding check"/>
          <p:cNvSpPr/>
          <p:nvPr/>
        </p:nvSpPr>
        <p:spPr>
          <a:xfrm>
            <a:off x="502920" y="5175504"/>
            <a:ext cx="2727884" cy="548640"/>
          </a:xfrm>
          <a:prstGeom prst="rect">
            <a:avLst/>
          </a:prstGeom>
          <a:solidFill>
            <a:srgbClr val="FFFFFF"/>
          </a:solidFill>
          <a:ln w="12700">
            <a:solidFill>
              <a:srgbClr val="C3CCC0"/>
            </a:solidFill>
            <a:prstDash val="solid"/>
          </a:ln>
        </p:spPr>
      </p:sp>
      <p:sp>
        <p:nvSpPr>
          <p:cNvPr id="45" name="Text 43"/>
          <p:cNvSpPr txBox="1"/>
          <p:nvPr/>
        </p:nvSpPr>
        <p:spPr>
          <a:xfrm>
            <a:off x="566928"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6" name="card-Negation check"/>
          <p:cNvSpPr/>
          <p:nvPr/>
        </p:nvSpPr>
        <p:spPr>
          <a:xfrm>
            <a:off x="3322244" y="5175504"/>
            <a:ext cx="2727884" cy="548640"/>
          </a:xfrm>
          <a:prstGeom prst="rect">
            <a:avLst/>
          </a:prstGeom>
          <a:solidFill>
            <a:srgbClr val="FFFFFF"/>
          </a:solidFill>
          <a:ln w="12700">
            <a:solidFill>
              <a:srgbClr val="C3CCC0"/>
            </a:solidFill>
            <a:prstDash val="solid"/>
          </a:ln>
        </p:spPr>
      </p:sp>
      <p:sp>
        <p:nvSpPr>
          <p:cNvPr id="47" name="Text 45"/>
          <p:cNvSpPr txBox="1"/>
          <p:nvPr/>
        </p:nvSpPr>
        <p:spPr>
          <a:xfrm>
            <a:off x="3386252"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8" name="card-Release-claim rail"/>
          <p:cNvSpPr/>
          <p:nvPr/>
        </p:nvSpPr>
        <p:spPr>
          <a:xfrm>
            <a:off x="6141568" y="5175504"/>
            <a:ext cx="2727884" cy="548640"/>
          </a:xfrm>
          <a:prstGeom prst="rect">
            <a:avLst/>
          </a:prstGeom>
          <a:solidFill>
            <a:srgbClr val="FFFFFF"/>
          </a:solidFill>
          <a:ln w="12700">
            <a:solidFill>
              <a:srgbClr val="C3CCC0"/>
            </a:solidFill>
            <a:prstDash val="solid"/>
          </a:ln>
        </p:spPr>
      </p:sp>
      <p:sp>
        <p:nvSpPr>
          <p:cNvPr id="49" name="Text 47"/>
          <p:cNvSpPr txBox="1"/>
          <p:nvPr/>
        </p:nvSpPr>
        <p:spPr>
          <a:xfrm>
            <a:off x="6205576"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50" name="card-Answer log"/>
          <p:cNvSpPr/>
          <p:nvPr/>
        </p:nvSpPr>
        <p:spPr>
          <a:xfrm>
            <a:off x="8960891" y="5175504"/>
            <a:ext cx="2727884" cy="548640"/>
          </a:xfrm>
          <a:prstGeom prst="rect">
            <a:avLst/>
          </a:prstGeom>
          <a:solidFill>
            <a:srgbClr val="FFFFFF"/>
          </a:solidFill>
          <a:ln w="12700">
            <a:solidFill>
              <a:srgbClr val="C3CCC0"/>
            </a:solidFill>
            <a:prstDash val="solid"/>
          </a:ln>
        </p:spPr>
      </p:sp>
      <p:sp>
        <p:nvSpPr>
          <p:cNvPr id="51" name="Text 49"/>
          <p:cNvSpPr txBox="1"/>
          <p:nvPr/>
        </p:nvSpPr>
        <p:spPr>
          <a:xfrm>
            <a:off x="9024899"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52" name="answer"/>
          <p:cNvSpPr/>
          <p:nvPr/>
        </p:nvSpPr>
        <p:spPr>
          <a:xfrm>
            <a:off x="502920" y="5833872"/>
            <a:ext cx="11185855" cy="530352"/>
          </a:xfrm>
          <a:prstGeom prst="rect">
            <a:avLst/>
          </a:prstGeom>
          <a:solidFill>
            <a:srgbClr val="5B8C3A"/>
          </a:solidFill>
          <a:ln w="12700">
            <a:solidFill>
              <a:srgbClr val="446B29"/>
            </a:solidFill>
            <a:prstDash val="solid"/>
          </a:ln>
        </p:spPr>
      </p:sp>
      <p:sp>
        <p:nvSpPr>
          <p:cNvPr id="53" name="Text 51"/>
          <p:cNvSpPr txBox="1"/>
          <p:nvPr/>
        </p:nvSpPr>
        <p:spPr>
          <a:xfrm>
            <a:off x="630936" y="5833872"/>
            <a:ext cx="10929823" cy="530352"/>
          </a:xfrm>
          <a:prstGeom prst="rect">
            <a:avLst/>
          </a:prstGeom>
          <a:noFill/>
          <a:ln/>
        </p:spPr>
        <p:txBody>
          <a:bodyPr wrap="square" lIns="0" tIns="0" rIns="0" bIns="0" rtlCol="0" anchor="ctr"/>
          <a:lstStyle/>
          <a:p>
            <a:pPr indent="0" marL="0">
              <a:buNone/>
            </a:pPr>
            <a:r>
              <a:rPr lang="en-US" sz="120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eleven tools; its calls arrive as text.</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tools run 18/18 · answers 3/18</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Six measures as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2026-10-06T07:49:13Z</dcterms:created>
  <dcterms:modified xsi:type="dcterms:W3CDTF">2026-10-06T07:49:13Z</dcterms:modified>
</cp:coreProperties>
</file>