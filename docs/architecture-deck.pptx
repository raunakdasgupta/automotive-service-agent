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7ea8cff-3fed-7770-df0b-b0e5e8a22984}">
          <p14:sldIdLst>
            <p14:sldId id="256"/>
          </p14:sldIdLst>
        </p14:section>
        <p14:section name="Architecture" id="{0d7afdcc-c5c9-859a-d044-835b2d47e12c}">
          <p14:sldIdLst>
            <p14:sldId id="257"/>
          </p14:sldIdLst>
        </p14:section>
        <p14:section name="Application flow" id="{f3966f74-ec28-e476-82d0-db023df682ff}">
          <p14:sldIdLst>
            <p14:sldId id="258"/>
          </p14:sldIdLst>
        </p14:section>
        <p14:section name="Components" id="{0fa1aada-1b44-d4f4-111c-8d62b24a5a94}">
          <p14:sldIdLst>
            <p14:sldId id="259"/>
          </p14:sldIdLst>
        </p14:section>
        <p14:section name="Deployment" id="{fc5fc676-62ea-9649-fb40-eece53d3c589}">
          <p14:sldIdLst>
            <p14:sldId id="260"/>
          </p14:sldIdLst>
        </p14:section>
        <p14:section name="Data model" id="{f9f6ce6c-6a20-5f09-ef9a-5cdc8645b2ac}">
          <p14:sldIdLst>
            <p14:sldId id="261"/>
          </p14:sldIdLst>
        </p14:section>
        <p14:section name="Lifecycle" id="{8cc33ff2-c97e-999d-a292-9cca068c4de2}">
          <p14:sldIdLst>
            <p14:sldId id="262"/>
          </p14:sldIdLst>
        </p14:section>
        <p14:section name="Usage" id="{4142e356-d2de-d141-c22c-29d912db5a47}">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On the Python share: do NOT claim Grafana corroborates the eleven timings in docs/EXAMPLES.md - it measures a different thing. Over 80 answers, 92.5% finished on the Python path and 86.25% were Python by design once the 5 model fallbacks are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574874" y="2249424"/>
            <a:ext cx="2645012" cy="1993392"/>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93162" y="2267712"/>
            <a:ext cx="2608436" cy="1956816"/>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The question a service manager asks</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a keyword router picks one typed</a:t>
            </a:r>
            <a:endParaRPr lang="en-US" sz="1000" dirty="0"/>
          </a:p>
          <a:p>
            <a:pPr marL="342900" indent="-342900">
              <a:lnSpc>
                <a:spcPct val="100000"/>
              </a:lnSpc>
              <a:spcAft>
                <a:spcPts val="300"/>
              </a:spcAft>
              <a:buSzPct val="100000"/>
              <a:buChar char="•"/>
            </a:pPr>
            <a:r>
              <a:rPr lang="en-US" sz="1000" dirty="0">
                <a:solidFill>
                  <a:srgbClr val="5C6B64"/>
                </a:solidFill>
              </a:rPr>
              <a:t>tool - no model call to decide what to run</a:t>
            </a:r>
            <a:endParaRPr lang="en-US" sz="1000" dirty="0"/>
          </a:p>
          <a:p>
            <a:pPr marL="342900" indent="-342900">
              <a:lnSpc>
                <a:spcPct val="100000"/>
              </a:lnSpc>
              <a:spcAft>
                <a:spcPts val="300"/>
              </a:spcAft>
              <a:buSzPct val="100000"/>
              <a:buChar char="•"/>
            </a:pPr>
            <a:r>
              <a:rPr lang="en-US" sz="1000" dirty="0">
                <a:solidFill>
                  <a:srgbClr val="5C6B64"/>
                </a:solidFill>
              </a:rPr>
              <a:t>Every figure carries the record id it came from</a:t>
            </a:r>
            <a:endParaRPr lang="en-US" sz="1000" dirty="0"/>
          </a:p>
          <a:p>
            <a:pPr marL="342900" indent="-342900">
              <a:lnSpc>
                <a:spcPct val="100000"/>
              </a:lnSpc>
              <a:spcAft>
                <a:spcPts val="300"/>
              </a:spcAft>
              <a:buSzPct val="100000"/>
              <a:buChar char="•"/>
            </a:pPr>
            <a:r>
              <a:rPr lang="en-US" sz="1000" dirty="0">
                <a:solidFill>
                  <a:srgbClr val="5C6B64"/>
                </a:solidFill>
              </a:rPr>
              <a:t>Measured: 9 of 11 questions answer in under 0.11s</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the thesis, measured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Answers composed in Python 88.3% over the hour</a:t>
            </a:r>
            <a:endParaRPr lang="en-US" sz="1000" dirty="0"/>
          </a:p>
          <a:p>
            <a:pPr marL="342900" indent="-342900">
              <a:lnSpc>
                <a:spcPct val="100000"/>
              </a:lnSpc>
              <a:spcAft>
                <a:spcPts val="300"/>
              </a:spcAft>
              <a:buSzPct val="100000"/>
              <a:buChar char="•"/>
            </a:pPr>
            <a:r>
              <a:rPr lang="en-US" sz="1000" dirty="0">
                <a:solidFill>
                  <a:srgbClr val="5C6B64"/>
                </a:solidFill>
              </a:rPr>
              <a:t>Ungrounded 0  ·  cut short 0  ·  rail blocks 0</a:t>
            </a:r>
            <a:endParaRPr lang="en-US" sz="1000" dirty="0"/>
          </a:p>
          <a:p>
            <a:pPr marL="342900" indent="-342900">
              <a:lnSpc>
                <a:spcPct val="100000"/>
              </a:lnSpc>
              <a:spcAft>
                <a:spcPts val="300"/>
              </a:spcAft>
              <a:buSzPct val="100000"/>
              <a:buChar char="•"/>
            </a:pPr>
            <a:r>
              <a:rPr lang="en-US" sz="1000" dirty="0">
                <a:solidFill>
                  <a:srgbClr val="5C6B64"/>
                </a:solidFill>
              </a:rPr>
              <a:t>p50 by path: python ~0s against llm ~3s - and the</a:t>
            </a:r>
            <a:endParaRPr lang="en-US" sz="1000" dirty="0"/>
          </a:p>
          <a:p>
            <a:pPr marL="342900" indent="-342900">
              <a:lnSpc>
                <a:spcPct val="100000"/>
              </a:lnSpc>
              <a:spcAft>
                <a:spcPts val="300"/>
              </a:spcAft>
              <a:buSzPct val="100000"/>
              <a:buChar char="•"/>
            </a:pPr>
            <a:r>
              <a:rPr lang="en-US" sz="1000" dirty="0">
                <a:solidFill>
                  <a:srgbClr val="5C6B64"/>
                </a:solidFill>
              </a:rPr>
              <a:t>step down at 16:40 is the guided-JSON fix landing</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actually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list_ros peaks ~10/min; search_updates is the rare</a:t>
            </a:r>
            <a:endParaRPr lang="en-US" sz="1000" dirty="0"/>
          </a:p>
          <a:p>
            <a:pPr marL="342900" indent="-342900">
              <a:lnSpc>
                <a:spcPct val="100000"/>
              </a:lnSpc>
              <a:spcAft>
                <a:spcPts val="300"/>
              </a:spcAft>
              <a:buSzPct val="100000"/>
              <a:buChar char="•"/>
            </a:pPr>
            <a:r>
              <a:rPr lang="en-US" sz="1000" dirty="0">
                <a:solidFill>
                  <a:srgbClr val="5C6B64"/>
                </a:solidFill>
              </a:rPr>
              <a:t>one, because retrieval is the minority path here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load must hit the API</a:t>
            </a:r>
            <a:endParaRPr lang="en-US" sz="1000" dirty="0"/>
          </a:p>
        </p:txBody>
      </p:sp>
      <p:sp>
        <p:nvSpPr>
          <p:cNvPr id="34" name="frame-11-attu-schema-1"/>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schema-1024.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in Attu — the store, in full</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vector: FloatVector(1024), AUTOINDEX(COSINE)</a:t>
            </a:r>
            <a:endParaRPr lang="en-US" sz="1000" dirty="0"/>
          </a:p>
          <a:p>
            <a:pPr marL="342900" indent="-342900">
              <a:lnSpc>
                <a:spcPct val="100000"/>
              </a:lnSpc>
              <a:spcAft>
                <a:spcPts val="300"/>
              </a:spcAft>
              <a:buSzPct val="100000"/>
              <a:buChar char="•"/>
            </a:pPr>
            <a:r>
              <a:rPr lang="en-US" sz="1000" dirty="0">
                <a:solidFill>
                  <a:srgbClr val="5C6B64"/>
                </a:solidFill>
              </a:rPr>
              <a:t>Loaded, replica 1, entity count 1,690, 13 fields</a:t>
            </a:r>
            <a:endParaRPr lang="en-US" sz="1000" dirty="0"/>
          </a:p>
          <a:p>
            <a:pPr marL="342900" indent="-342900">
              <a:lnSpc>
                <a:spcPct val="100000"/>
              </a:lnSpc>
              <a:spcAft>
                <a:spcPts val="300"/>
              </a:spcAft>
              <a:buSzPct val="100000"/>
              <a:buChar char="•"/>
            </a:pPr>
            <a:r>
              <a:rPr lang="en-US" sz="1000" dirty="0">
                <a:solidFill>
                  <a:srgbClr val="5C6B64"/>
                </a:solidFill>
              </a:rPr>
              <a:t>Width is load-bearing: the hosted embedder is 2048,</a:t>
            </a:r>
            <a:endParaRPr lang="en-US" sz="1000" dirty="0"/>
          </a:p>
          <a:p>
            <a:pPr marL="342900" indent="-342900">
              <a:lnSpc>
                <a:spcPct val="100000"/>
              </a:lnSpc>
              <a:spcAft>
                <a:spcPts val="300"/>
              </a:spcAft>
              <a:buSzPct val="100000"/>
              <a:buChar char="•"/>
            </a:pPr>
            <a:r>
              <a:rPr lang="en-US" sz="1000" dirty="0">
                <a:solidFill>
                  <a:srgbClr val="5C6B64"/>
                </a:solidFill>
              </a:rPr>
              <a:t>so switching mode without rebuilding breaks search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400 live ROs, filtered to safety, blocked, at-risk or waiting — each row says WHY, with the measurement against its limit</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rather than stored, beside the technician updates exactly as written</a:t>
            </a:r>
            <a:endParaRPr lang="en-US" sz="1000" dirty="0"/>
          </a:p>
        </p:txBody>
      </p:sp>
      <p:sp>
        <p:nvSpPr>
          <p:cNvPr id="12" name="frame-04-app-shift-han"/>
          <p:cNvSpPr/>
          <p:nvPr/>
        </p:nvSpPr>
        <p:spPr>
          <a:xfrm>
            <a:off x="8617775" y="1261872"/>
            <a:ext cx="2571878" cy="1938528"/>
          </a:xfrm>
          <a:prstGeom prst="rect">
            <a:avLst/>
          </a:prstGeom>
          <a:solidFill>
            <a:srgbClr val="FFFFFF"/>
          </a:solidFill>
          <a:ln w="12700">
            <a:solidFill>
              <a:srgbClr val="C3CCC0"/>
            </a:solidFill>
            <a:prstDash val="solid"/>
          </a:ln>
        </p:spPr>
      </p:sp>
      <p:pic>
        <p:nvPicPr>
          <p:cNvPr id="13" name="Image 2" descr="docs/screenshots/04-app-shift-handover.jpg">    </p:cNvPr>
          <p:cNvPicPr>
            <a:picLocks noChangeAspect="1"/>
          </p:cNvPicPr>
          <p:nvPr/>
        </p:nvPicPr>
        <p:blipFill>
          <a:blip r:embed="rId3"/>
          <a:stretch>
            <a:fillRect/>
          </a:stretch>
        </p:blipFill>
        <p:spPr>
          <a:xfrm>
            <a:off x="8636063" y="1280160"/>
            <a:ext cx="2535302"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brief a manager reads at changeover: safety first, then breached, at-risk, blocked — composed in 0.05s</a:t>
            </a:r>
            <a:endParaRPr lang="en-US" sz="1000" dirty="0"/>
          </a:p>
        </p:txBody>
      </p:sp>
      <p:sp>
        <p:nvSpPr>
          <p:cNvPr id="16" name="frame-03-app-technicia"/>
          <p:cNvSpPr/>
          <p:nvPr/>
        </p:nvSpPr>
        <p:spPr>
          <a:xfrm>
            <a:off x="1002042" y="4041648"/>
            <a:ext cx="2571878" cy="1938528"/>
          </a:xfrm>
          <a:prstGeom prst="rect">
            <a:avLst/>
          </a:prstGeom>
          <a:solidFill>
            <a:srgbClr val="FFFFFF"/>
          </a:solidFill>
          <a:ln w="12700">
            <a:solidFill>
              <a:srgbClr val="C3CCC0"/>
            </a:solidFill>
            <a:prstDash val="solid"/>
          </a:ln>
        </p:spPr>
      </p:sp>
      <p:pic>
        <p:nvPicPr>
          <p:cNvPr id="17" name="Image 3" descr="docs/screenshots/03-app-technician-update.jpg">    </p:cNvPr>
          <p:cNvPicPr>
            <a:picLocks noChangeAspect="1"/>
          </p:cNvPicPr>
          <p:nvPr/>
        </p:nvPicPr>
        <p:blipFill>
          <a:blip r:embed="rId4"/>
          <a:stretch>
            <a:fillRect/>
          </a:stretch>
        </p:blipFill>
        <p:spPr>
          <a:xfrm>
            <a:off x="1020330" y="4059936"/>
            <a:ext cx="2535302"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Dictate or type the update; the diff card shows exactly what changed in the record, for confirmation before it lands</a:t>
            </a:r>
            <a:endParaRPr lang="en-US" sz="1000" dirty="0"/>
          </a:p>
        </p:txBody>
      </p:sp>
      <p:sp>
        <p:nvSpPr>
          <p:cNvPr id="20" name="frame-07-prometheus-ta"/>
          <p:cNvSpPr/>
          <p:nvPr/>
        </p:nvSpPr>
        <p:spPr>
          <a:xfrm>
            <a:off x="4693890" y="4041648"/>
            <a:ext cx="2803916" cy="1938528"/>
          </a:xfrm>
          <a:prstGeom prst="rect">
            <a:avLst/>
          </a:prstGeom>
          <a:solidFill>
            <a:srgbClr val="FFFFFF"/>
          </a:solidFill>
          <a:ln w="12700">
            <a:solidFill>
              <a:srgbClr val="C3CCC0"/>
            </a:solidFill>
            <a:prstDash val="solid"/>
          </a:ln>
        </p:spPr>
      </p:sp>
      <p:pic>
        <p:nvPicPr>
          <p:cNvPr id="21" name="Image 4" descr="docs/screenshots/07-prometheus-targets.jpg">    </p:cNvPr>
          <p:cNvPicPr>
            <a:picLocks noChangeAspect="1"/>
          </p:cNvPicPr>
          <p:nvPr/>
        </p:nvPicPr>
        <p:blipFill>
          <a:blip r:embed="rId5"/>
          <a:stretch>
            <a:fillRect/>
          </a:stretch>
        </p:blipFill>
        <p:spPr>
          <a:xfrm>
            <a:off x="4712178" y="4059936"/>
            <a:ext cx="2767340"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Prometheus targets</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Both scrape jobs up: the app on :9400 and NVIDIA DCGM on :9401, which is what puts real GPU telemetry on the dashboard</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itself — 8 tables, 12,266 rows. An operator view, deliberately outside the advisor's UI</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Technician Update, Shift Handover and Data &amp; Retrieval were captured against the hosted models rather than the local NIMs — Chromium hangs on those three Gradio tabs, so they are not re-taken automatically. docs/screenshots/README.md dates every frame.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2026-10-09T17:07:20Z</dcterms:created>
  <dcterms:modified xsi:type="dcterms:W3CDTF">2026-10-09T17:07:20Z</dcterms:modified>
</cp:coreProperties>
</file>