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9f0147d7-7200-e387-5b32-507665009003}">
          <p14:sldIdLst>
            <p14:sldId id="256"/>
          </p14:sldIdLst>
        </p14:section>
        <p14:section name="Architecture" id="{5213356b-5c4e-e077-adc6-ed2afda56cac}">
          <p14:sldIdLst>
            <p14:sldId id="257"/>
          </p14:sldIdLst>
        </p14:section>
        <p14:section name="Application flow" id="{1509abfe-adb8-98e2-8211-d6e1dcf19088}">
          <p14:sldIdLst>
            <p14:sldId id="258"/>
          </p14:sldIdLst>
        </p14:section>
        <p14:section name="Components" id="{f44220f3-cf8f-d97d-cb53-1b889a38d1f2}">
          <p14:sldIdLst>
            <p14:sldId id="259"/>
          </p14:sldIdLst>
        </p14:section>
        <p14:section name="Deployment" id="{979a681f-aa98-90bd-ec59-f5421dfeb544}">
          <p14:sldIdLst>
            <p14:sldId id="260"/>
          </p14:sldIdLst>
        </p14:section>
        <p14:section name="Data model" id="{e8f82dd7-b4c4-56ad-76fb-23e6718f909e}">
          <p14:sldIdLst>
            <p14:sldId id="261"/>
          </p14:sldIdLst>
        </p14:section>
        <p14:section name="Lifecycle" id="{18306874-f351-7db6-7f13-f3f3c1403db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457200" y="1261872"/>
            <a:ext cx="1127729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45720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457200" y="4206240"/>
            <a:ext cx="2641016" cy="1508760"/>
          </a:xfrm>
          <a:prstGeom prst="rect">
            <a:avLst/>
          </a:prstGeom>
          <a:solidFill>
            <a:srgbClr val="1E4035"/>
          </a:solidFill>
          <a:ln w="12700">
            <a:solidFill>
              <a:srgbClr val="2E5245"/>
            </a:solidFill>
            <a:prstDash val="solid"/>
          </a:ln>
        </p:spPr>
      </p:sp>
      <p:sp>
        <p:nvSpPr>
          <p:cNvPr id="5" name="Text 3"/>
          <p:cNvSpPr txBox="1"/>
          <p:nvPr/>
        </p:nvSpPr>
        <p:spPr>
          <a:xfrm>
            <a:off x="603504" y="4343400"/>
            <a:ext cx="236669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03504" y="4937760"/>
            <a:ext cx="2366696" cy="685800"/>
          </a:xfrm>
          <a:prstGeom prst="rect">
            <a:avLst/>
          </a:prstGeom>
          <a:noFill/>
          <a:ln/>
        </p:spPr>
        <p:txBody>
          <a:bodyPr wrap="square" lIns="0" tIns="0" rIns="0" bIns="0" rtlCol="0" anchor="ctr"/>
          <a:lstStyle/>
          <a:p>
            <a:pPr indent="0" marL="0">
              <a:lnSpc>
                <a:spcPct val="95000"/>
              </a:lnSpc>
              <a:buNone/>
            </a:pPr>
            <a:r>
              <a:rPr lang="en-US" sz="950" dirty="0">
                <a:solidFill>
                  <a:srgbClr val="C8D6BE"/>
                </a:solidFill>
              </a:rPr>
              <a:t>NVIDIA components</a:t>
            </a:r>
            <a:endParaRPr lang="en-US" sz="950" dirty="0"/>
          </a:p>
          <a:p>
            <a:pPr indent="0" marL="0">
              <a:lnSpc>
                <a:spcPct val="95000"/>
              </a:lnSpc>
              <a:buNone/>
            </a:pPr>
            <a:r>
              <a:rPr lang="en-US" sz="950" dirty="0">
                <a:solidFill>
                  <a:srgbClr val="C8D6BE"/>
                </a:solidFill>
              </a:rPr>
              <a:t>13 running, 1 blocked</a:t>
            </a:r>
            <a:endParaRPr lang="en-US" sz="950" dirty="0"/>
          </a:p>
        </p:txBody>
      </p:sp>
      <p:sp>
        <p:nvSpPr>
          <p:cNvPr id="7" name="stat1"/>
          <p:cNvSpPr/>
          <p:nvPr/>
        </p:nvSpPr>
        <p:spPr>
          <a:xfrm>
            <a:off x="3335960" y="4206240"/>
            <a:ext cx="2641016" cy="1508760"/>
          </a:xfrm>
          <a:prstGeom prst="rect">
            <a:avLst/>
          </a:prstGeom>
          <a:solidFill>
            <a:srgbClr val="1E4035"/>
          </a:solidFill>
          <a:ln w="12700">
            <a:solidFill>
              <a:srgbClr val="2E5245"/>
            </a:solidFill>
            <a:prstDash val="solid"/>
          </a:ln>
        </p:spPr>
      </p:sp>
      <p:sp>
        <p:nvSpPr>
          <p:cNvPr id="8" name="Text 6"/>
          <p:cNvSpPr txBox="1"/>
          <p:nvPr/>
        </p:nvSpPr>
        <p:spPr>
          <a:xfrm>
            <a:off x="3482264" y="4343400"/>
            <a:ext cx="236669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482264" y="4937760"/>
            <a:ext cx="2366696" cy="685800"/>
          </a:xfrm>
          <a:prstGeom prst="rect">
            <a:avLst/>
          </a:prstGeom>
          <a:noFill/>
          <a:ln/>
        </p:spPr>
        <p:txBody>
          <a:bodyPr wrap="square" lIns="0" tIns="0" rIns="0" bIns="0" rtlCol="0" anchor="ctr"/>
          <a:lstStyle/>
          <a:p>
            <a:pPr indent="0" marL="0">
              <a:lnSpc>
                <a:spcPct val="95000"/>
              </a:lnSpc>
              <a:buNone/>
            </a:pPr>
            <a:r>
              <a:rPr lang="en-US" sz="950" dirty="0">
                <a:solidFill>
                  <a:srgbClr val="C8D6BE"/>
                </a:solidFill>
              </a:rPr>
              <a:t>typed tools</a:t>
            </a:r>
            <a:endParaRPr lang="en-US" sz="950" dirty="0"/>
          </a:p>
          <a:p>
            <a:pPr indent="0" marL="0">
              <a:lnSpc>
                <a:spcPct val="95000"/>
              </a:lnSpc>
              <a:buNone/>
            </a:pPr>
            <a:r>
              <a:rPr lang="en-US" sz="950" dirty="0">
                <a:solidFill>
                  <a:srgbClr val="C8D6BE"/>
                </a:solidFill>
              </a:rPr>
              <a:t>deterministic SQL and vector reads</a:t>
            </a:r>
            <a:endParaRPr lang="en-US" sz="950" dirty="0"/>
          </a:p>
        </p:txBody>
      </p:sp>
      <p:sp>
        <p:nvSpPr>
          <p:cNvPr id="10" name="stat2"/>
          <p:cNvSpPr/>
          <p:nvPr/>
        </p:nvSpPr>
        <p:spPr>
          <a:xfrm>
            <a:off x="6214720" y="4206240"/>
            <a:ext cx="264101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6669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66696" cy="685800"/>
          </a:xfrm>
          <a:prstGeom prst="rect">
            <a:avLst/>
          </a:prstGeom>
          <a:noFill/>
          <a:ln/>
        </p:spPr>
        <p:txBody>
          <a:bodyPr wrap="square" lIns="0" tIns="0" rIns="0" bIns="0" rtlCol="0" anchor="ctr"/>
          <a:lstStyle/>
          <a:p>
            <a:pPr indent="0" marL="0">
              <a:lnSpc>
                <a:spcPct val="95000"/>
              </a:lnSpc>
              <a:buNone/>
            </a:pPr>
            <a:r>
              <a:rPr lang="en-US" sz="950" dirty="0">
                <a:solidFill>
                  <a:srgbClr val="C8D6BE"/>
                </a:solidFill>
              </a:rPr>
              <a:t>grounded and traceable</a:t>
            </a:r>
            <a:endParaRPr lang="en-US" sz="950" dirty="0"/>
          </a:p>
          <a:p>
            <a:pPr indent="0" marL="0">
              <a:lnSpc>
                <a:spcPct val="95000"/>
              </a:lnSpc>
              <a:buNone/>
            </a:pPr>
            <a:r>
              <a:rPr lang="en-US" sz="950" dirty="0">
                <a:solidFill>
                  <a:srgbClr val="C8D6BE"/>
                </a:solidFill>
              </a:rPr>
              <a:t>524 of 524 citations resolve</a:t>
            </a:r>
            <a:endParaRPr lang="en-US" sz="950" dirty="0"/>
          </a:p>
        </p:txBody>
      </p:sp>
      <p:sp>
        <p:nvSpPr>
          <p:cNvPr id="13" name="stat3"/>
          <p:cNvSpPr/>
          <p:nvPr/>
        </p:nvSpPr>
        <p:spPr>
          <a:xfrm>
            <a:off x="9093479" y="4206240"/>
            <a:ext cx="2641016" cy="1508760"/>
          </a:xfrm>
          <a:prstGeom prst="rect">
            <a:avLst/>
          </a:prstGeom>
          <a:solidFill>
            <a:srgbClr val="1E4035"/>
          </a:solidFill>
          <a:ln w="12700">
            <a:solidFill>
              <a:srgbClr val="2E5245"/>
            </a:solidFill>
            <a:prstDash val="solid"/>
          </a:ln>
        </p:spPr>
      </p:sp>
      <p:sp>
        <p:nvSpPr>
          <p:cNvPr id="14" name="Text 12"/>
          <p:cNvSpPr txBox="1"/>
          <p:nvPr/>
        </p:nvSpPr>
        <p:spPr>
          <a:xfrm>
            <a:off x="9239783" y="4343400"/>
            <a:ext cx="236669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39783" y="4937760"/>
            <a:ext cx="2366696" cy="685800"/>
          </a:xfrm>
          <a:prstGeom prst="rect">
            <a:avLst/>
          </a:prstGeom>
          <a:noFill/>
          <a:ln/>
        </p:spPr>
        <p:txBody>
          <a:bodyPr wrap="square" lIns="0" tIns="0" rIns="0" bIns="0" rtlCol="0" anchor="ctr"/>
          <a:lstStyle/>
          <a:p>
            <a:pPr indent="0" marL="0">
              <a:lnSpc>
                <a:spcPct val="95000"/>
              </a:lnSpc>
              <a:buNone/>
            </a:pPr>
            <a:r>
              <a:rPr lang="en-US" sz="950" dirty="0">
                <a:solidFill>
                  <a:srgbClr val="C8D6BE"/>
                </a:solidFill>
              </a:rPr>
              <a:t>question classes answered</a:t>
            </a:r>
            <a:endParaRPr lang="en-US" sz="950" dirty="0"/>
          </a:p>
          <a:p>
            <a:pPr indent="0" marL="0">
              <a:lnSpc>
                <a:spcPct val="95000"/>
              </a:lnSpc>
              <a:buNone/>
            </a:pPr>
            <a:r>
              <a:rPr lang="en-US" sz="950" dirty="0">
                <a:solidFill>
                  <a:srgbClr val="C8D6BE"/>
                </a:solidFill>
              </a:rPr>
              <a:t>with no model call at all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Architecture</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Green is NVIDIA: filled is a served model or infrastructure, outlined is a framework, plain is this project's own code</a:t>
            </a:r>
            <a:endParaRPr lang="en-US" sz="1100" dirty="0"/>
          </a:p>
        </p:txBody>
      </p:sp>
      <p:sp>
        <p:nvSpPr>
          <p:cNvPr id="4" name="Shape 2"/>
          <p:cNvSpPr/>
          <p:nvPr/>
        </p:nvSpPr>
        <p:spPr>
          <a:xfrm>
            <a:off x="2697480" y="1097280"/>
            <a:ext cx="6812280" cy="237744"/>
          </a:xfrm>
          <a:prstGeom prst="rect">
            <a:avLst/>
          </a:prstGeom>
          <a:solidFill>
            <a:srgbClr val="14302A"/>
          </a:solidFill>
          <a:ln w="12700">
            <a:solidFill>
              <a:srgbClr val="14302A"/>
            </a:solidFill>
            <a:prstDash val="solid"/>
          </a:ln>
        </p:spPr>
      </p:sp>
      <p:sp>
        <p:nvSpPr>
          <p:cNvPr id="5" name="Text 3"/>
          <p:cNvSpPr txBox="1"/>
          <p:nvPr/>
        </p:nvSpPr>
        <p:spPr>
          <a:xfrm>
            <a:off x="2807208" y="1097280"/>
            <a:ext cx="6592824"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PLATFORM</a:t>
            </a:r>
            <a:endParaRPr lang="en-US" sz="1050" dirty="0"/>
          </a:p>
        </p:txBody>
      </p:sp>
      <p:sp>
        <p:nvSpPr>
          <p:cNvPr id="6" name="Shape 4"/>
          <p:cNvSpPr/>
          <p:nvPr/>
        </p:nvSpPr>
        <p:spPr>
          <a:xfrm>
            <a:off x="457200" y="1097280"/>
            <a:ext cx="1965960" cy="237744"/>
          </a:xfrm>
          <a:prstGeom prst="rect">
            <a:avLst/>
          </a:prstGeom>
          <a:solidFill>
            <a:srgbClr val="1E4035"/>
          </a:solidFill>
          <a:ln w="12700">
            <a:solidFill>
              <a:srgbClr val="1E4035"/>
            </a:solidFill>
            <a:prstDash val="solid"/>
          </a:ln>
        </p:spPr>
      </p:sp>
      <p:sp>
        <p:nvSpPr>
          <p:cNvPr id="7" name="Text 5"/>
          <p:cNvSpPr txBox="1"/>
          <p:nvPr/>
        </p:nvSpPr>
        <p:spPr>
          <a:xfrm>
            <a:off x="566928" y="1097280"/>
            <a:ext cx="1746504"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Inputs</a:t>
            </a:r>
            <a:endParaRPr lang="en-US" sz="1050" dirty="0"/>
          </a:p>
        </p:txBody>
      </p:sp>
      <p:sp>
        <p:nvSpPr>
          <p:cNvPr id="8" name="card-Spoken update"/>
          <p:cNvSpPr/>
          <p:nvPr/>
        </p:nvSpPr>
        <p:spPr>
          <a:xfrm>
            <a:off x="457200" y="1408176"/>
            <a:ext cx="1965960" cy="475488"/>
          </a:xfrm>
          <a:prstGeom prst="rect">
            <a:avLst/>
          </a:prstGeom>
          <a:solidFill>
            <a:srgbClr val="FFFFFF"/>
          </a:solidFill>
          <a:ln w="12700">
            <a:solidFill>
              <a:srgbClr val="C3CCC0"/>
            </a:solidFill>
            <a:prstDash val="solid"/>
          </a:ln>
        </p:spPr>
      </p:sp>
      <p:sp>
        <p:nvSpPr>
          <p:cNvPr id="9" name="Text 7"/>
          <p:cNvSpPr txBox="1"/>
          <p:nvPr/>
        </p:nvSpPr>
        <p:spPr>
          <a:xfrm>
            <a:off x="521208" y="1444752"/>
            <a:ext cx="1837944"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Spoken update</a:t>
            </a:r>
            <a:endParaRPr lang="en-US" sz="1000" dirty="0"/>
          </a:p>
          <a:p>
            <a:pPr algn="l" indent="0" marL="0">
              <a:lnSpc>
                <a:spcPct val="92000"/>
              </a:lnSpc>
              <a:buNone/>
            </a:pPr>
            <a:r>
              <a:rPr lang="en-US" sz="800" dirty="0">
                <a:solidFill>
                  <a:srgbClr val="5C6B64"/>
                </a:solidFill>
              </a:rPr>
              <a:t>dictated at the bay</a:t>
            </a:r>
            <a:endParaRPr lang="en-US" sz="1000" dirty="0"/>
          </a:p>
        </p:txBody>
      </p:sp>
      <p:sp>
        <p:nvSpPr>
          <p:cNvPr id="10" name="card-Typed update"/>
          <p:cNvSpPr/>
          <p:nvPr/>
        </p:nvSpPr>
        <p:spPr>
          <a:xfrm>
            <a:off x="457200" y="1956816"/>
            <a:ext cx="1965960" cy="475488"/>
          </a:xfrm>
          <a:prstGeom prst="rect">
            <a:avLst/>
          </a:prstGeom>
          <a:solidFill>
            <a:srgbClr val="FFFFFF"/>
          </a:solidFill>
          <a:ln w="12700">
            <a:solidFill>
              <a:srgbClr val="C3CCC0"/>
            </a:solidFill>
            <a:prstDash val="solid"/>
          </a:ln>
        </p:spPr>
      </p:sp>
      <p:sp>
        <p:nvSpPr>
          <p:cNvPr id="11" name="Text 9"/>
          <p:cNvSpPr txBox="1"/>
          <p:nvPr/>
        </p:nvSpPr>
        <p:spPr>
          <a:xfrm>
            <a:off x="521208" y="1993392"/>
            <a:ext cx="1837944"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Typed update</a:t>
            </a:r>
            <a:endParaRPr lang="en-US" sz="1000" dirty="0"/>
          </a:p>
          <a:p>
            <a:pPr algn="l" indent="0" marL="0">
              <a:lnSpc>
                <a:spcPct val="92000"/>
              </a:lnSpc>
              <a:buNone/>
            </a:pPr>
            <a:r>
              <a:rPr lang="en-US" sz="800" dirty="0">
                <a:solidFill>
                  <a:srgbClr val="5C6B64"/>
                </a:solidFill>
              </a:rPr>
              <a:t>same pipeline</a:t>
            </a:r>
            <a:endParaRPr lang="en-US" sz="1000" dirty="0"/>
          </a:p>
        </p:txBody>
      </p:sp>
      <p:sp>
        <p:nvSpPr>
          <p:cNvPr id="12" name="card-Manager question"/>
          <p:cNvSpPr/>
          <p:nvPr/>
        </p:nvSpPr>
        <p:spPr>
          <a:xfrm>
            <a:off x="457200" y="2505456"/>
            <a:ext cx="1965960" cy="475488"/>
          </a:xfrm>
          <a:prstGeom prst="rect">
            <a:avLst/>
          </a:prstGeom>
          <a:solidFill>
            <a:srgbClr val="FFFFFF"/>
          </a:solidFill>
          <a:ln w="12700">
            <a:solidFill>
              <a:srgbClr val="C3CCC0"/>
            </a:solidFill>
            <a:prstDash val="solid"/>
          </a:ln>
        </p:spPr>
      </p:sp>
      <p:sp>
        <p:nvSpPr>
          <p:cNvPr id="13" name="Text 11"/>
          <p:cNvSpPr txBox="1"/>
          <p:nvPr/>
        </p:nvSpPr>
        <p:spPr>
          <a:xfrm>
            <a:off x="521208" y="2542032"/>
            <a:ext cx="1837944"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Manager question</a:t>
            </a:r>
            <a:endParaRPr lang="en-US" sz="1000" dirty="0"/>
          </a:p>
          <a:p>
            <a:pPr algn="l" indent="0" marL="0">
              <a:lnSpc>
                <a:spcPct val="92000"/>
              </a:lnSpc>
              <a:buNone/>
            </a:pPr>
            <a:r>
              <a:rPr lang="en-US" sz="800" dirty="0">
                <a:solidFill>
                  <a:srgbClr val="5C6B64"/>
                </a:solidFill>
              </a:rPr>
              <a:t>console or API</a:t>
            </a:r>
            <a:endParaRPr lang="en-US" sz="1000" dirty="0"/>
          </a:p>
        </p:txBody>
      </p:sp>
      <p:sp>
        <p:nvSpPr>
          <p:cNvPr id="14" name="Shape 12"/>
          <p:cNvSpPr/>
          <p:nvPr/>
        </p:nvSpPr>
        <p:spPr>
          <a:xfrm>
            <a:off x="457200" y="3108960"/>
            <a:ext cx="1965960" cy="237744"/>
          </a:xfrm>
          <a:prstGeom prst="rect">
            <a:avLst/>
          </a:prstGeom>
          <a:solidFill>
            <a:srgbClr val="1E4035"/>
          </a:solidFill>
          <a:ln w="12700">
            <a:solidFill>
              <a:srgbClr val="1E4035"/>
            </a:solidFill>
            <a:prstDash val="solid"/>
          </a:ln>
        </p:spPr>
      </p:sp>
      <p:sp>
        <p:nvSpPr>
          <p:cNvPr id="15" name="Text 13"/>
          <p:cNvSpPr txBox="1"/>
          <p:nvPr/>
        </p:nvSpPr>
        <p:spPr>
          <a:xfrm>
            <a:off x="566928" y="3108960"/>
            <a:ext cx="1746504"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Corpora</a:t>
            </a:r>
            <a:endParaRPr lang="en-US" sz="1050" dirty="0"/>
          </a:p>
        </p:txBody>
      </p:sp>
      <p:sp>
        <p:nvSpPr>
          <p:cNvPr id="16" name="card-Repair orders"/>
          <p:cNvSpPr/>
          <p:nvPr/>
        </p:nvSpPr>
        <p:spPr>
          <a:xfrm>
            <a:off x="457200" y="3419856"/>
            <a:ext cx="1965960" cy="402336"/>
          </a:xfrm>
          <a:prstGeom prst="rect">
            <a:avLst/>
          </a:prstGeom>
          <a:solidFill>
            <a:srgbClr val="FFFFFF"/>
          </a:solidFill>
          <a:ln w="12700">
            <a:solidFill>
              <a:srgbClr val="C3CCC0"/>
            </a:solidFill>
            <a:prstDash val="solid"/>
          </a:ln>
        </p:spPr>
      </p:sp>
      <p:sp>
        <p:nvSpPr>
          <p:cNvPr id="17" name="Text 15"/>
          <p:cNvSpPr txBox="1"/>
          <p:nvPr/>
        </p:nvSpPr>
        <p:spPr>
          <a:xfrm>
            <a:off x="521208" y="3456432"/>
            <a:ext cx="1837944"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Repair orders</a:t>
            </a:r>
            <a:endParaRPr lang="en-US" sz="1000" dirty="0"/>
          </a:p>
          <a:p>
            <a:pPr algn="l" indent="0" marL="0">
              <a:lnSpc>
                <a:spcPct val="92000"/>
              </a:lnSpc>
              <a:buNone/>
            </a:pPr>
            <a:r>
              <a:rPr lang="en-US" sz="800" dirty="0">
                <a:solidFill>
                  <a:srgbClr val="5C6B64"/>
                </a:solidFill>
              </a:rPr>
              <a:t>400</a:t>
            </a:r>
            <a:endParaRPr lang="en-US" sz="1000" dirty="0"/>
          </a:p>
        </p:txBody>
      </p:sp>
      <p:sp>
        <p:nvSpPr>
          <p:cNvPr id="18" name="card-Shift updates"/>
          <p:cNvSpPr/>
          <p:nvPr/>
        </p:nvSpPr>
        <p:spPr>
          <a:xfrm>
            <a:off x="457200" y="3877056"/>
            <a:ext cx="1965960" cy="402336"/>
          </a:xfrm>
          <a:prstGeom prst="rect">
            <a:avLst/>
          </a:prstGeom>
          <a:solidFill>
            <a:srgbClr val="FFFFFF"/>
          </a:solidFill>
          <a:ln w="12700">
            <a:solidFill>
              <a:srgbClr val="C3CCC0"/>
            </a:solidFill>
            <a:prstDash val="solid"/>
          </a:ln>
        </p:spPr>
      </p:sp>
      <p:sp>
        <p:nvSpPr>
          <p:cNvPr id="19" name="Text 17"/>
          <p:cNvSpPr txBox="1"/>
          <p:nvPr/>
        </p:nvSpPr>
        <p:spPr>
          <a:xfrm>
            <a:off x="521208" y="3913632"/>
            <a:ext cx="1837944"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Shift updates</a:t>
            </a:r>
            <a:endParaRPr lang="en-US" sz="1000" dirty="0"/>
          </a:p>
          <a:p>
            <a:pPr algn="l" indent="0" marL="0">
              <a:lnSpc>
                <a:spcPct val="92000"/>
              </a:lnSpc>
              <a:buNone/>
            </a:pPr>
            <a:r>
              <a:rPr lang="en-US" sz="800" dirty="0">
                <a:solidFill>
                  <a:srgbClr val="5C6B64"/>
                </a:solidFill>
              </a:rPr>
              <a:t>1,949</a:t>
            </a:r>
            <a:endParaRPr lang="en-US" sz="1000" dirty="0"/>
          </a:p>
        </p:txBody>
      </p:sp>
      <p:sp>
        <p:nvSpPr>
          <p:cNvPr id="20" name="card-Labour operations"/>
          <p:cNvSpPr/>
          <p:nvPr/>
        </p:nvSpPr>
        <p:spPr>
          <a:xfrm>
            <a:off x="457200" y="4334256"/>
            <a:ext cx="1965960" cy="402336"/>
          </a:xfrm>
          <a:prstGeom prst="rect">
            <a:avLst/>
          </a:prstGeom>
          <a:solidFill>
            <a:srgbClr val="FFFFFF"/>
          </a:solidFill>
          <a:ln w="12700">
            <a:solidFill>
              <a:srgbClr val="C3CCC0"/>
            </a:solidFill>
            <a:prstDash val="solid"/>
          </a:ln>
        </p:spPr>
      </p:sp>
      <p:sp>
        <p:nvSpPr>
          <p:cNvPr id="21" name="Text 19"/>
          <p:cNvSpPr txBox="1"/>
          <p:nvPr/>
        </p:nvSpPr>
        <p:spPr>
          <a:xfrm>
            <a:off x="521208" y="4370832"/>
            <a:ext cx="1837944"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Labour operations</a:t>
            </a:r>
            <a:endParaRPr lang="en-US" sz="1000" dirty="0"/>
          </a:p>
          <a:p>
            <a:pPr algn="l" indent="0" marL="0">
              <a:lnSpc>
                <a:spcPct val="92000"/>
              </a:lnSpc>
              <a:buNone/>
            </a:pPr>
            <a:r>
              <a:rPr lang="en-US" sz="800" dirty="0">
                <a:solidFill>
                  <a:srgbClr val="5C6B64"/>
                </a:solidFill>
              </a:rPr>
              <a:t>104</a:t>
            </a:r>
            <a:endParaRPr lang="en-US" sz="1000" dirty="0"/>
          </a:p>
        </p:txBody>
      </p:sp>
      <p:sp>
        <p:nvSpPr>
          <p:cNvPr id="22" name="card-Staff"/>
          <p:cNvSpPr/>
          <p:nvPr/>
        </p:nvSpPr>
        <p:spPr>
          <a:xfrm>
            <a:off x="457200" y="4791456"/>
            <a:ext cx="1965960" cy="402336"/>
          </a:xfrm>
          <a:prstGeom prst="rect">
            <a:avLst/>
          </a:prstGeom>
          <a:solidFill>
            <a:srgbClr val="FFFFFF"/>
          </a:solidFill>
          <a:ln w="12700">
            <a:solidFill>
              <a:srgbClr val="C3CCC0"/>
            </a:solidFill>
            <a:prstDash val="solid"/>
          </a:ln>
        </p:spPr>
      </p:sp>
      <p:sp>
        <p:nvSpPr>
          <p:cNvPr id="23" name="Text 21"/>
          <p:cNvSpPr txBox="1"/>
          <p:nvPr/>
        </p:nvSpPr>
        <p:spPr>
          <a:xfrm>
            <a:off x="521208" y="4828032"/>
            <a:ext cx="1837944"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Staff</a:t>
            </a:r>
            <a:endParaRPr lang="en-US" sz="1000" dirty="0"/>
          </a:p>
          <a:p>
            <a:pPr algn="l" indent="0" marL="0">
              <a:lnSpc>
                <a:spcPct val="92000"/>
              </a:lnSpc>
              <a:buNone/>
            </a:pPr>
            <a:r>
              <a:rPr lang="en-US" sz="800" dirty="0">
                <a:solidFill>
                  <a:srgbClr val="5C6B64"/>
                </a:solidFill>
              </a:rPr>
              <a:t>50</a:t>
            </a:r>
            <a:endParaRPr lang="en-US" sz="1000" dirty="0"/>
          </a:p>
        </p:txBody>
      </p:sp>
      <p:sp>
        <p:nvSpPr>
          <p:cNvPr id="24" name="Shape 22"/>
          <p:cNvSpPr/>
          <p:nvPr/>
        </p:nvSpPr>
        <p:spPr>
          <a:xfrm>
            <a:off x="2697480" y="1408176"/>
            <a:ext cx="6812280" cy="182880"/>
          </a:xfrm>
          <a:prstGeom prst="rect">
            <a:avLst/>
          </a:prstGeom>
          <a:solidFill>
            <a:srgbClr val="1E4035"/>
          </a:solidFill>
          <a:ln w="12700">
            <a:solidFill>
              <a:srgbClr val="1E4035"/>
            </a:solidFill>
            <a:prstDash val="solid"/>
          </a:ln>
        </p:spPr>
      </p:sp>
      <p:sp>
        <p:nvSpPr>
          <p:cNvPr id="25" name="Text 23"/>
          <p:cNvSpPr txBox="1"/>
          <p:nvPr/>
        </p:nvSpPr>
        <p:spPr>
          <a:xfrm>
            <a:off x="2807208" y="140817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1 · CAPTURE &amp; UNDERSTANDING</a:t>
            </a:r>
            <a:endParaRPr lang="en-US" sz="850" dirty="0"/>
          </a:p>
        </p:txBody>
      </p:sp>
      <p:sp>
        <p:nvSpPr>
          <p:cNvPr id="26" name="card-Riva Parakeet ASR"/>
          <p:cNvSpPr/>
          <p:nvPr/>
        </p:nvSpPr>
        <p:spPr>
          <a:xfrm>
            <a:off x="2697480" y="1627632"/>
            <a:ext cx="1648206" cy="365760"/>
          </a:xfrm>
          <a:prstGeom prst="rect">
            <a:avLst/>
          </a:prstGeom>
          <a:solidFill>
            <a:srgbClr val="5B8C3A"/>
          </a:solidFill>
          <a:ln w="19050">
            <a:solidFill>
              <a:srgbClr val="446B29"/>
            </a:solidFill>
            <a:prstDash val="solid"/>
          </a:ln>
        </p:spPr>
      </p:sp>
      <p:sp>
        <p:nvSpPr>
          <p:cNvPr id="27" name="Text 25"/>
          <p:cNvSpPr txBox="1"/>
          <p:nvPr/>
        </p:nvSpPr>
        <p:spPr>
          <a:xfrm>
            <a:off x="2761488" y="16642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FFFFFF"/>
                </a:solidFill>
              </a:rPr>
              <a:t>Riva Parakeet ASR</a:t>
            </a:r>
            <a:endParaRPr lang="en-US" sz="950" dirty="0"/>
          </a:p>
        </p:txBody>
      </p:sp>
      <p:sp>
        <p:nvSpPr>
          <p:cNvPr id="28" name="card-Nemotron Nano 8B"/>
          <p:cNvSpPr/>
          <p:nvPr/>
        </p:nvSpPr>
        <p:spPr>
          <a:xfrm>
            <a:off x="4418838" y="1627632"/>
            <a:ext cx="1648206" cy="365760"/>
          </a:xfrm>
          <a:prstGeom prst="rect">
            <a:avLst/>
          </a:prstGeom>
          <a:solidFill>
            <a:srgbClr val="5B8C3A"/>
          </a:solidFill>
          <a:ln w="19050">
            <a:solidFill>
              <a:srgbClr val="446B29"/>
            </a:solidFill>
            <a:prstDash val="solid"/>
          </a:ln>
        </p:spPr>
      </p:sp>
      <p:sp>
        <p:nvSpPr>
          <p:cNvPr id="29" name="Text 27"/>
          <p:cNvSpPr txBox="1"/>
          <p:nvPr/>
        </p:nvSpPr>
        <p:spPr>
          <a:xfrm>
            <a:off x="4482846" y="16642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FFFFFF"/>
                </a:solidFill>
              </a:rPr>
              <a:t>Nemotron Nano 8B</a:t>
            </a:r>
            <a:endParaRPr lang="en-US" sz="950" dirty="0"/>
          </a:p>
        </p:txBody>
      </p:sp>
      <p:sp>
        <p:nvSpPr>
          <p:cNvPr id="30" name="card-Entity resolver"/>
          <p:cNvSpPr/>
          <p:nvPr/>
        </p:nvSpPr>
        <p:spPr>
          <a:xfrm>
            <a:off x="6140196" y="1627632"/>
            <a:ext cx="1648206" cy="365760"/>
          </a:xfrm>
          <a:prstGeom prst="rect">
            <a:avLst/>
          </a:prstGeom>
          <a:solidFill>
            <a:srgbClr val="FFFFFF"/>
          </a:solidFill>
          <a:ln w="12700">
            <a:solidFill>
              <a:srgbClr val="C3CCC0"/>
            </a:solidFill>
            <a:prstDash val="solid"/>
          </a:ln>
        </p:spPr>
      </p:sp>
      <p:sp>
        <p:nvSpPr>
          <p:cNvPr id="31" name="Text 29"/>
          <p:cNvSpPr txBox="1"/>
          <p:nvPr/>
        </p:nvSpPr>
        <p:spPr>
          <a:xfrm>
            <a:off x="6204204" y="16642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Entity resolver</a:t>
            </a:r>
            <a:endParaRPr lang="en-US" sz="950" dirty="0"/>
          </a:p>
        </p:txBody>
      </p:sp>
      <p:sp>
        <p:nvSpPr>
          <p:cNvPr id="32" name="card-Reconciler"/>
          <p:cNvSpPr/>
          <p:nvPr/>
        </p:nvSpPr>
        <p:spPr>
          <a:xfrm>
            <a:off x="7861554" y="1627632"/>
            <a:ext cx="1648206" cy="365760"/>
          </a:xfrm>
          <a:prstGeom prst="rect">
            <a:avLst/>
          </a:prstGeom>
          <a:solidFill>
            <a:srgbClr val="FFFFFF"/>
          </a:solidFill>
          <a:ln w="12700">
            <a:solidFill>
              <a:srgbClr val="C3CCC0"/>
            </a:solidFill>
            <a:prstDash val="solid"/>
          </a:ln>
        </p:spPr>
      </p:sp>
      <p:sp>
        <p:nvSpPr>
          <p:cNvPr id="33" name="Text 31"/>
          <p:cNvSpPr txBox="1"/>
          <p:nvPr/>
        </p:nvSpPr>
        <p:spPr>
          <a:xfrm>
            <a:off x="7925562" y="16642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Reconciler</a:t>
            </a:r>
            <a:endParaRPr lang="en-US" sz="950" dirty="0"/>
          </a:p>
        </p:txBody>
      </p:sp>
      <p:sp>
        <p:nvSpPr>
          <p:cNvPr id="34" name="Shape 32"/>
          <p:cNvSpPr/>
          <p:nvPr/>
        </p:nvSpPr>
        <p:spPr>
          <a:xfrm>
            <a:off x="2697480" y="2048256"/>
            <a:ext cx="6812280" cy="182880"/>
          </a:xfrm>
          <a:prstGeom prst="rect">
            <a:avLst/>
          </a:prstGeom>
          <a:solidFill>
            <a:srgbClr val="1E4035"/>
          </a:solidFill>
          <a:ln w="12700">
            <a:solidFill>
              <a:srgbClr val="1E4035"/>
            </a:solidFill>
            <a:prstDash val="solid"/>
          </a:ln>
        </p:spPr>
      </p:sp>
      <p:sp>
        <p:nvSpPr>
          <p:cNvPr id="35" name="Text 33"/>
          <p:cNvSpPr txBox="1"/>
          <p:nvPr/>
        </p:nvSpPr>
        <p:spPr>
          <a:xfrm>
            <a:off x="2807208" y="204825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2 · EVENT LOG &amp; DERIVED STATE</a:t>
            </a:r>
            <a:endParaRPr lang="en-US" sz="850" dirty="0"/>
          </a:p>
        </p:txBody>
      </p:sp>
      <p:sp>
        <p:nvSpPr>
          <p:cNvPr id="36" name="card-Event log · 10,927"/>
          <p:cNvSpPr/>
          <p:nvPr/>
        </p:nvSpPr>
        <p:spPr>
          <a:xfrm>
            <a:off x="2697480" y="2267712"/>
            <a:ext cx="1648206" cy="365760"/>
          </a:xfrm>
          <a:prstGeom prst="rect">
            <a:avLst/>
          </a:prstGeom>
          <a:solidFill>
            <a:srgbClr val="FFFFFF"/>
          </a:solidFill>
          <a:ln w="12700">
            <a:solidFill>
              <a:srgbClr val="C3CCC0"/>
            </a:solidFill>
            <a:prstDash val="solid"/>
          </a:ln>
        </p:spPr>
      </p:sp>
      <p:sp>
        <p:nvSpPr>
          <p:cNvPr id="37" name="Text 35"/>
          <p:cNvSpPr txBox="1"/>
          <p:nvPr/>
        </p:nvSpPr>
        <p:spPr>
          <a:xfrm>
            <a:off x="2761488" y="230428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Event log · 10,927</a:t>
            </a:r>
            <a:endParaRPr lang="en-US" sz="950" dirty="0"/>
          </a:p>
        </p:txBody>
      </p:sp>
      <p:sp>
        <p:nvSpPr>
          <p:cNvPr id="38" name="card-Fold engine"/>
          <p:cNvSpPr/>
          <p:nvPr/>
        </p:nvSpPr>
        <p:spPr>
          <a:xfrm>
            <a:off x="4418838" y="2267712"/>
            <a:ext cx="1648206" cy="365760"/>
          </a:xfrm>
          <a:prstGeom prst="rect">
            <a:avLst/>
          </a:prstGeom>
          <a:solidFill>
            <a:srgbClr val="FFFFFF"/>
          </a:solidFill>
          <a:ln w="12700">
            <a:solidFill>
              <a:srgbClr val="C3CCC0"/>
            </a:solidFill>
            <a:prstDash val="solid"/>
          </a:ln>
        </p:spPr>
      </p:sp>
      <p:sp>
        <p:nvSpPr>
          <p:cNvPr id="39" name="Text 37"/>
          <p:cNvSpPr txBox="1"/>
          <p:nvPr/>
        </p:nvSpPr>
        <p:spPr>
          <a:xfrm>
            <a:off x="4482846" y="230428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Fold engine</a:t>
            </a:r>
            <a:endParaRPr lang="en-US" sz="950" dirty="0"/>
          </a:p>
        </p:txBody>
      </p:sp>
      <p:sp>
        <p:nvSpPr>
          <p:cNvPr id="40" name="card-Lifecycle gate · 1"/>
          <p:cNvSpPr/>
          <p:nvPr/>
        </p:nvSpPr>
        <p:spPr>
          <a:xfrm>
            <a:off x="6140196" y="2267712"/>
            <a:ext cx="1648206" cy="365760"/>
          </a:xfrm>
          <a:prstGeom prst="rect">
            <a:avLst/>
          </a:prstGeom>
          <a:solidFill>
            <a:srgbClr val="FFFFFF"/>
          </a:solidFill>
          <a:ln w="12700">
            <a:solidFill>
              <a:srgbClr val="C3CCC0"/>
            </a:solidFill>
            <a:prstDash val="solid"/>
          </a:ln>
        </p:spPr>
      </p:sp>
      <p:sp>
        <p:nvSpPr>
          <p:cNvPr id="41" name="Text 39"/>
          <p:cNvSpPr txBox="1"/>
          <p:nvPr/>
        </p:nvSpPr>
        <p:spPr>
          <a:xfrm>
            <a:off x="6204204" y="230428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Lifecycle gate · 13</a:t>
            </a:r>
            <a:endParaRPr lang="en-US" sz="950" dirty="0"/>
          </a:p>
        </p:txBody>
      </p:sp>
      <p:sp>
        <p:nvSpPr>
          <p:cNvPr id="42" name="card-Diff card"/>
          <p:cNvSpPr/>
          <p:nvPr/>
        </p:nvSpPr>
        <p:spPr>
          <a:xfrm>
            <a:off x="7861554" y="2267712"/>
            <a:ext cx="1648206" cy="365760"/>
          </a:xfrm>
          <a:prstGeom prst="rect">
            <a:avLst/>
          </a:prstGeom>
          <a:solidFill>
            <a:srgbClr val="FFFFFF"/>
          </a:solidFill>
          <a:ln w="12700">
            <a:solidFill>
              <a:srgbClr val="C3CCC0"/>
            </a:solidFill>
            <a:prstDash val="solid"/>
          </a:ln>
        </p:spPr>
      </p:sp>
      <p:sp>
        <p:nvSpPr>
          <p:cNvPr id="43" name="Text 41"/>
          <p:cNvSpPr txBox="1"/>
          <p:nvPr/>
        </p:nvSpPr>
        <p:spPr>
          <a:xfrm>
            <a:off x="7925562" y="230428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Diff card</a:t>
            </a:r>
            <a:endParaRPr lang="en-US" sz="950" dirty="0"/>
          </a:p>
        </p:txBody>
      </p:sp>
      <p:sp>
        <p:nvSpPr>
          <p:cNvPr id="44" name="Shape 42"/>
          <p:cNvSpPr/>
          <p:nvPr/>
        </p:nvSpPr>
        <p:spPr>
          <a:xfrm>
            <a:off x="2697480" y="2688336"/>
            <a:ext cx="6812280" cy="182880"/>
          </a:xfrm>
          <a:prstGeom prst="rect">
            <a:avLst/>
          </a:prstGeom>
          <a:solidFill>
            <a:srgbClr val="1E4035"/>
          </a:solidFill>
          <a:ln w="12700">
            <a:solidFill>
              <a:srgbClr val="1E4035"/>
            </a:solidFill>
            <a:prstDash val="solid"/>
          </a:ln>
        </p:spPr>
      </p:sp>
      <p:sp>
        <p:nvSpPr>
          <p:cNvPr id="45" name="Text 43"/>
          <p:cNvSpPr txBox="1"/>
          <p:nvPr/>
        </p:nvSpPr>
        <p:spPr>
          <a:xfrm>
            <a:off x="2807208" y="268833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3 · PREPARATION &amp; INDEXING</a:t>
            </a:r>
            <a:endParaRPr lang="en-US" sz="850" dirty="0"/>
          </a:p>
        </p:txBody>
      </p:sp>
      <p:sp>
        <p:nvSpPr>
          <p:cNvPr id="46" name="card-NeMo Curator"/>
          <p:cNvSpPr/>
          <p:nvPr/>
        </p:nvSpPr>
        <p:spPr>
          <a:xfrm>
            <a:off x="2697480" y="2907792"/>
            <a:ext cx="1648206" cy="365760"/>
          </a:xfrm>
          <a:prstGeom prst="rect">
            <a:avLst/>
          </a:prstGeom>
          <a:solidFill>
            <a:srgbClr val="FFFFFF"/>
          </a:solidFill>
          <a:ln w="22225">
            <a:solidFill>
              <a:srgbClr val="76B900"/>
            </a:solidFill>
            <a:prstDash val="solid"/>
          </a:ln>
        </p:spPr>
      </p:sp>
      <p:sp>
        <p:nvSpPr>
          <p:cNvPr id="47" name="Text 45"/>
          <p:cNvSpPr txBox="1"/>
          <p:nvPr/>
        </p:nvSpPr>
        <p:spPr>
          <a:xfrm>
            <a:off x="2761488" y="294436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NeMo Curator</a:t>
            </a:r>
            <a:endParaRPr lang="en-US" sz="950" dirty="0"/>
          </a:p>
        </p:txBody>
      </p:sp>
      <p:sp>
        <p:nvSpPr>
          <p:cNvPr id="48" name="card-NV-EmbedQA E5 v5"/>
          <p:cNvSpPr/>
          <p:nvPr/>
        </p:nvSpPr>
        <p:spPr>
          <a:xfrm>
            <a:off x="4418838" y="2907792"/>
            <a:ext cx="1648206" cy="365760"/>
          </a:xfrm>
          <a:prstGeom prst="rect">
            <a:avLst/>
          </a:prstGeom>
          <a:solidFill>
            <a:srgbClr val="5B8C3A"/>
          </a:solidFill>
          <a:ln w="19050">
            <a:solidFill>
              <a:srgbClr val="446B29"/>
            </a:solidFill>
            <a:prstDash val="solid"/>
          </a:ln>
        </p:spPr>
      </p:sp>
      <p:sp>
        <p:nvSpPr>
          <p:cNvPr id="49" name="Text 47"/>
          <p:cNvSpPr txBox="1"/>
          <p:nvPr/>
        </p:nvSpPr>
        <p:spPr>
          <a:xfrm>
            <a:off x="4482846" y="294436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FFFFFF"/>
                </a:solidFill>
              </a:rPr>
              <a:t>NV-EmbedQA E5 v5</a:t>
            </a:r>
            <a:endParaRPr lang="en-US" sz="950" dirty="0"/>
          </a:p>
        </p:txBody>
      </p:sp>
      <p:sp>
        <p:nvSpPr>
          <p:cNvPr id="50" name="card-Milvus upsert"/>
          <p:cNvSpPr/>
          <p:nvPr/>
        </p:nvSpPr>
        <p:spPr>
          <a:xfrm>
            <a:off x="6140196" y="2907792"/>
            <a:ext cx="1648206" cy="365760"/>
          </a:xfrm>
          <a:prstGeom prst="rect">
            <a:avLst/>
          </a:prstGeom>
          <a:solidFill>
            <a:srgbClr val="FFFFFF"/>
          </a:solidFill>
          <a:ln w="12700">
            <a:solidFill>
              <a:srgbClr val="C3CCC0"/>
            </a:solidFill>
            <a:prstDash val="solid"/>
          </a:ln>
        </p:spPr>
      </p:sp>
      <p:sp>
        <p:nvSpPr>
          <p:cNvPr id="51" name="Text 49"/>
          <p:cNvSpPr txBox="1"/>
          <p:nvPr/>
        </p:nvSpPr>
        <p:spPr>
          <a:xfrm>
            <a:off x="6204204" y="294436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Milvus upsert</a:t>
            </a:r>
            <a:endParaRPr lang="en-US" sz="950" dirty="0"/>
          </a:p>
        </p:txBody>
      </p:sp>
      <p:sp>
        <p:nvSpPr>
          <p:cNvPr id="52" name="card-Index audit"/>
          <p:cNvSpPr/>
          <p:nvPr/>
        </p:nvSpPr>
        <p:spPr>
          <a:xfrm>
            <a:off x="7861554" y="2907792"/>
            <a:ext cx="1648206" cy="365760"/>
          </a:xfrm>
          <a:prstGeom prst="rect">
            <a:avLst/>
          </a:prstGeom>
          <a:solidFill>
            <a:srgbClr val="FFFFFF"/>
          </a:solidFill>
          <a:ln w="12700">
            <a:solidFill>
              <a:srgbClr val="C3CCC0"/>
            </a:solidFill>
            <a:prstDash val="solid"/>
          </a:ln>
        </p:spPr>
      </p:sp>
      <p:sp>
        <p:nvSpPr>
          <p:cNvPr id="53" name="Text 51"/>
          <p:cNvSpPr txBox="1"/>
          <p:nvPr/>
        </p:nvSpPr>
        <p:spPr>
          <a:xfrm>
            <a:off x="7925562" y="294436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Index audit</a:t>
            </a:r>
            <a:endParaRPr lang="en-US" sz="950" dirty="0"/>
          </a:p>
        </p:txBody>
      </p:sp>
      <p:sp>
        <p:nvSpPr>
          <p:cNvPr id="54" name="Shape 52"/>
          <p:cNvSpPr/>
          <p:nvPr/>
        </p:nvSpPr>
        <p:spPr>
          <a:xfrm>
            <a:off x="2697480" y="3328416"/>
            <a:ext cx="6812280" cy="182880"/>
          </a:xfrm>
          <a:prstGeom prst="rect">
            <a:avLst/>
          </a:prstGeom>
          <a:solidFill>
            <a:srgbClr val="1E4035"/>
          </a:solidFill>
          <a:ln w="12700">
            <a:solidFill>
              <a:srgbClr val="1E4035"/>
            </a:solidFill>
            <a:prstDash val="solid"/>
          </a:ln>
        </p:spPr>
      </p:sp>
      <p:sp>
        <p:nvSpPr>
          <p:cNvPr id="55" name="Text 53"/>
          <p:cNvSpPr txBox="1"/>
          <p:nvPr/>
        </p:nvSpPr>
        <p:spPr>
          <a:xfrm>
            <a:off x="2807208" y="332841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4 · RETRIEVAL &amp; GROUNDING</a:t>
            </a:r>
            <a:endParaRPr lang="en-US" sz="850" dirty="0"/>
          </a:p>
        </p:txBody>
      </p:sp>
      <p:sp>
        <p:nvSpPr>
          <p:cNvPr id="56" name="card-Vector search"/>
          <p:cNvSpPr/>
          <p:nvPr/>
        </p:nvSpPr>
        <p:spPr>
          <a:xfrm>
            <a:off x="2697480" y="3547872"/>
            <a:ext cx="1648206" cy="365760"/>
          </a:xfrm>
          <a:prstGeom prst="rect">
            <a:avLst/>
          </a:prstGeom>
          <a:solidFill>
            <a:srgbClr val="FFFFFF"/>
          </a:solidFill>
          <a:ln w="12700">
            <a:solidFill>
              <a:srgbClr val="C3CCC0"/>
            </a:solidFill>
            <a:prstDash val="solid"/>
          </a:ln>
        </p:spPr>
      </p:sp>
      <p:sp>
        <p:nvSpPr>
          <p:cNvPr id="57" name="Text 55"/>
          <p:cNvSpPr txBox="1"/>
          <p:nvPr/>
        </p:nvSpPr>
        <p:spPr>
          <a:xfrm>
            <a:off x="2761488" y="358444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Vector search</a:t>
            </a:r>
            <a:endParaRPr lang="en-US" sz="950" dirty="0"/>
          </a:p>
        </p:txBody>
      </p:sp>
      <p:sp>
        <p:nvSpPr>
          <p:cNvPr id="58" name="card-NV-RerankQA 4B"/>
          <p:cNvSpPr/>
          <p:nvPr/>
        </p:nvSpPr>
        <p:spPr>
          <a:xfrm>
            <a:off x="4418838" y="3547872"/>
            <a:ext cx="1648206" cy="365760"/>
          </a:xfrm>
          <a:prstGeom prst="rect">
            <a:avLst/>
          </a:prstGeom>
          <a:solidFill>
            <a:srgbClr val="5B8C3A"/>
          </a:solidFill>
          <a:ln w="19050">
            <a:solidFill>
              <a:srgbClr val="446B29"/>
            </a:solidFill>
            <a:prstDash val="solid"/>
          </a:ln>
        </p:spPr>
      </p:sp>
      <p:sp>
        <p:nvSpPr>
          <p:cNvPr id="59" name="Text 57"/>
          <p:cNvSpPr txBox="1"/>
          <p:nvPr/>
        </p:nvSpPr>
        <p:spPr>
          <a:xfrm>
            <a:off x="4482846" y="358444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FFFFFF"/>
                </a:solidFill>
              </a:rPr>
              <a:t>NV-RerankQA 4B</a:t>
            </a:r>
            <a:endParaRPr lang="en-US" sz="950" dirty="0"/>
          </a:p>
        </p:txBody>
      </p:sp>
      <p:sp>
        <p:nvSpPr>
          <p:cNvPr id="60" name="card-Context assembly"/>
          <p:cNvSpPr/>
          <p:nvPr/>
        </p:nvSpPr>
        <p:spPr>
          <a:xfrm>
            <a:off x="6140196" y="3547872"/>
            <a:ext cx="1648206" cy="365760"/>
          </a:xfrm>
          <a:prstGeom prst="rect">
            <a:avLst/>
          </a:prstGeom>
          <a:solidFill>
            <a:srgbClr val="FFFFFF"/>
          </a:solidFill>
          <a:ln w="12700">
            <a:solidFill>
              <a:srgbClr val="C3CCC0"/>
            </a:solidFill>
            <a:prstDash val="solid"/>
          </a:ln>
        </p:spPr>
      </p:sp>
      <p:sp>
        <p:nvSpPr>
          <p:cNvPr id="61" name="Text 59"/>
          <p:cNvSpPr txBox="1"/>
          <p:nvPr/>
        </p:nvSpPr>
        <p:spPr>
          <a:xfrm>
            <a:off x="6204204" y="358444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Context assembly</a:t>
            </a:r>
            <a:endParaRPr lang="en-US" sz="950" dirty="0"/>
          </a:p>
        </p:txBody>
      </p:sp>
      <p:sp>
        <p:nvSpPr>
          <p:cNvPr id="62" name="card-Citation set"/>
          <p:cNvSpPr/>
          <p:nvPr/>
        </p:nvSpPr>
        <p:spPr>
          <a:xfrm>
            <a:off x="7861554" y="3547872"/>
            <a:ext cx="1648206" cy="365760"/>
          </a:xfrm>
          <a:prstGeom prst="rect">
            <a:avLst/>
          </a:prstGeom>
          <a:solidFill>
            <a:srgbClr val="FFFFFF"/>
          </a:solidFill>
          <a:ln w="12700">
            <a:solidFill>
              <a:srgbClr val="C3CCC0"/>
            </a:solidFill>
            <a:prstDash val="solid"/>
          </a:ln>
        </p:spPr>
      </p:sp>
      <p:sp>
        <p:nvSpPr>
          <p:cNvPr id="63" name="Text 61"/>
          <p:cNvSpPr txBox="1"/>
          <p:nvPr/>
        </p:nvSpPr>
        <p:spPr>
          <a:xfrm>
            <a:off x="7925562" y="358444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Citation set</a:t>
            </a:r>
            <a:endParaRPr lang="en-US" sz="950" dirty="0"/>
          </a:p>
        </p:txBody>
      </p:sp>
      <p:sp>
        <p:nvSpPr>
          <p:cNvPr id="64" name="Shape 62"/>
          <p:cNvSpPr/>
          <p:nvPr/>
        </p:nvSpPr>
        <p:spPr>
          <a:xfrm>
            <a:off x="2697480" y="3968496"/>
            <a:ext cx="6812280" cy="182880"/>
          </a:xfrm>
          <a:prstGeom prst="rect">
            <a:avLst/>
          </a:prstGeom>
          <a:solidFill>
            <a:srgbClr val="1E4035"/>
          </a:solidFill>
          <a:ln w="12700">
            <a:solidFill>
              <a:srgbClr val="1E4035"/>
            </a:solidFill>
            <a:prstDash val="solid"/>
          </a:ln>
        </p:spPr>
      </p:sp>
      <p:sp>
        <p:nvSpPr>
          <p:cNvPr id="65" name="Text 63"/>
          <p:cNvSpPr txBox="1"/>
          <p:nvPr/>
        </p:nvSpPr>
        <p:spPr>
          <a:xfrm>
            <a:off x="2807208" y="396849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5 · REASONING &amp; ANSWERING</a:t>
            </a:r>
            <a:endParaRPr lang="en-US" sz="850" dirty="0"/>
          </a:p>
        </p:txBody>
      </p:sp>
      <p:sp>
        <p:nvSpPr>
          <p:cNvPr id="66" name="card-Query planner"/>
          <p:cNvSpPr/>
          <p:nvPr/>
        </p:nvSpPr>
        <p:spPr>
          <a:xfrm>
            <a:off x="2697480" y="4187952"/>
            <a:ext cx="1648206" cy="365760"/>
          </a:xfrm>
          <a:prstGeom prst="rect">
            <a:avLst/>
          </a:prstGeom>
          <a:solidFill>
            <a:srgbClr val="FFFFFF"/>
          </a:solidFill>
          <a:ln w="12700">
            <a:solidFill>
              <a:srgbClr val="C3CCC0"/>
            </a:solidFill>
            <a:prstDash val="solid"/>
          </a:ln>
        </p:spPr>
      </p:sp>
      <p:sp>
        <p:nvSpPr>
          <p:cNvPr id="67" name="Text 65"/>
          <p:cNvSpPr txBox="1"/>
          <p:nvPr/>
        </p:nvSpPr>
        <p:spPr>
          <a:xfrm>
            <a:off x="2761488" y="422452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Query planner</a:t>
            </a:r>
            <a:endParaRPr lang="en-US" sz="950" dirty="0"/>
          </a:p>
        </p:txBody>
      </p:sp>
      <p:sp>
        <p:nvSpPr>
          <p:cNvPr id="68" name="card-NeMo Switchyard"/>
          <p:cNvSpPr/>
          <p:nvPr/>
        </p:nvSpPr>
        <p:spPr>
          <a:xfrm>
            <a:off x="4418838" y="4187952"/>
            <a:ext cx="1648206" cy="365760"/>
          </a:xfrm>
          <a:prstGeom prst="rect">
            <a:avLst/>
          </a:prstGeom>
          <a:solidFill>
            <a:srgbClr val="FFFFFF"/>
          </a:solidFill>
          <a:ln w="22225">
            <a:solidFill>
              <a:srgbClr val="76B900"/>
            </a:solidFill>
            <a:prstDash val="solid"/>
          </a:ln>
        </p:spPr>
      </p:sp>
      <p:sp>
        <p:nvSpPr>
          <p:cNvPr id="69" name="Text 67"/>
          <p:cNvSpPr txBox="1"/>
          <p:nvPr/>
        </p:nvSpPr>
        <p:spPr>
          <a:xfrm>
            <a:off x="4482846" y="422452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NeMo Switchyard</a:t>
            </a:r>
            <a:endParaRPr lang="en-US" sz="950" dirty="0"/>
          </a:p>
        </p:txBody>
      </p:sp>
      <p:sp>
        <p:nvSpPr>
          <p:cNvPr id="70" name="card-10 typed tools"/>
          <p:cNvSpPr/>
          <p:nvPr/>
        </p:nvSpPr>
        <p:spPr>
          <a:xfrm>
            <a:off x="6140196" y="4187952"/>
            <a:ext cx="1648206" cy="365760"/>
          </a:xfrm>
          <a:prstGeom prst="rect">
            <a:avLst/>
          </a:prstGeom>
          <a:solidFill>
            <a:srgbClr val="FFFFFF"/>
          </a:solidFill>
          <a:ln w="12700">
            <a:solidFill>
              <a:srgbClr val="C3CCC0"/>
            </a:solidFill>
            <a:prstDash val="solid"/>
          </a:ln>
        </p:spPr>
      </p:sp>
      <p:sp>
        <p:nvSpPr>
          <p:cNvPr id="71" name="Text 69"/>
          <p:cNvSpPr txBox="1"/>
          <p:nvPr/>
        </p:nvSpPr>
        <p:spPr>
          <a:xfrm>
            <a:off x="6204204" y="422452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10 typed tools</a:t>
            </a:r>
            <a:endParaRPr lang="en-US" sz="950" dirty="0"/>
          </a:p>
        </p:txBody>
      </p:sp>
      <p:sp>
        <p:nvSpPr>
          <p:cNvPr id="72" name="card-Nemotron narration"/>
          <p:cNvSpPr/>
          <p:nvPr/>
        </p:nvSpPr>
        <p:spPr>
          <a:xfrm>
            <a:off x="7861554" y="4187952"/>
            <a:ext cx="1648206" cy="365760"/>
          </a:xfrm>
          <a:prstGeom prst="rect">
            <a:avLst/>
          </a:prstGeom>
          <a:solidFill>
            <a:srgbClr val="5B8C3A"/>
          </a:solidFill>
          <a:ln w="19050">
            <a:solidFill>
              <a:srgbClr val="446B29"/>
            </a:solidFill>
            <a:prstDash val="solid"/>
          </a:ln>
        </p:spPr>
      </p:sp>
      <p:sp>
        <p:nvSpPr>
          <p:cNvPr id="73" name="Text 71"/>
          <p:cNvSpPr txBox="1"/>
          <p:nvPr/>
        </p:nvSpPr>
        <p:spPr>
          <a:xfrm>
            <a:off x="7925562" y="422452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FFFFFF"/>
                </a:solidFill>
              </a:rPr>
              <a:t>Nemotron narration</a:t>
            </a:r>
            <a:endParaRPr lang="en-US" sz="950" dirty="0"/>
          </a:p>
        </p:txBody>
      </p:sp>
      <p:sp>
        <p:nvSpPr>
          <p:cNvPr id="74" name="Shape 72"/>
          <p:cNvSpPr/>
          <p:nvPr/>
        </p:nvSpPr>
        <p:spPr>
          <a:xfrm>
            <a:off x="2697480" y="4608576"/>
            <a:ext cx="6812280" cy="182880"/>
          </a:xfrm>
          <a:prstGeom prst="rect">
            <a:avLst/>
          </a:prstGeom>
          <a:solidFill>
            <a:srgbClr val="1E4035"/>
          </a:solidFill>
          <a:ln w="12700">
            <a:solidFill>
              <a:srgbClr val="1E4035"/>
            </a:solidFill>
            <a:prstDash val="solid"/>
          </a:ln>
        </p:spPr>
      </p:sp>
      <p:sp>
        <p:nvSpPr>
          <p:cNvPr id="75" name="Text 73"/>
          <p:cNvSpPr txBox="1"/>
          <p:nvPr/>
        </p:nvSpPr>
        <p:spPr>
          <a:xfrm>
            <a:off x="2807208" y="4608576"/>
            <a:ext cx="6592824" cy="182880"/>
          </a:xfrm>
          <a:prstGeom prst="rect">
            <a:avLst/>
          </a:prstGeom>
          <a:noFill/>
          <a:ln/>
        </p:spPr>
        <p:txBody>
          <a:bodyPr wrap="square" lIns="0" tIns="0" rIns="0" bIns="0" rtlCol="0" anchor="ctr"/>
          <a:lstStyle/>
          <a:p>
            <a:pPr algn="l" indent="0" marL="0">
              <a:buNone/>
            </a:pPr>
            <a:r>
              <a:rPr lang="en-US" sz="850" b="1" spc="60" kern="0" dirty="0">
                <a:solidFill>
                  <a:srgbClr val="FFFFFF"/>
                </a:solidFill>
              </a:rPr>
              <a:t>6 · GUARDRAILS &amp; VERIFICATION</a:t>
            </a:r>
            <a:endParaRPr lang="en-US" sz="850" dirty="0"/>
          </a:p>
        </p:txBody>
      </p:sp>
      <p:sp>
        <p:nvSpPr>
          <p:cNvPr id="76" name="card-NeMo Guardrails"/>
          <p:cNvSpPr/>
          <p:nvPr/>
        </p:nvSpPr>
        <p:spPr>
          <a:xfrm>
            <a:off x="2697480" y="4828032"/>
            <a:ext cx="1648206" cy="365760"/>
          </a:xfrm>
          <a:prstGeom prst="rect">
            <a:avLst/>
          </a:prstGeom>
          <a:solidFill>
            <a:srgbClr val="FFFFFF"/>
          </a:solidFill>
          <a:ln w="22225">
            <a:solidFill>
              <a:srgbClr val="76B900"/>
            </a:solidFill>
            <a:prstDash val="solid"/>
          </a:ln>
        </p:spPr>
      </p:sp>
      <p:sp>
        <p:nvSpPr>
          <p:cNvPr id="77" name="Text 75"/>
          <p:cNvSpPr txBox="1"/>
          <p:nvPr/>
        </p:nvSpPr>
        <p:spPr>
          <a:xfrm>
            <a:off x="2761488" y="48646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NeMo Guardrails</a:t>
            </a:r>
            <a:endParaRPr lang="en-US" sz="950" dirty="0"/>
          </a:p>
        </p:txBody>
      </p:sp>
      <p:sp>
        <p:nvSpPr>
          <p:cNvPr id="78" name="card-Injection rail"/>
          <p:cNvSpPr/>
          <p:nvPr/>
        </p:nvSpPr>
        <p:spPr>
          <a:xfrm>
            <a:off x="4418838" y="4828032"/>
            <a:ext cx="1648206" cy="365760"/>
          </a:xfrm>
          <a:prstGeom prst="rect">
            <a:avLst/>
          </a:prstGeom>
          <a:solidFill>
            <a:srgbClr val="FFFFFF"/>
          </a:solidFill>
          <a:ln w="12700">
            <a:solidFill>
              <a:srgbClr val="C3CCC0"/>
            </a:solidFill>
            <a:prstDash val="solid"/>
          </a:ln>
        </p:spPr>
      </p:sp>
      <p:sp>
        <p:nvSpPr>
          <p:cNvPr id="79" name="Text 77"/>
          <p:cNvSpPr txBox="1"/>
          <p:nvPr/>
        </p:nvSpPr>
        <p:spPr>
          <a:xfrm>
            <a:off x="4482846" y="48646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Injection rail</a:t>
            </a:r>
            <a:endParaRPr lang="en-US" sz="950" dirty="0"/>
          </a:p>
        </p:txBody>
      </p:sp>
      <p:sp>
        <p:nvSpPr>
          <p:cNvPr id="80" name="card-Grounding rail"/>
          <p:cNvSpPr/>
          <p:nvPr/>
        </p:nvSpPr>
        <p:spPr>
          <a:xfrm>
            <a:off x="6140196" y="4828032"/>
            <a:ext cx="1648206" cy="365760"/>
          </a:xfrm>
          <a:prstGeom prst="rect">
            <a:avLst/>
          </a:prstGeom>
          <a:solidFill>
            <a:srgbClr val="FFFFFF"/>
          </a:solidFill>
          <a:ln w="12700">
            <a:solidFill>
              <a:srgbClr val="C3CCC0"/>
            </a:solidFill>
            <a:prstDash val="solid"/>
          </a:ln>
        </p:spPr>
      </p:sp>
      <p:sp>
        <p:nvSpPr>
          <p:cNvPr id="81" name="Text 79"/>
          <p:cNvSpPr txBox="1"/>
          <p:nvPr/>
        </p:nvSpPr>
        <p:spPr>
          <a:xfrm>
            <a:off x="6204204" y="48646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Grounding rail</a:t>
            </a:r>
            <a:endParaRPr lang="en-US" sz="950" dirty="0"/>
          </a:p>
        </p:txBody>
      </p:sp>
      <p:sp>
        <p:nvSpPr>
          <p:cNvPr id="82" name="card-Release-claim rail"/>
          <p:cNvSpPr/>
          <p:nvPr/>
        </p:nvSpPr>
        <p:spPr>
          <a:xfrm>
            <a:off x="7861554" y="4828032"/>
            <a:ext cx="1648206" cy="365760"/>
          </a:xfrm>
          <a:prstGeom prst="rect">
            <a:avLst/>
          </a:prstGeom>
          <a:solidFill>
            <a:srgbClr val="FFFFFF"/>
          </a:solidFill>
          <a:ln w="12700">
            <a:solidFill>
              <a:srgbClr val="C3CCC0"/>
            </a:solidFill>
            <a:prstDash val="solid"/>
          </a:ln>
        </p:spPr>
      </p:sp>
      <p:sp>
        <p:nvSpPr>
          <p:cNvPr id="83" name="Text 81"/>
          <p:cNvSpPr txBox="1"/>
          <p:nvPr/>
        </p:nvSpPr>
        <p:spPr>
          <a:xfrm>
            <a:off x="7925562" y="4864608"/>
            <a:ext cx="1520190" cy="292608"/>
          </a:xfrm>
          <a:prstGeom prst="rect">
            <a:avLst/>
          </a:prstGeom>
          <a:noFill/>
          <a:ln/>
        </p:spPr>
        <p:txBody>
          <a:bodyPr wrap="square" lIns="0" tIns="0" rIns="0" bIns="0" rtlCol="0" anchor="ctr"/>
          <a:lstStyle/>
          <a:p>
            <a:pPr algn="l" indent="0" marL="0">
              <a:lnSpc>
                <a:spcPct val="92000"/>
              </a:lnSpc>
              <a:buNone/>
            </a:pPr>
            <a:r>
              <a:rPr lang="en-US" sz="950" b="1" dirty="0">
                <a:solidFill>
                  <a:srgbClr val="14302A"/>
                </a:solidFill>
              </a:rPr>
              <a:t>Release-claim rail</a:t>
            </a:r>
            <a:endParaRPr lang="en-US" sz="950" dirty="0"/>
          </a:p>
        </p:txBody>
      </p:sp>
      <p:sp>
        <p:nvSpPr>
          <p:cNvPr id="84" name="Shape 82"/>
          <p:cNvSpPr/>
          <p:nvPr/>
        </p:nvSpPr>
        <p:spPr>
          <a:xfrm>
            <a:off x="9710928" y="1097280"/>
            <a:ext cx="2023567" cy="237744"/>
          </a:xfrm>
          <a:prstGeom prst="rect">
            <a:avLst/>
          </a:prstGeom>
          <a:solidFill>
            <a:srgbClr val="1E4035"/>
          </a:solidFill>
          <a:ln w="12700">
            <a:solidFill>
              <a:srgbClr val="1E4035"/>
            </a:solidFill>
            <a:prstDash val="solid"/>
          </a:ln>
        </p:spPr>
      </p:sp>
      <p:sp>
        <p:nvSpPr>
          <p:cNvPr id="85" name="Text 83"/>
          <p:cNvSpPr txBox="1"/>
          <p:nvPr/>
        </p:nvSpPr>
        <p:spPr>
          <a:xfrm>
            <a:off x="9820656" y="1097280"/>
            <a:ext cx="1804111"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Experience</a:t>
            </a:r>
            <a:endParaRPr lang="en-US" sz="1050" dirty="0"/>
          </a:p>
        </p:txBody>
      </p:sp>
      <p:sp>
        <p:nvSpPr>
          <p:cNvPr id="86" name="card-Operations console"/>
          <p:cNvSpPr/>
          <p:nvPr/>
        </p:nvSpPr>
        <p:spPr>
          <a:xfrm>
            <a:off x="9710928" y="1408176"/>
            <a:ext cx="2023567" cy="475488"/>
          </a:xfrm>
          <a:prstGeom prst="rect">
            <a:avLst/>
          </a:prstGeom>
          <a:solidFill>
            <a:srgbClr val="FFFFFF"/>
          </a:solidFill>
          <a:ln w="12700">
            <a:solidFill>
              <a:srgbClr val="C3CCC0"/>
            </a:solidFill>
            <a:prstDash val="solid"/>
          </a:ln>
        </p:spPr>
      </p:sp>
      <p:sp>
        <p:nvSpPr>
          <p:cNvPr id="87" name="Text 85"/>
          <p:cNvSpPr txBox="1"/>
          <p:nvPr/>
        </p:nvSpPr>
        <p:spPr>
          <a:xfrm>
            <a:off x="9774936" y="1444752"/>
            <a:ext cx="1895551"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Operations console</a:t>
            </a:r>
            <a:endParaRPr lang="en-US" sz="1000" dirty="0"/>
          </a:p>
          <a:p>
            <a:pPr algn="l" indent="0" marL="0">
              <a:lnSpc>
                <a:spcPct val="92000"/>
              </a:lnSpc>
              <a:buNone/>
            </a:pPr>
            <a:r>
              <a:rPr lang="en-US" sz="800" dirty="0">
                <a:solidFill>
                  <a:srgbClr val="5C6B64"/>
                </a:solidFill>
              </a:rPr>
              <a:t>6 tabs</a:t>
            </a:r>
            <a:endParaRPr lang="en-US" sz="1000" dirty="0"/>
          </a:p>
        </p:txBody>
      </p:sp>
      <p:sp>
        <p:nvSpPr>
          <p:cNvPr id="88" name="card-Review workbench"/>
          <p:cNvSpPr/>
          <p:nvPr/>
        </p:nvSpPr>
        <p:spPr>
          <a:xfrm>
            <a:off x="9710928" y="1956816"/>
            <a:ext cx="2023567" cy="475488"/>
          </a:xfrm>
          <a:prstGeom prst="rect">
            <a:avLst/>
          </a:prstGeom>
          <a:solidFill>
            <a:srgbClr val="FFFFFF"/>
          </a:solidFill>
          <a:ln w="12700">
            <a:solidFill>
              <a:srgbClr val="C3CCC0"/>
            </a:solidFill>
            <a:prstDash val="solid"/>
          </a:ln>
        </p:spPr>
      </p:sp>
      <p:sp>
        <p:nvSpPr>
          <p:cNvPr id="89" name="Text 87"/>
          <p:cNvSpPr txBox="1"/>
          <p:nvPr/>
        </p:nvSpPr>
        <p:spPr>
          <a:xfrm>
            <a:off x="9774936" y="1993392"/>
            <a:ext cx="1895551"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Review workbench</a:t>
            </a:r>
            <a:endParaRPr lang="en-US" sz="1000" dirty="0"/>
          </a:p>
          <a:p>
            <a:pPr algn="l" indent="0" marL="0">
              <a:lnSpc>
                <a:spcPct val="92000"/>
              </a:lnSpc>
              <a:buNone/>
            </a:pPr>
            <a:r>
              <a:rPr lang="en-US" sz="800" dirty="0">
                <a:solidFill>
                  <a:srgbClr val="5C6B64"/>
                </a:solidFill>
              </a:rPr>
              <a:t>7 panes</a:t>
            </a:r>
            <a:endParaRPr lang="en-US" sz="1000" dirty="0"/>
          </a:p>
        </p:txBody>
      </p:sp>
      <p:sp>
        <p:nvSpPr>
          <p:cNvPr id="90" name="card-HTTP API"/>
          <p:cNvSpPr/>
          <p:nvPr/>
        </p:nvSpPr>
        <p:spPr>
          <a:xfrm>
            <a:off x="9710928" y="2505456"/>
            <a:ext cx="2023567" cy="475488"/>
          </a:xfrm>
          <a:prstGeom prst="rect">
            <a:avLst/>
          </a:prstGeom>
          <a:solidFill>
            <a:srgbClr val="FFFFFF"/>
          </a:solidFill>
          <a:ln w="12700">
            <a:solidFill>
              <a:srgbClr val="C3CCC0"/>
            </a:solidFill>
            <a:prstDash val="solid"/>
          </a:ln>
        </p:spPr>
      </p:sp>
      <p:sp>
        <p:nvSpPr>
          <p:cNvPr id="91" name="Text 89"/>
          <p:cNvSpPr txBox="1"/>
          <p:nvPr/>
        </p:nvSpPr>
        <p:spPr>
          <a:xfrm>
            <a:off x="9774936" y="2542032"/>
            <a:ext cx="1895551" cy="402336"/>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HTTP API</a:t>
            </a:r>
            <a:endParaRPr lang="en-US" sz="1000" dirty="0"/>
          </a:p>
          <a:p>
            <a:pPr algn="l" indent="0" marL="0">
              <a:lnSpc>
                <a:spcPct val="92000"/>
              </a:lnSpc>
              <a:buNone/>
            </a:pPr>
            <a:r>
              <a:rPr lang="en-US" sz="800" dirty="0">
                <a:solidFill>
                  <a:srgbClr val="5C6B64"/>
                </a:solidFill>
              </a:rPr>
              <a:t>27 routes</a:t>
            </a:r>
            <a:endParaRPr lang="en-US" sz="1000" dirty="0"/>
          </a:p>
        </p:txBody>
      </p:sp>
      <p:sp>
        <p:nvSpPr>
          <p:cNvPr id="92" name="Shape 90"/>
          <p:cNvSpPr/>
          <p:nvPr/>
        </p:nvSpPr>
        <p:spPr>
          <a:xfrm>
            <a:off x="9710928" y="3108960"/>
            <a:ext cx="2023567" cy="237744"/>
          </a:xfrm>
          <a:prstGeom prst="rect">
            <a:avLst/>
          </a:prstGeom>
          <a:solidFill>
            <a:srgbClr val="1E4035"/>
          </a:solidFill>
          <a:ln w="12700">
            <a:solidFill>
              <a:srgbClr val="1E4035"/>
            </a:solidFill>
            <a:prstDash val="solid"/>
          </a:ln>
        </p:spPr>
      </p:sp>
      <p:sp>
        <p:nvSpPr>
          <p:cNvPr id="93" name="Text 91"/>
          <p:cNvSpPr txBox="1"/>
          <p:nvPr/>
        </p:nvSpPr>
        <p:spPr>
          <a:xfrm>
            <a:off x="9820656" y="3108960"/>
            <a:ext cx="1804111"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Observability</a:t>
            </a:r>
            <a:endParaRPr lang="en-US" sz="1050" dirty="0"/>
          </a:p>
        </p:txBody>
      </p:sp>
      <p:sp>
        <p:nvSpPr>
          <p:cNvPr id="94" name="card-NVIDIA DCGM"/>
          <p:cNvSpPr/>
          <p:nvPr/>
        </p:nvSpPr>
        <p:spPr>
          <a:xfrm>
            <a:off x="9710928" y="3419856"/>
            <a:ext cx="2023567" cy="402336"/>
          </a:xfrm>
          <a:prstGeom prst="rect">
            <a:avLst/>
          </a:prstGeom>
          <a:solidFill>
            <a:srgbClr val="5B8C3A"/>
          </a:solidFill>
          <a:ln w="19050">
            <a:solidFill>
              <a:srgbClr val="446B29"/>
            </a:solidFill>
            <a:prstDash val="solid"/>
          </a:ln>
        </p:spPr>
      </p:sp>
      <p:sp>
        <p:nvSpPr>
          <p:cNvPr id="95" name="Text 93"/>
          <p:cNvSpPr txBox="1"/>
          <p:nvPr/>
        </p:nvSpPr>
        <p:spPr>
          <a:xfrm>
            <a:off x="9774936" y="3456432"/>
            <a:ext cx="1895551" cy="329184"/>
          </a:xfrm>
          <a:prstGeom prst="rect">
            <a:avLst/>
          </a:prstGeom>
          <a:noFill/>
          <a:ln/>
        </p:spPr>
        <p:txBody>
          <a:bodyPr wrap="square" lIns="0" tIns="0" rIns="0" bIns="0" rtlCol="0" anchor="t"/>
          <a:lstStyle/>
          <a:p>
            <a:pPr algn="l" indent="0" marL="0">
              <a:lnSpc>
                <a:spcPct val="92000"/>
              </a:lnSpc>
              <a:buNone/>
            </a:pPr>
            <a:r>
              <a:rPr lang="en-US" sz="1000" b="1" dirty="0">
                <a:solidFill>
                  <a:srgbClr val="FFFFFF"/>
                </a:solidFill>
              </a:rPr>
              <a:t>NVIDIA DCGM</a:t>
            </a:r>
            <a:endParaRPr lang="en-US" sz="1000" dirty="0"/>
          </a:p>
          <a:p>
            <a:pPr algn="l" indent="0" marL="0">
              <a:lnSpc>
                <a:spcPct val="92000"/>
              </a:lnSpc>
              <a:buNone/>
            </a:pPr>
            <a:r>
              <a:rPr lang="en-US" sz="800" dirty="0">
                <a:solidFill>
                  <a:srgbClr val="DCE8CF"/>
                </a:solidFill>
              </a:rPr>
              <a:t>19 GPU series</a:t>
            </a:r>
            <a:endParaRPr lang="en-US" sz="1000" dirty="0"/>
          </a:p>
        </p:txBody>
      </p:sp>
      <p:sp>
        <p:nvSpPr>
          <p:cNvPr id="96" name="card-Prometheus"/>
          <p:cNvSpPr/>
          <p:nvPr/>
        </p:nvSpPr>
        <p:spPr>
          <a:xfrm>
            <a:off x="9710928" y="3877056"/>
            <a:ext cx="2023567" cy="402336"/>
          </a:xfrm>
          <a:prstGeom prst="rect">
            <a:avLst/>
          </a:prstGeom>
          <a:solidFill>
            <a:srgbClr val="FFFFFF"/>
          </a:solidFill>
          <a:ln w="12700">
            <a:solidFill>
              <a:srgbClr val="C3CCC0"/>
            </a:solidFill>
            <a:prstDash val="solid"/>
          </a:ln>
        </p:spPr>
      </p:sp>
      <p:sp>
        <p:nvSpPr>
          <p:cNvPr id="97" name="Text 95"/>
          <p:cNvSpPr txBox="1"/>
          <p:nvPr/>
        </p:nvSpPr>
        <p:spPr>
          <a:xfrm>
            <a:off x="9774936" y="3913632"/>
            <a:ext cx="1895551"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Prometheus</a:t>
            </a:r>
            <a:endParaRPr lang="en-US" sz="1000" dirty="0"/>
          </a:p>
          <a:p>
            <a:pPr algn="l" indent="0" marL="0">
              <a:lnSpc>
                <a:spcPct val="92000"/>
              </a:lnSpc>
              <a:buNone/>
            </a:pPr>
            <a:r>
              <a:rPr lang="en-US" sz="800" dirty="0">
                <a:solidFill>
                  <a:srgbClr val="5C6B64"/>
                </a:solidFill>
              </a:rPr>
              <a:t>13 app series</a:t>
            </a:r>
            <a:endParaRPr lang="en-US" sz="1000" dirty="0"/>
          </a:p>
        </p:txBody>
      </p:sp>
      <p:sp>
        <p:nvSpPr>
          <p:cNvPr id="98" name="card-Grafana"/>
          <p:cNvSpPr/>
          <p:nvPr/>
        </p:nvSpPr>
        <p:spPr>
          <a:xfrm>
            <a:off x="9710928" y="4334256"/>
            <a:ext cx="2023567" cy="402336"/>
          </a:xfrm>
          <a:prstGeom prst="rect">
            <a:avLst/>
          </a:prstGeom>
          <a:solidFill>
            <a:srgbClr val="FFFFFF"/>
          </a:solidFill>
          <a:ln w="12700">
            <a:solidFill>
              <a:srgbClr val="C3CCC0"/>
            </a:solidFill>
            <a:prstDash val="solid"/>
          </a:ln>
        </p:spPr>
      </p:sp>
      <p:sp>
        <p:nvSpPr>
          <p:cNvPr id="99" name="Text 97"/>
          <p:cNvSpPr txBox="1"/>
          <p:nvPr/>
        </p:nvSpPr>
        <p:spPr>
          <a:xfrm>
            <a:off x="9774936" y="4370832"/>
            <a:ext cx="1895551"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Grafana</a:t>
            </a:r>
            <a:endParaRPr lang="en-US" sz="1000" dirty="0"/>
          </a:p>
          <a:p>
            <a:pPr algn="l" indent="0" marL="0">
              <a:lnSpc>
                <a:spcPct val="92000"/>
              </a:lnSpc>
              <a:buNone/>
            </a:pPr>
            <a:r>
              <a:rPr lang="en-US" sz="800" dirty="0">
                <a:solidFill>
                  <a:srgbClr val="5C6B64"/>
                </a:solidFill>
              </a:rPr>
              <a:t>11 panels</a:t>
            </a:r>
            <a:endParaRPr lang="en-US" sz="1000" dirty="0"/>
          </a:p>
        </p:txBody>
      </p:sp>
      <p:sp>
        <p:nvSpPr>
          <p:cNvPr id="100" name="card-Store browsers"/>
          <p:cNvSpPr/>
          <p:nvPr/>
        </p:nvSpPr>
        <p:spPr>
          <a:xfrm>
            <a:off x="9710928" y="4791456"/>
            <a:ext cx="2023567" cy="402336"/>
          </a:xfrm>
          <a:prstGeom prst="rect">
            <a:avLst/>
          </a:prstGeom>
          <a:solidFill>
            <a:srgbClr val="FFFFFF"/>
          </a:solidFill>
          <a:ln w="12700">
            <a:solidFill>
              <a:srgbClr val="C3CCC0"/>
            </a:solidFill>
            <a:prstDash val="solid"/>
          </a:ln>
        </p:spPr>
      </p:sp>
      <p:sp>
        <p:nvSpPr>
          <p:cNvPr id="101" name="Text 99"/>
          <p:cNvSpPr txBox="1"/>
          <p:nvPr/>
        </p:nvSpPr>
        <p:spPr>
          <a:xfrm>
            <a:off x="9774936" y="4828032"/>
            <a:ext cx="1895551" cy="3291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Store browsers</a:t>
            </a:r>
            <a:endParaRPr lang="en-US" sz="1000" dirty="0"/>
          </a:p>
          <a:p>
            <a:pPr algn="l" indent="0" marL="0">
              <a:lnSpc>
                <a:spcPct val="92000"/>
              </a:lnSpc>
              <a:buNone/>
            </a:pPr>
            <a:r>
              <a:rPr lang="en-US" sz="800" dirty="0">
                <a:solidFill>
                  <a:srgbClr val="5C6B64"/>
                </a:solidFill>
              </a:rPr>
              <a:t>Attu, sqlite-web</a:t>
            </a:r>
            <a:endParaRPr lang="en-US" sz="1000" dirty="0"/>
          </a:p>
        </p:txBody>
      </p:sp>
      <p:sp>
        <p:nvSpPr>
          <p:cNvPr id="102" name="Shape 100"/>
          <p:cNvSpPr/>
          <p:nvPr/>
        </p:nvSpPr>
        <p:spPr>
          <a:xfrm>
            <a:off x="457200" y="5340096"/>
            <a:ext cx="11277295" cy="237744"/>
          </a:xfrm>
          <a:prstGeom prst="rect">
            <a:avLst/>
          </a:prstGeom>
          <a:solidFill>
            <a:srgbClr val="14302A"/>
          </a:solidFill>
          <a:ln w="12700">
            <a:solidFill>
              <a:srgbClr val="14302A"/>
            </a:solidFill>
            <a:prstDash val="solid"/>
          </a:ln>
        </p:spPr>
      </p:sp>
      <p:sp>
        <p:nvSpPr>
          <p:cNvPr id="103" name="Text 101"/>
          <p:cNvSpPr txBox="1"/>
          <p:nvPr/>
        </p:nvSpPr>
        <p:spPr>
          <a:xfrm>
            <a:off x="566928" y="5340096"/>
            <a:ext cx="1105783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04" name="card-Answer log"/>
          <p:cNvSpPr/>
          <p:nvPr/>
        </p:nvSpPr>
        <p:spPr>
          <a:xfrm>
            <a:off x="457200" y="5650992"/>
            <a:ext cx="2182307" cy="512064"/>
          </a:xfrm>
          <a:prstGeom prst="rect">
            <a:avLst/>
          </a:prstGeom>
          <a:solidFill>
            <a:srgbClr val="FFFFFF"/>
          </a:solidFill>
          <a:ln w="12700">
            <a:solidFill>
              <a:srgbClr val="C3CCC0"/>
            </a:solidFill>
            <a:prstDash val="solid"/>
          </a:ln>
        </p:spPr>
      </p:sp>
      <p:sp>
        <p:nvSpPr>
          <p:cNvPr id="105" name="Text 103"/>
          <p:cNvSpPr txBox="1"/>
          <p:nvPr/>
        </p:nvSpPr>
        <p:spPr>
          <a:xfrm>
            <a:off x="521208" y="5687568"/>
            <a:ext cx="2054291" cy="438912"/>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Answer log</a:t>
            </a:r>
            <a:endParaRPr lang="en-US" sz="950" dirty="0"/>
          </a:p>
          <a:p>
            <a:pPr algn="l" indent="0" marL="0">
              <a:lnSpc>
                <a:spcPct val="92000"/>
              </a:lnSpc>
              <a:buNone/>
            </a:pPr>
            <a:r>
              <a:rPr lang="en-US" sz="750" dirty="0">
                <a:solidFill>
                  <a:srgbClr val="5C6B64"/>
                </a:solidFill>
              </a:rPr>
              <a:t>706 answers, what each cited</a:t>
            </a:r>
            <a:endParaRPr lang="en-US" sz="950" dirty="0"/>
          </a:p>
        </p:txBody>
      </p:sp>
      <p:sp>
        <p:nvSpPr>
          <p:cNvPr id="106" name="card-NeMo Relay"/>
          <p:cNvSpPr/>
          <p:nvPr/>
        </p:nvSpPr>
        <p:spPr>
          <a:xfrm>
            <a:off x="2730947" y="5650992"/>
            <a:ext cx="2182307" cy="512064"/>
          </a:xfrm>
          <a:prstGeom prst="rect">
            <a:avLst/>
          </a:prstGeom>
          <a:solidFill>
            <a:srgbClr val="FFFFFF"/>
          </a:solidFill>
          <a:ln w="22225">
            <a:solidFill>
              <a:srgbClr val="76B900"/>
            </a:solidFill>
            <a:prstDash val="solid"/>
          </a:ln>
        </p:spPr>
      </p:sp>
      <p:sp>
        <p:nvSpPr>
          <p:cNvPr id="107" name="Text 105"/>
          <p:cNvSpPr txBox="1"/>
          <p:nvPr/>
        </p:nvSpPr>
        <p:spPr>
          <a:xfrm>
            <a:off x="2794955" y="5687568"/>
            <a:ext cx="2054291" cy="438912"/>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NeMo Relay</a:t>
            </a:r>
            <a:endParaRPr lang="en-US" sz="950" dirty="0"/>
          </a:p>
          <a:p>
            <a:pPr algn="l" indent="0" marL="0">
              <a:lnSpc>
                <a:spcPct val="92000"/>
              </a:lnSpc>
              <a:buNone/>
            </a:pPr>
            <a:r>
              <a:rPr lang="en-US" sz="750" dirty="0">
                <a:solidFill>
                  <a:srgbClr val="5C6B64"/>
                </a:solidFill>
              </a:rPr>
              <a:t>per-stage trace spans</a:t>
            </a:r>
            <a:endParaRPr lang="en-US" sz="950" dirty="0"/>
          </a:p>
        </p:txBody>
      </p:sp>
      <p:sp>
        <p:nvSpPr>
          <p:cNvPr id="108" name="card-NeMo Evaluator"/>
          <p:cNvSpPr/>
          <p:nvPr/>
        </p:nvSpPr>
        <p:spPr>
          <a:xfrm>
            <a:off x="5004694" y="5650992"/>
            <a:ext cx="2182307" cy="512064"/>
          </a:xfrm>
          <a:prstGeom prst="rect">
            <a:avLst/>
          </a:prstGeom>
          <a:solidFill>
            <a:srgbClr val="FFFFFF"/>
          </a:solidFill>
          <a:ln w="22225">
            <a:solidFill>
              <a:srgbClr val="76B900"/>
            </a:solidFill>
            <a:prstDash val="solid"/>
          </a:ln>
        </p:spPr>
      </p:sp>
      <p:sp>
        <p:nvSpPr>
          <p:cNvPr id="109" name="Text 107"/>
          <p:cNvSpPr txBox="1"/>
          <p:nvPr/>
        </p:nvSpPr>
        <p:spPr>
          <a:xfrm>
            <a:off x="5068702" y="5687568"/>
            <a:ext cx="2054291" cy="438912"/>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NeMo Evaluator</a:t>
            </a:r>
            <a:endParaRPr lang="en-US" sz="950" dirty="0"/>
          </a:p>
          <a:p>
            <a:pPr algn="l" indent="0" marL="0">
              <a:lnSpc>
                <a:spcPct val="92000"/>
              </a:lnSpc>
              <a:buNone/>
            </a:pPr>
            <a:r>
              <a:rPr lang="en-US" sz="750" dirty="0">
                <a:solidFill>
                  <a:srgbClr val="5C6B64"/>
                </a:solidFill>
              </a:rPr>
              <a:t>six measures, run over run</a:t>
            </a:r>
            <a:endParaRPr lang="en-US" sz="950" dirty="0"/>
          </a:p>
        </p:txBody>
      </p:sp>
      <p:sp>
        <p:nvSpPr>
          <p:cNvPr id="110" name="card-Riva Magpie TTS"/>
          <p:cNvSpPr/>
          <p:nvPr/>
        </p:nvSpPr>
        <p:spPr>
          <a:xfrm>
            <a:off x="7278441" y="5650992"/>
            <a:ext cx="2182307" cy="512064"/>
          </a:xfrm>
          <a:prstGeom prst="rect">
            <a:avLst/>
          </a:prstGeom>
          <a:solidFill>
            <a:srgbClr val="5B8C3A"/>
          </a:solidFill>
          <a:ln w="19050">
            <a:solidFill>
              <a:srgbClr val="446B29"/>
            </a:solidFill>
            <a:prstDash val="solid"/>
          </a:ln>
        </p:spPr>
      </p:sp>
      <p:sp>
        <p:nvSpPr>
          <p:cNvPr id="111" name="Text 109"/>
          <p:cNvSpPr txBox="1"/>
          <p:nvPr/>
        </p:nvSpPr>
        <p:spPr>
          <a:xfrm>
            <a:off x="7342449" y="5687568"/>
            <a:ext cx="2054291" cy="438912"/>
          </a:xfrm>
          <a:prstGeom prst="rect">
            <a:avLst/>
          </a:prstGeom>
          <a:noFill/>
          <a:ln/>
        </p:spPr>
        <p:txBody>
          <a:bodyPr wrap="square" lIns="0" tIns="0" rIns="0" bIns="0" rtlCol="0" anchor="t"/>
          <a:lstStyle/>
          <a:p>
            <a:pPr algn="l" indent="0" marL="0">
              <a:lnSpc>
                <a:spcPct val="92000"/>
              </a:lnSpc>
              <a:buNone/>
            </a:pPr>
            <a:r>
              <a:rPr lang="en-US" sz="950" b="1" dirty="0">
                <a:solidFill>
                  <a:srgbClr val="FFFFFF"/>
                </a:solidFill>
              </a:rPr>
              <a:t>Riva Magpie TTS</a:t>
            </a:r>
            <a:endParaRPr lang="en-US" sz="950" dirty="0"/>
          </a:p>
          <a:p>
            <a:pPr algn="l" indent="0" marL="0">
              <a:lnSpc>
                <a:spcPct val="92000"/>
              </a:lnSpc>
              <a:buNone/>
            </a:pPr>
            <a:r>
              <a:rPr lang="en-US" sz="750" dirty="0">
                <a:solidFill>
                  <a:srgbClr val="DCE8CF"/>
                </a:solidFill>
              </a:rPr>
              <a:t>the spoken-update test harness</a:t>
            </a:r>
            <a:endParaRPr lang="en-US" sz="950" dirty="0"/>
          </a:p>
        </p:txBody>
      </p:sp>
      <p:sp>
        <p:nvSpPr>
          <p:cNvPr id="112" name="card-Acceptance gates"/>
          <p:cNvSpPr/>
          <p:nvPr/>
        </p:nvSpPr>
        <p:spPr>
          <a:xfrm>
            <a:off x="9552188" y="5650992"/>
            <a:ext cx="2182307" cy="512064"/>
          </a:xfrm>
          <a:prstGeom prst="rect">
            <a:avLst/>
          </a:prstGeom>
          <a:solidFill>
            <a:srgbClr val="FFFFFF"/>
          </a:solidFill>
          <a:ln w="12700">
            <a:solidFill>
              <a:srgbClr val="C3CCC0"/>
            </a:solidFill>
            <a:prstDash val="solid"/>
          </a:ln>
        </p:spPr>
      </p:sp>
      <p:sp>
        <p:nvSpPr>
          <p:cNvPr id="113" name="Text 111"/>
          <p:cNvSpPr txBox="1"/>
          <p:nvPr/>
        </p:nvSpPr>
        <p:spPr>
          <a:xfrm>
            <a:off x="9616196" y="5687568"/>
            <a:ext cx="2054291" cy="438912"/>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Acceptance gates</a:t>
            </a:r>
            <a:endParaRPr lang="en-US" sz="950" dirty="0"/>
          </a:p>
          <a:p>
            <a:pPr algn="l" indent="0" marL="0">
              <a:lnSpc>
                <a:spcPct val="92000"/>
              </a:lnSpc>
              <a:buNone/>
            </a:pPr>
            <a:r>
              <a:rPr lang="en-US" sz="750" dirty="0">
                <a:solidFill>
                  <a:srgbClr val="5C6B64"/>
                </a:solidFill>
              </a:rPr>
              <a:t>routing 90 · grounding 100 · refusal 100</a:t>
            </a:r>
            <a:endParaRPr lang="en-US" sz="950" dirty="0"/>
          </a:p>
        </p:txBody>
      </p:sp>
      <p:sp>
        <p:nvSpPr>
          <p:cNvPr id="114" name="Text 112"/>
          <p:cNvSpPr txBox="1"/>
          <p:nvPr/>
        </p:nvSpPr>
        <p:spPr>
          <a:xfrm>
            <a:off x="457200" y="6254496"/>
            <a:ext cx="11277295" cy="274320"/>
          </a:xfrm>
          <a:prstGeom prst="rect">
            <a:avLst/>
          </a:prstGeom>
          <a:noFill/>
          <a:ln/>
        </p:spPr>
        <p:txBody>
          <a:bodyPr wrap="square" lIns="0" tIns="0" rIns="0" bIns="0" rtlCol="0" anchor="ctr"/>
          <a:lstStyle/>
          <a:p>
            <a:pPr indent="0" marL="0">
              <a:buNone/>
            </a:pPr>
            <a:r>
              <a:rPr lang="en-US" sz="900" i="1" dirty="0">
                <a:solidFill>
                  <a:srgbClr val="5C6B64"/>
                </a:solidFill>
              </a:rPr>
              <a:t>NemoClaw / OpenShell — the sandbox gateway — is blocked by a platform fault and is the one NVIDIA component of fourteen not running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One loop, not two paths: what a technician says becomes the state and the corpus a manager's question is then answered from</a:t>
            </a:r>
            <a:endParaRPr lang="en-US" sz="1100" dirty="0"/>
          </a:p>
        </p:txBody>
      </p:sp>
      <p:sp>
        <p:nvSpPr>
          <p:cNvPr id="4" name="Shape 2"/>
          <p:cNvSpPr/>
          <p:nvPr/>
        </p:nvSpPr>
        <p:spPr>
          <a:xfrm>
            <a:off x="457200" y="1078992"/>
            <a:ext cx="11277295" cy="219456"/>
          </a:xfrm>
          <a:prstGeom prst="rect">
            <a:avLst/>
          </a:prstGeom>
          <a:solidFill>
            <a:srgbClr val="14302A"/>
          </a:solidFill>
          <a:ln w="12700">
            <a:solidFill>
              <a:srgbClr val="14302A"/>
            </a:solidFill>
            <a:prstDash val="solid"/>
          </a:ln>
        </p:spPr>
      </p:sp>
      <p:sp>
        <p:nvSpPr>
          <p:cNvPr id="5" name="Text 3"/>
          <p:cNvSpPr txBox="1"/>
          <p:nvPr/>
        </p:nvSpPr>
        <p:spPr>
          <a:xfrm>
            <a:off x="566928" y="1078992"/>
            <a:ext cx="11057839" cy="219456"/>
          </a:xfrm>
          <a:prstGeom prst="rect">
            <a:avLst/>
          </a:prstGeom>
          <a:noFill/>
          <a:ln/>
        </p:spPr>
        <p:txBody>
          <a:bodyPr wrap="square" lIns="0" tIns="0" rIns="0" bIns="0" rtlCol="0" anchor="ctr"/>
          <a:lstStyle/>
          <a:p>
            <a:pPr algn="l" indent="0" marL="0">
              <a:buNone/>
            </a:pPr>
            <a:r>
              <a:rPr lang="en-US" sz="950" b="1" spc="60" kern="0" dirty="0">
                <a:solidFill>
                  <a:srgbClr val="FFFFFF"/>
                </a:solidFill>
              </a:rPr>
              <a:t>CAPTURE  →  STATE   ·   what a technician says, becoming the record</a:t>
            </a:r>
            <a:endParaRPr lang="en-US" sz="950" dirty="0"/>
          </a:p>
        </p:txBody>
      </p:sp>
      <p:sp>
        <p:nvSpPr>
          <p:cNvPr id="6" name="step-Capture"/>
          <p:cNvSpPr/>
          <p:nvPr/>
        </p:nvSpPr>
        <p:spPr>
          <a:xfrm>
            <a:off x="457200" y="1371600"/>
            <a:ext cx="1564016" cy="749808"/>
          </a:xfrm>
          <a:prstGeom prst="rect">
            <a:avLst/>
          </a:prstGeom>
          <a:solidFill>
            <a:srgbClr val="FFFFFF"/>
          </a:solidFill>
          <a:ln w="12700">
            <a:solidFill>
              <a:srgbClr val="C3CCC0"/>
            </a:solidFill>
            <a:prstDash val="solid"/>
          </a:ln>
        </p:spPr>
      </p:sp>
      <p:sp>
        <p:nvSpPr>
          <p:cNvPr id="7" name="Text 5"/>
          <p:cNvSpPr txBox="1"/>
          <p:nvPr/>
        </p:nvSpPr>
        <p:spPr>
          <a:xfrm>
            <a:off x="530352" y="1426464"/>
            <a:ext cx="1417712"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Capture</a:t>
            </a:r>
            <a:endParaRPr lang="en-US" sz="950" dirty="0"/>
          </a:p>
          <a:p>
            <a:pPr indent="0" marL="0">
              <a:lnSpc>
                <a:spcPct val="90000"/>
              </a:lnSpc>
              <a:buNone/>
            </a:pPr>
            <a:r>
              <a:rPr lang="en-US" sz="750" dirty="0">
                <a:solidFill>
                  <a:srgbClr val="5C6B64"/>
                </a:solidFill>
              </a:rPr>
              <a:t>spoken or typed, one entry point</a:t>
            </a:r>
            <a:endParaRPr lang="en-US" sz="950" dirty="0"/>
          </a:p>
        </p:txBody>
      </p:sp>
      <p:sp>
        <p:nvSpPr>
          <p:cNvPr id="8" name="step-Riva Parakeet AS"/>
          <p:cNvSpPr/>
          <p:nvPr/>
        </p:nvSpPr>
        <p:spPr>
          <a:xfrm>
            <a:off x="2076080" y="1371600"/>
            <a:ext cx="1564016" cy="749808"/>
          </a:xfrm>
          <a:prstGeom prst="chevron">
            <a:avLst/>
          </a:prstGeom>
          <a:solidFill>
            <a:srgbClr val="5B8C3A"/>
          </a:solidFill>
          <a:ln w="19050">
            <a:solidFill>
              <a:srgbClr val="446B29"/>
            </a:solidFill>
            <a:prstDash val="solid"/>
          </a:ln>
        </p:spPr>
      </p:sp>
      <p:sp>
        <p:nvSpPr>
          <p:cNvPr id="9" name="Text 7"/>
          <p:cNvSpPr txBox="1"/>
          <p:nvPr/>
        </p:nvSpPr>
        <p:spPr>
          <a:xfrm>
            <a:off x="2258960"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FFFFFF"/>
                </a:solidFill>
              </a:rPr>
              <a:t>Riva Parakeet ASR</a:t>
            </a:r>
            <a:endParaRPr lang="en-US" sz="950" dirty="0"/>
          </a:p>
          <a:p>
            <a:pPr indent="0" marL="0">
              <a:lnSpc>
                <a:spcPct val="90000"/>
              </a:lnSpc>
              <a:buNone/>
            </a:pPr>
            <a:r>
              <a:rPr lang="en-US" sz="750" dirty="0">
                <a:solidFill>
                  <a:srgbClr val="DCE8CF"/>
                </a:solidFill>
              </a:rPr>
              <a:t>speech to text, streaming or offline</a:t>
            </a:r>
            <a:endParaRPr lang="en-US" sz="950" dirty="0"/>
          </a:p>
        </p:txBody>
      </p:sp>
      <p:sp>
        <p:nvSpPr>
          <p:cNvPr id="10" name="step-Nemotron Nano 8B"/>
          <p:cNvSpPr/>
          <p:nvPr/>
        </p:nvSpPr>
        <p:spPr>
          <a:xfrm>
            <a:off x="3694960" y="1371600"/>
            <a:ext cx="1564016" cy="749808"/>
          </a:xfrm>
          <a:prstGeom prst="chevron">
            <a:avLst/>
          </a:prstGeom>
          <a:solidFill>
            <a:srgbClr val="5B8C3A"/>
          </a:solidFill>
          <a:ln w="19050">
            <a:solidFill>
              <a:srgbClr val="446B29"/>
            </a:solidFill>
            <a:prstDash val="solid"/>
          </a:ln>
        </p:spPr>
      </p:sp>
      <p:sp>
        <p:nvSpPr>
          <p:cNvPr id="11" name="Text 9"/>
          <p:cNvSpPr txBox="1"/>
          <p:nvPr/>
        </p:nvSpPr>
        <p:spPr>
          <a:xfrm>
            <a:off x="3877840"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FFFFFF"/>
                </a:solidFill>
              </a:rPr>
              <a:t>Nemotron Nano 8B</a:t>
            </a:r>
            <a:endParaRPr lang="en-US" sz="950" dirty="0"/>
          </a:p>
          <a:p>
            <a:pPr indent="0" marL="0">
              <a:lnSpc>
                <a:spcPct val="90000"/>
              </a:lnSpc>
              <a:buNone/>
            </a:pPr>
            <a:r>
              <a:rPr lang="en-US" sz="750" dirty="0">
                <a:solidFill>
                  <a:srgbClr val="DCE8CF"/>
                </a:solidFill>
              </a:rPr>
              <a:t>prose → strict JSON</a:t>
            </a:r>
            <a:endParaRPr lang="en-US" sz="950" dirty="0"/>
          </a:p>
        </p:txBody>
      </p:sp>
      <p:sp>
        <p:nvSpPr>
          <p:cNvPr id="12" name="step-Resolve"/>
          <p:cNvSpPr/>
          <p:nvPr/>
        </p:nvSpPr>
        <p:spPr>
          <a:xfrm>
            <a:off x="5313840" y="1371600"/>
            <a:ext cx="1564016" cy="749808"/>
          </a:xfrm>
          <a:prstGeom prst="chevron">
            <a:avLst/>
          </a:prstGeom>
          <a:solidFill>
            <a:srgbClr val="FFFFFF"/>
          </a:solidFill>
          <a:ln w="12700">
            <a:solidFill>
              <a:srgbClr val="C3CCC0"/>
            </a:solidFill>
            <a:prstDash val="solid"/>
          </a:ln>
        </p:spPr>
      </p:sp>
      <p:sp>
        <p:nvSpPr>
          <p:cNvPr id="13" name="Text 11"/>
          <p:cNvSpPr txBox="1"/>
          <p:nvPr/>
        </p:nvSpPr>
        <p:spPr>
          <a:xfrm>
            <a:off x="5496720"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Resolve</a:t>
            </a:r>
            <a:endParaRPr lang="en-US" sz="950" dirty="0"/>
          </a:p>
          <a:p>
            <a:pPr indent="0" marL="0">
              <a:lnSpc>
                <a:spcPct val="90000"/>
              </a:lnSpc>
              <a:buNone/>
            </a:pPr>
            <a:r>
              <a:rPr lang="en-US" sz="750" dirty="0">
                <a:solidFill>
                  <a:srgbClr val="5C6B64"/>
                </a:solidFill>
              </a:rPr>
              <a:t>repair orders, op codes, spoken digits</a:t>
            </a:r>
            <a:endParaRPr lang="en-US" sz="950" dirty="0"/>
          </a:p>
        </p:txBody>
      </p:sp>
      <p:sp>
        <p:nvSpPr>
          <p:cNvPr id="14" name="step-Reconcile"/>
          <p:cNvSpPr/>
          <p:nvPr/>
        </p:nvSpPr>
        <p:spPr>
          <a:xfrm>
            <a:off x="6932720" y="1371600"/>
            <a:ext cx="1564016" cy="749808"/>
          </a:xfrm>
          <a:prstGeom prst="chevron">
            <a:avLst/>
          </a:prstGeom>
          <a:solidFill>
            <a:srgbClr val="FFFFFF"/>
          </a:solidFill>
          <a:ln w="12700">
            <a:solidFill>
              <a:srgbClr val="C3CCC0"/>
            </a:solidFill>
            <a:prstDash val="solid"/>
          </a:ln>
        </p:spPr>
      </p:sp>
      <p:sp>
        <p:nvSpPr>
          <p:cNvPr id="15" name="Text 13"/>
          <p:cNvSpPr txBox="1"/>
          <p:nvPr/>
        </p:nvSpPr>
        <p:spPr>
          <a:xfrm>
            <a:off x="7115600"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Reconcile</a:t>
            </a:r>
            <a:endParaRPr lang="en-US" sz="950" dirty="0"/>
          </a:p>
          <a:p>
            <a:pPr indent="0" marL="0">
              <a:lnSpc>
                <a:spcPct val="90000"/>
              </a:lnSpc>
              <a:buNone/>
            </a:pPr>
            <a:r>
              <a:rPr lang="en-US" sz="750" dirty="0">
                <a:solidFill>
                  <a:srgbClr val="5C6B64"/>
                </a:solidFill>
              </a:rPr>
              <a:t>new facts vs the snapshot; conflicts surfaced</a:t>
            </a:r>
            <a:endParaRPr lang="en-US" sz="950" dirty="0"/>
          </a:p>
        </p:txBody>
      </p:sp>
      <p:sp>
        <p:nvSpPr>
          <p:cNvPr id="16" name="step-Append + fold"/>
          <p:cNvSpPr/>
          <p:nvPr/>
        </p:nvSpPr>
        <p:spPr>
          <a:xfrm>
            <a:off x="8551599" y="1371600"/>
            <a:ext cx="1564016" cy="749808"/>
          </a:xfrm>
          <a:prstGeom prst="chevron">
            <a:avLst/>
          </a:prstGeom>
          <a:solidFill>
            <a:srgbClr val="FFFFFF"/>
          </a:solidFill>
          <a:ln w="12700">
            <a:solidFill>
              <a:srgbClr val="C3CCC0"/>
            </a:solidFill>
            <a:prstDash val="solid"/>
          </a:ln>
        </p:spPr>
      </p:sp>
      <p:sp>
        <p:nvSpPr>
          <p:cNvPr id="17" name="Text 15"/>
          <p:cNvSpPr txBox="1"/>
          <p:nvPr/>
        </p:nvSpPr>
        <p:spPr>
          <a:xfrm>
            <a:off x="8734479"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Append + fold</a:t>
            </a:r>
            <a:endParaRPr lang="en-US" sz="950" dirty="0"/>
          </a:p>
          <a:p>
            <a:pPr indent="0" marL="0">
              <a:lnSpc>
                <a:spcPct val="90000"/>
              </a:lnSpc>
              <a:buNone/>
            </a:pPr>
            <a:r>
              <a:rPr lang="en-US" sz="750" dirty="0">
                <a:solidFill>
                  <a:srgbClr val="5C6B64"/>
                </a:solidFill>
              </a:rPr>
              <a:t>append-only log; state derived on read</a:t>
            </a:r>
            <a:endParaRPr lang="en-US" sz="950" dirty="0"/>
          </a:p>
        </p:txBody>
      </p:sp>
      <p:sp>
        <p:nvSpPr>
          <p:cNvPr id="18" name="step-Curate + embed"/>
          <p:cNvSpPr/>
          <p:nvPr/>
        </p:nvSpPr>
        <p:spPr>
          <a:xfrm>
            <a:off x="10170479" y="1371600"/>
            <a:ext cx="1564016" cy="749808"/>
          </a:xfrm>
          <a:prstGeom prst="chevron">
            <a:avLst/>
          </a:prstGeom>
          <a:solidFill>
            <a:srgbClr val="FFFFFF"/>
          </a:solidFill>
          <a:ln w="22225">
            <a:solidFill>
              <a:srgbClr val="76B900"/>
            </a:solidFill>
            <a:prstDash val="solid"/>
          </a:ln>
        </p:spPr>
      </p:sp>
      <p:sp>
        <p:nvSpPr>
          <p:cNvPr id="19" name="Text 17"/>
          <p:cNvSpPr txBox="1"/>
          <p:nvPr/>
        </p:nvSpPr>
        <p:spPr>
          <a:xfrm>
            <a:off x="10353359" y="142646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Curate + embed</a:t>
            </a:r>
            <a:endParaRPr lang="en-US" sz="950" dirty="0"/>
          </a:p>
          <a:p>
            <a:pPr indent="0" marL="0">
              <a:lnSpc>
                <a:spcPct val="90000"/>
              </a:lnSpc>
              <a:buNone/>
            </a:pPr>
            <a:r>
              <a:rPr lang="en-US" sz="750" dirty="0">
                <a:solidFill>
                  <a:srgbClr val="5C6B64"/>
                </a:solidFill>
              </a:rPr>
              <a:t>injection quarantined, then 1024-dim vectors</a:t>
            </a:r>
            <a:endParaRPr lang="en-US" sz="950" dirty="0"/>
          </a:p>
        </p:txBody>
      </p:sp>
      <p:sp>
        <p:nvSpPr>
          <p:cNvPr id="20" name="Shape 18"/>
          <p:cNvSpPr/>
          <p:nvPr/>
        </p:nvSpPr>
        <p:spPr>
          <a:xfrm>
            <a:off x="5897880" y="2212848"/>
            <a:ext cx="384048" cy="237744"/>
          </a:xfrm>
          <a:prstGeom prst="downArrow">
            <a:avLst/>
          </a:prstGeom>
          <a:solidFill>
            <a:srgbClr val="76B900"/>
          </a:solidFill>
          <a:ln w="12700">
            <a:solidFill>
              <a:srgbClr val="76B900"/>
            </a:solidFill>
            <a:prstDash val="solid"/>
          </a:ln>
        </p:spPr>
      </p:sp>
      <p:sp>
        <p:nvSpPr>
          <p:cNvPr id="21" name="Shape 19"/>
          <p:cNvSpPr/>
          <p:nvPr/>
        </p:nvSpPr>
        <p:spPr>
          <a:xfrm>
            <a:off x="457200" y="2505456"/>
            <a:ext cx="11277295" cy="219456"/>
          </a:xfrm>
          <a:prstGeom prst="rect">
            <a:avLst/>
          </a:prstGeom>
          <a:solidFill>
            <a:srgbClr val="1E4035"/>
          </a:solidFill>
          <a:ln w="12700">
            <a:solidFill>
              <a:srgbClr val="1E4035"/>
            </a:solidFill>
            <a:prstDash val="solid"/>
          </a:ln>
        </p:spPr>
      </p:sp>
      <p:sp>
        <p:nvSpPr>
          <p:cNvPr id="22" name="Text 20"/>
          <p:cNvSpPr txBox="1"/>
          <p:nvPr/>
        </p:nvSpPr>
        <p:spPr>
          <a:xfrm>
            <a:off x="566928" y="2505456"/>
            <a:ext cx="11057839" cy="219456"/>
          </a:xfrm>
          <a:prstGeom prst="rect">
            <a:avLst/>
          </a:prstGeom>
          <a:noFill/>
          <a:ln/>
        </p:spPr>
        <p:txBody>
          <a:bodyPr wrap="square" lIns="0" tIns="0" rIns="0" bIns="0" rtlCol="0" anchor="ctr"/>
          <a:lstStyle/>
          <a:p>
            <a:pPr algn="ctr" indent="0" marL="0">
              <a:buNone/>
            </a:pPr>
            <a:r>
              <a:rPr lang="en-US" sz="950" b="1" spc="60" kern="0" dirty="0">
                <a:solidFill>
                  <a:srgbClr val="FFFFFF"/>
                </a:solidFill>
              </a:rPr>
              <a:t>SYSTEM OF RECORD   ·   the only thing both halves share</a:t>
            </a:r>
            <a:endParaRPr lang="en-US" sz="950" dirty="0"/>
          </a:p>
        </p:txBody>
      </p:sp>
      <p:sp>
        <p:nvSpPr>
          <p:cNvPr id="23" name="card-Event log — 10,927"/>
          <p:cNvSpPr/>
          <p:nvPr/>
        </p:nvSpPr>
        <p:spPr>
          <a:xfrm>
            <a:off x="457200" y="2798064"/>
            <a:ext cx="5547208" cy="566928"/>
          </a:xfrm>
          <a:prstGeom prst="rect">
            <a:avLst/>
          </a:prstGeom>
          <a:solidFill>
            <a:srgbClr val="FFFFFF"/>
          </a:solidFill>
          <a:ln w="12700">
            <a:solidFill>
              <a:srgbClr val="C3CCC0"/>
            </a:solidFill>
            <a:prstDash val="solid"/>
          </a:ln>
        </p:spPr>
      </p:sp>
      <p:sp>
        <p:nvSpPr>
          <p:cNvPr id="24" name="Text 22"/>
          <p:cNvSpPr txBox="1"/>
          <p:nvPr/>
        </p:nvSpPr>
        <p:spPr>
          <a:xfrm>
            <a:off x="521208" y="2834640"/>
            <a:ext cx="5419192" cy="493776"/>
          </a:xfrm>
          <a:prstGeom prst="rect">
            <a:avLst/>
          </a:prstGeom>
          <a:noFill/>
          <a:ln/>
        </p:spPr>
        <p:txBody>
          <a:bodyPr wrap="square" lIns="0" tIns="0" rIns="0" bIns="0" rtlCol="0" anchor="t"/>
          <a:lstStyle/>
          <a:p>
            <a:pPr algn="l" indent="0" marL="0">
              <a:lnSpc>
                <a:spcPct val="92000"/>
              </a:lnSpc>
              <a:buNone/>
            </a:pPr>
            <a:r>
              <a:rPr lang="en-US" sz="1050" b="1" dirty="0">
                <a:solidFill>
                  <a:srgbClr val="14302A"/>
                </a:solidFill>
              </a:rPr>
              <a:t>Event log — 10,927 events</a:t>
            </a:r>
            <a:endParaRPr lang="en-US" sz="1050" dirty="0"/>
          </a:p>
          <a:p>
            <a:pPr algn="l" indent="0" marL="0">
              <a:lnSpc>
                <a:spcPct val="92000"/>
              </a:lnSpc>
              <a:buNone/>
            </a:pPr>
            <a:r>
              <a:rPr lang="en-US" sz="850" dirty="0">
                <a:solidFill>
                  <a:srgbClr val="5C6B64"/>
                </a:solidFill>
              </a:rPr>
              <a:t>Append-only. Every repair order's state is folded from it on each read, never stored.</a:t>
            </a:r>
            <a:endParaRPr lang="en-US" sz="1050" dirty="0"/>
          </a:p>
        </p:txBody>
      </p:sp>
      <p:sp>
        <p:nvSpPr>
          <p:cNvPr id="25" name="card-Vector index — 1,9"/>
          <p:cNvSpPr/>
          <p:nvPr/>
        </p:nvSpPr>
        <p:spPr>
          <a:xfrm>
            <a:off x="6187288" y="2798064"/>
            <a:ext cx="5547208" cy="566928"/>
          </a:xfrm>
          <a:prstGeom prst="rect">
            <a:avLst/>
          </a:prstGeom>
          <a:solidFill>
            <a:srgbClr val="FFFFFF"/>
          </a:solidFill>
          <a:ln w="12700">
            <a:solidFill>
              <a:srgbClr val="C3CCC0"/>
            </a:solidFill>
            <a:prstDash val="solid"/>
          </a:ln>
        </p:spPr>
      </p:sp>
      <p:sp>
        <p:nvSpPr>
          <p:cNvPr id="26" name="Text 24"/>
          <p:cNvSpPr txBox="1"/>
          <p:nvPr/>
        </p:nvSpPr>
        <p:spPr>
          <a:xfrm>
            <a:off x="6251296" y="2834640"/>
            <a:ext cx="5419192" cy="493776"/>
          </a:xfrm>
          <a:prstGeom prst="rect">
            <a:avLst/>
          </a:prstGeom>
          <a:noFill/>
          <a:ln/>
        </p:spPr>
        <p:txBody>
          <a:bodyPr wrap="square" lIns="0" tIns="0" rIns="0" bIns="0" rtlCol="0" anchor="t"/>
          <a:lstStyle/>
          <a:p>
            <a:pPr algn="l" indent="0" marL="0">
              <a:lnSpc>
                <a:spcPct val="92000"/>
              </a:lnSpc>
              <a:buNone/>
            </a:pPr>
            <a:r>
              <a:rPr lang="en-US" sz="1050" b="1" dirty="0">
                <a:solidFill>
                  <a:srgbClr val="14302A"/>
                </a:solidFill>
              </a:rPr>
              <a:t>Vector index — 1,949 passages @ 1024d</a:t>
            </a:r>
            <a:endParaRPr lang="en-US" sz="1050" dirty="0"/>
          </a:p>
          <a:p>
            <a:pPr algn="l" indent="0" marL="0">
              <a:lnSpc>
                <a:spcPct val="92000"/>
              </a:lnSpc>
              <a:buNone/>
            </a:pPr>
            <a:r>
              <a:rPr lang="en-US" sz="850" dirty="0">
                <a:solidFill>
                  <a:srgbClr val="5C6B64"/>
                </a:solidFill>
              </a:rPr>
              <a:t>Derived, and rebuildable from the log. Holds no fact the record does not.</a:t>
            </a:r>
            <a:endParaRPr lang="en-US" sz="1050" dirty="0"/>
          </a:p>
        </p:txBody>
      </p:sp>
      <p:sp>
        <p:nvSpPr>
          <p:cNvPr id="27" name="Shape 25"/>
          <p:cNvSpPr/>
          <p:nvPr/>
        </p:nvSpPr>
        <p:spPr>
          <a:xfrm>
            <a:off x="5897880" y="3438144"/>
            <a:ext cx="384048" cy="237744"/>
          </a:xfrm>
          <a:prstGeom prst="downArrow">
            <a:avLst/>
          </a:prstGeom>
          <a:solidFill>
            <a:srgbClr val="76B900"/>
          </a:solidFill>
          <a:ln w="12700">
            <a:solidFill>
              <a:srgbClr val="76B900"/>
            </a:solidFill>
            <a:prstDash val="solid"/>
          </a:ln>
        </p:spPr>
      </p:sp>
      <p:sp>
        <p:nvSpPr>
          <p:cNvPr id="28" name="Shape 26"/>
          <p:cNvSpPr/>
          <p:nvPr/>
        </p:nvSpPr>
        <p:spPr>
          <a:xfrm>
            <a:off x="457200" y="3730752"/>
            <a:ext cx="11277295" cy="219456"/>
          </a:xfrm>
          <a:prstGeom prst="rect">
            <a:avLst/>
          </a:prstGeom>
          <a:solidFill>
            <a:srgbClr val="14302A"/>
          </a:solidFill>
          <a:ln w="12700">
            <a:solidFill>
              <a:srgbClr val="14302A"/>
            </a:solidFill>
            <a:prstDash val="solid"/>
          </a:ln>
        </p:spPr>
      </p:sp>
      <p:sp>
        <p:nvSpPr>
          <p:cNvPr id="29" name="Text 27"/>
          <p:cNvSpPr txBox="1"/>
          <p:nvPr/>
        </p:nvSpPr>
        <p:spPr>
          <a:xfrm>
            <a:off x="566928" y="3730752"/>
            <a:ext cx="11057839" cy="219456"/>
          </a:xfrm>
          <a:prstGeom prst="rect">
            <a:avLst/>
          </a:prstGeom>
          <a:noFill/>
          <a:ln/>
        </p:spPr>
        <p:txBody>
          <a:bodyPr wrap="square" lIns="0" tIns="0" rIns="0" bIns="0" rtlCol="0" anchor="ctr"/>
          <a:lstStyle/>
          <a:p>
            <a:pPr algn="l" indent="0" marL="0">
              <a:buNone/>
            </a:pPr>
            <a:r>
              <a:rPr lang="en-US" sz="950" b="1" spc="60" kern="0" dirty="0">
                <a:solidFill>
                  <a:srgbClr val="FFFFFF"/>
                </a:solidFill>
              </a:rPr>
              <a:t>QUESTION  →  CITED ANSWER   ·   and what a manager can then ask of it</a:t>
            </a:r>
            <a:endParaRPr lang="en-US" sz="950" dirty="0"/>
          </a:p>
        </p:txBody>
      </p:sp>
      <p:sp>
        <p:nvSpPr>
          <p:cNvPr id="30" name="step-Question"/>
          <p:cNvSpPr/>
          <p:nvPr/>
        </p:nvSpPr>
        <p:spPr>
          <a:xfrm>
            <a:off x="457200" y="4023360"/>
            <a:ext cx="1564016" cy="749808"/>
          </a:xfrm>
          <a:prstGeom prst="rect">
            <a:avLst/>
          </a:prstGeom>
          <a:solidFill>
            <a:srgbClr val="FFFFFF"/>
          </a:solidFill>
          <a:ln w="12700">
            <a:solidFill>
              <a:srgbClr val="C3CCC0"/>
            </a:solidFill>
            <a:prstDash val="solid"/>
          </a:ln>
        </p:spPr>
      </p:sp>
      <p:sp>
        <p:nvSpPr>
          <p:cNvPr id="31" name="Text 29"/>
          <p:cNvSpPr txBox="1"/>
          <p:nvPr/>
        </p:nvSpPr>
        <p:spPr>
          <a:xfrm>
            <a:off x="530352" y="4078224"/>
            <a:ext cx="1417712"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Question</a:t>
            </a:r>
            <a:endParaRPr lang="en-US" sz="950" dirty="0"/>
          </a:p>
          <a:p>
            <a:pPr indent="0" marL="0">
              <a:lnSpc>
                <a:spcPct val="90000"/>
              </a:lnSpc>
              <a:buNone/>
            </a:pPr>
            <a:r>
              <a:rPr lang="en-US" sz="750" dirty="0">
                <a:solidFill>
                  <a:srgbClr val="5C6B64"/>
                </a:solidFill>
              </a:rPr>
              <a:t>console or HTTP API</a:t>
            </a:r>
            <a:endParaRPr lang="en-US" sz="950" dirty="0"/>
          </a:p>
        </p:txBody>
      </p:sp>
      <p:sp>
        <p:nvSpPr>
          <p:cNvPr id="32" name="step-Rails"/>
          <p:cNvSpPr/>
          <p:nvPr/>
        </p:nvSpPr>
        <p:spPr>
          <a:xfrm>
            <a:off x="2076080" y="4023360"/>
            <a:ext cx="1564016" cy="749808"/>
          </a:xfrm>
          <a:prstGeom prst="chevron">
            <a:avLst/>
          </a:prstGeom>
          <a:solidFill>
            <a:srgbClr val="FFFFFF"/>
          </a:solidFill>
          <a:ln w="22225">
            <a:solidFill>
              <a:srgbClr val="76B900"/>
            </a:solidFill>
            <a:prstDash val="solid"/>
          </a:ln>
        </p:spPr>
      </p:sp>
      <p:sp>
        <p:nvSpPr>
          <p:cNvPr id="33" name="Text 31"/>
          <p:cNvSpPr txBox="1"/>
          <p:nvPr/>
        </p:nvSpPr>
        <p:spPr>
          <a:xfrm>
            <a:off x="2258960"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Rails</a:t>
            </a:r>
            <a:endParaRPr lang="en-US" sz="950" dirty="0"/>
          </a:p>
          <a:p>
            <a:pPr indent="0" marL="0">
              <a:lnSpc>
                <a:spcPct val="90000"/>
              </a:lnSpc>
              <a:buNone/>
            </a:pPr>
            <a:r>
              <a:rPr lang="en-US" sz="750" dirty="0">
                <a:solidFill>
                  <a:srgbClr val="5C6B64"/>
                </a:solidFill>
              </a:rPr>
              <a:t>injection, scope and NeMo self-check, before any model</a:t>
            </a:r>
            <a:endParaRPr lang="en-US" sz="950" dirty="0"/>
          </a:p>
        </p:txBody>
      </p:sp>
      <p:sp>
        <p:nvSpPr>
          <p:cNvPr id="34" name="step-Plan"/>
          <p:cNvSpPr/>
          <p:nvPr/>
        </p:nvSpPr>
        <p:spPr>
          <a:xfrm>
            <a:off x="3694960" y="4023360"/>
            <a:ext cx="1564016" cy="749808"/>
          </a:xfrm>
          <a:prstGeom prst="chevron">
            <a:avLst/>
          </a:prstGeom>
          <a:solidFill>
            <a:srgbClr val="FFFFFF"/>
          </a:solidFill>
          <a:ln w="12700">
            <a:solidFill>
              <a:srgbClr val="C3CCC0"/>
            </a:solidFill>
            <a:prstDash val="solid"/>
          </a:ln>
        </p:spPr>
      </p:sp>
      <p:sp>
        <p:nvSpPr>
          <p:cNvPr id="35" name="Text 33"/>
          <p:cNvSpPr txBox="1"/>
          <p:nvPr/>
        </p:nvSpPr>
        <p:spPr>
          <a:xfrm>
            <a:off x="3877840"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Plan</a:t>
            </a:r>
            <a:endParaRPr lang="en-US" sz="950" dirty="0"/>
          </a:p>
          <a:p>
            <a:pPr indent="0" marL="0">
              <a:lnSpc>
                <a:spcPct val="90000"/>
              </a:lnSpc>
              <a:buNone/>
            </a:pPr>
            <a:r>
              <a:rPr lang="en-US" sz="750" dirty="0">
                <a:solidFill>
                  <a:srgbClr val="5C6B64"/>
                </a:solidFill>
              </a:rPr>
              <a:t>keyword planner routes 24 of 24</a:t>
            </a:r>
            <a:endParaRPr lang="en-US" sz="950" dirty="0"/>
          </a:p>
        </p:txBody>
      </p:sp>
      <p:sp>
        <p:nvSpPr>
          <p:cNvPr id="36" name="step-Tool call"/>
          <p:cNvSpPr/>
          <p:nvPr/>
        </p:nvSpPr>
        <p:spPr>
          <a:xfrm>
            <a:off x="5313840" y="4023360"/>
            <a:ext cx="1564016" cy="749808"/>
          </a:xfrm>
          <a:prstGeom prst="chevron">
            <a:avLst/>
          </a:prstGeom>
          <a:solidFill>
            <a:srgbClr val="FFFFFF"/>
          </a:solidFill>
          <a:ln w="12700">
            <a:solidFill>
              <a:srgbClr val="C3CCC0"/>
            </a:solidFill>
            <a:prstDash val="solid"/>
          </a:ln>
        </p:spPr>
      </p:sp>
      <p:sp>
        <p:nvSpPr>
          <p:cNvPr id="37" name="Text 35"/>
          <p:cNvSpPr txBox="1"/>
          <p:nvPr/>
        </p:nvSpPr>
        <p:spPr>
          <a:xfrm>
            <a:off x="5496720"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Tool call</a:t>
            </a:r>
            <a:endParaRPr lang="en-US" sz="950" dirty="0"/>
          </a:p>
          <a:p>
            <a:pPr indent="0" marL="0">
              <a:lnSpc>
                <a:spcPct val="90000"/>
              </a:lnSpc>
              <a:buNone/>
            </a:pPr>
            <a:r>
              <a:rPr lang="en-US" sz="750" dirty="0">
                <a:solidFill>
                  <a:srgbClr val="5C6B64"/>
                </a:solidFill>
              </a:rPr>
              <a:t>one of ten; deterministic reads</a:t>
            </a:r>
            <a:endParaRPr lang="en-US" sz="950" dirty="0"/>
          </a:p>
        </p:txBody>
      </p:sp>
      <p:sp>
        <p:nvSpPr>
          <p:cNvPr id="38" name="step-Retrieve + reran"/>
          <p:cNvSpPr/>
          <p:nvPr/>
        </p:nvSpPr>
        <p:spPr>
          <a:xfrm>
            <a:off x="6932720" y="4023360"/>
            <a:ext cx="1564016" cy="749808"/>
          </a:xfrm>
          <a:prstGeom prst="chevron">
            <a:avLst/>
          </a:prstGeom>
          <a:solidFill>
            <a:srgbClr val="5B8C3A"/>
          </a:solidFill>
          <a:ln w="19050">
            <a:solidFill>
              <a:srgbClr val="446B29"/>
            </a:solidFill>
            <a:prstDash val="solid"/>
          </a:ln>
        </p:spPr>
      </p:sp>
      <p:sp>
        <p:nvSpPr>
          <p:cNvPr id="39" name="Text 37"/>
          <p:cNvSpPr txBox="1"/>
          <p:nvPr/>
        </p:nvSpPr>
        <p:spPr>
          <a:xfrm>
            <a:off x="7115600"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FFFFFF"/>
                </a:solidFill>
              </a:rPr>
              <a:t>Retrieve + rerank</a:t>
            </a:r>
            <a:endParaRPr lang="en-US" sz="950" dirty="0"/>
          </a:p>
          <a:p>
            <a:pPr indent="0" marL="0">
              <a:lnSpc>
                <a:spcPct val="90000"/>
              </a:lnSpc>
              <a:buNone/>
            </a:pPr>
            <a:r>
              <a:rPr lang="en-US" sz="750" dirty="0">
                <a:solidFill>
                  <a:srgbClr val="DCE8CF"/>
                </a:solidFill>
              </a:rPr>
              <a:t>only for free-text search</a:t>
            </a:r>
            <a:endParaRPr lang="en-US" sz="950" dirty="0"/>
          </a:p>
        </p:txBody>
      </p:sp>
      <p:sp>
        <p:nvSpPr>
          <p:cNvPr id="40" name="step-Compose"/>
          <p:cNvSpPr/>
          <p:nvPr/>
        </p:nvSpPr>
        <p:spPr>
          <a:xfrm>
            <a:off x="8551599" y="4023360"/>
            <a:ext cx="1564016" cy="749808"/>
          </a:xfrm>
          <a:prstGeom prst="chevron">
            <a:avLst/>
          </a:prstGeom>
          <a:solidFill>
            <a:srgbClr val="FFFFFF"/>
          </a:solidFill>
          <a:ln w="12700">
            <a:solidFill>
              <a:srgbClr val="C3CCC0"/>
            </a:solidFill>
            <a:prstDash val="solid"/>
          </a:ln>
        </p:spPr>
      </p:sp>
      <p:sp>
        <p:nvSpPr>
          <p:cNvPr id="41" name="Text 39"/>
          <p:cNvSpPr txBox="1"/>
          <p:nvPr/>
        </p:nvSpPr>
        <p:spPr>
          <a:xfrm>
            <a:off x="8734479"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14302A"/>
                </a:solidFill>
              </a:rPr>
              <a:t>Compose</a:t>
            </a:r>
            <a:endParaRPr lang="en-US" sz="950" dirty="0"/>
          </a:p>
          <a:p>
            <a:pPr indent="0" marL="0">
              <a:lnSpc>
                <a:spcPct val="90000"/>
              </a:lnSpc>
              <a:buNone/>
            </a:pPr>
            <a:r>
              <a:rPr lang="en-US" sz="750" dirty="0">
                <a:solidFill>
                  <a:srgbClr val="5C6B64"/>
                </a:solidFill>
              </a:rPr>
              <a:t>every figure computed in Python</a:t>
            </a:r>
            <a:endParaRPr lang="en-US" sz="950" dirty="0"/>
          </a:p>
        </p:txBody>
      </p:sp>
      <p:sp>
        <p:nvSpPr>
          <p:cNvPr id="42" name="step-Narrate"/>
          <p:cNvSpPr/>
          <p:nvPr/>
        </p:nvSpPr>
        <p:spPr>
          <a:xfrm>
            <a:off x="10170479" y="4023360"/>
            <a:ext cx="1564016" cy="749808"/>
          </a:xfrm>
          <a:prstGeom prst="chevron">
            <a:avLst/>
          </a:prstGeom>
          <a:solidFill>
            <a:srgbClr val="5B8C3A"/>
          </a:solidFill>
          <a:ln w="19050">
            <a:solidFill>
              <a:srgbClr val="446B29"/>
            </a:solidFill>
            <a:prstDash val="solid"/>
          </a:ln>
        </p:spPr>
      </p:sp>
      <p:sp>
        <p:nvSpPr>
          <p:cNvPr id="43" name="Text 41"/>
          <p:cNvSpPr txBox="1"/>
          <p:nvPr/>
        </p:nvSpPr>
        <p:spPr>
          <a:xfrm>
            <a:off x="10353359" y="4078224"/>
            <a:ext cx="1289696" cy="640080"/>
          </a:xfrm>
          <a:prstGeom prst="rect">
            <a:avLst/>
          </a:prstGeom>
          <a:noFill/>
          <a:ln/>
        </p:spPr>
        <p:txBody>
          <a:bodyPr wrap="square" lIns="0" tIns="0" rIns="0" bIns="0" rtlCol="0" anchor="t"/>
          <a:lstStyle/>
          <a:p>
            <a:pPr indent="0" marL="0">
              <a:lnSpc>
                <a:spcPct val="90000"/>
              </a:lnSpc>
              <a:buNone/>
            </a:pPr>
            <a:r>
              <a:rPr lang="en-US" sz="950" b="1" dirty="0">
                <a:solidFill>
                  <a:srgbClr val="FFFFFF"/>
                </a:solidFill>
              </a:rPr>
              <a:t>Narrate</a:t>
            </a:r>
            <a:endParaRPr lang="en-US" sz="950" dirty="0"/>
          </a:p>
          <a:p>
            <a:pPr indent="0" marL="0">
              <a:lnSpc>
                <a:spcPct val="90000"/>
              </a:lnSpc>
              <a:buNone/>
            </a:pPr>
            <a:r>
              <a:rPr lang="en-US" sz="750" dirty="0">
                <a:solidFill>
                  <a:srgbClr val="DCE8CF"/>
                </a:solidFill>
              </a:rPr>
              <a:t>prose only, from the tool payload</a:t>
            </a:r>
            <a:endParaRPr lang="en-US" sz="950" dirty="0"/>
          </a:p>
        </p:txBody>
      </p:sp>
      <p:sp>
        <p:nvSpPr>
          <p:cNvPr id="44" name="card-Grounding check"/>
          <p:cNvSpPr/>
          <p:nvPr/>
        </p:nvSpPr>
        <p:spPr>
          <a:xfrm>
            <a:off x="457200" y="4882896"/>
            <a:ext cx="2750744" cy="457200"/>
          </a:xfrm>
          <a:prstGeom prst="rect">
            <a:avLst/>
          </a:prstGeom>
          <a:solidFill>
            <a:srgbClr val="FFFFFF"/>
          </a:solidFill>
          <a:ln w="12700">
            <a:solidFill>
              <a:srgbClr val="C3CCC0"/>
            </a:solidFill>
            <a:prstDash val="solid"/>
          </a:ln>
        </p:spPr>
      </p:sp>
      <p:sp>
        <p:nvSpPr>
          <p:cNvPr id="45" name="Text 43"/>
          <p:cNvSpPr txBox="1"/>
          <p:nvPr/>
        </p:nvSpPr>
        <p:spPr>
          <a:xfrm>
            <a:off x="521208" y="4919472"/>
            <a:ext cx="2622728" cy="384048"/>
          </a:xfrm>
          <a:prstGeom prst="rect">
            <a:avLst/>
          </a:prstGeom>
          <a:noFill/>
          <a:ln/>
        </p:spPr>
        <p:txBody>
          <a:bodyPr wrap="square" lIns="0" tIns="0" rIns="0" bIns="0" rtlCol="0" anchor="t"/>
          <a:lstStyle/>
          <a:p>
            <a:pPr algn="l" indent="0" marL="0">
              <a:lnSpc>
                <a:spcPct val="92000"/>
              </a:lnSpc>
              <a:buNone/>
            </a:pPr>
            <a:r>
              <a:rPr lang="en-US" sz="900" b="1" dirty="0">
                <a:solidFill>
                  <a:srgbClr val="14302A"/>
                </a:solidFill>
              </a:rPr>
              <a:t>Grounding check</a:t>
            </a:r>
            <a:endParaRPr lang="en-US" sz="900" dirty="0"/>
          </a:p>
          <a:p>
            <a:pPr algn="l" indent="0" marL="0">
              <a:lnSpc>
                <a:spcPct val="92000"/>
              </a:lnSpc>
              <a:buNone/>
            </a:pPr>
            <a:r>
              <a:rPr lang="en-US" sz="750" dirty="0">
                <a:solidFill>
                  <a:srgbClr val="5C6B64"/>
                </a:solidFill>
              </a:rPr>
              <a:t>every digit must appear in the payload</a:t>
            </a:r>
            <a:endParaRPr lang="en-US" sz="900" dirty="0"/>
          </a:p>
        </p:txBody>
      </p:sp>
      <p:sp>
        <p:nvSpPr>
          <p:cNvPr id="46" name="card-Negation check"/>
          <p:cNvSpPr/>
          <p:nvPr/>
        </p:nvSpPr>
        <p:spPr>
          <a:xfrm>
            <a:off x="3299384" y="4882896"/>
            <a:ext cx="2750744" cy="457200"/>
          </a:xfrm>
          <a:prstGeom prst="rect">
            <a:avLst/>
          </a:prstGeom>
          <a:solidFill>
            <a:srgbClr val="FFFFFF"/>
          </a:solidFill>
          <a:ln w="12700">
            <a:solidFill>
              <a:srgbClr val="C3CCC0"/>
            </a:solidFill>
            <a:prstDash val="solid"/>
          </a:ln>
        </p:spPr>
      </p:sp>
      <p:sp>
        <p:nvSpPr>
          <p:cNvPr id="47" name="Text 45"/>
          <p:cNvSpPr txBox="1"/>
          <p:nvPr/>
        </p:nvSpPr>
        <p:spPr>
          <a:xfrm>
            <a:off x="3363392" y="4919472"/>
            <a:ext cx="2622728" cy="384048"/>
          </a:xfrm>
          <a:prstGeom prst="rect">
            <a:avLst/>
          </a:prstGeom>
          <a:noFill/>
          <a:ln/>
        </p:spPr>
        <p:txBody>
          <a:bodyPr wrap="square" lIns="0" tIns="0" rIns="0" bIns="0" rtlCol="0" anchor="t"/>
          <a:lstStyle/>
          <a:p>
            <a:pPr algn="l" indent="0" marL="0">
              <a:lnSpc>
                <a:spcPct val="92000"/>
              </a:lnSpc>
              <a:buNone/>
            </a:pPr>
            <a:r>
              <a:rPr lang="en-US" sz="900" b="1" dirty="0">
                <a:solidFill>
                  <a:srgbClr val="14302A"/>
                </a:solidFill>
              </a:rPr>
              <a:t>Negation check</a:t>
            </a:r>
            <a:endParaRPr lang="en-US" sz="900" dirty="0"/>
          </a:p>
          <a:p>
            <a:pPr algn="l" indent="0" marL="0">
              <a:lnSpc>
                <a:spcPct val="92000"/>
              </a:lnSpc>
              <a:buNone/>
            </a:pPr>
            <a:r>
              <a:rPr lang="en-US" sz="750" dirty="0">
                <a:solidFill>
                  <a:srgbClr val="5C6B64"/>
                </a:solidFill>
              </a:rPr>
              <a:t>a flipped "not" inverts a safety answer</a:t>
            </a:r>
            <a:endParaRPr lang="en-US" sz="900" dirty="0"/>
          </a:p>
        </p:txBody>
      </p:sp>
      <p:sp>
        <p:nvSpPr>
          <p:cNvPr id="48" name="card-Release-claim rail"/>
          <p:cNvSpPr/>
          <p:nvPr/>
        </p:nvSpPr>
        <p:spPr>
          <a:xfrm>
            <a:off x="6141568" y="4882896"/>
            <a:ext cx="2750744" cy="457200"/>
          </a:xfrm>
          <a:prstGeom prst="rect">
            <a:avLst/>
          </a:prstGeom>
          <a:solidFill>
            <a:srgbClr val="FFFFFF"/>
          </a:solidFill>
          <a:ln w="12700">
            <a:solidFill>
              <a:srgbClr val="C3CCC0"/>
            </a:solidFill>
            <a:prstDash val="solid"/>
          </a:ln>
        </p:spPr>
      </p:sp>
      <p:sp>
        <p:nvSpPr>
          <p:cNvPr id="49" name="Text 47"/>
          <p:cNvSpPr txBox="1"/>
          <p:nvPr/>
        </p:nvSpPr>
        <p:spPr>
          <a:xfrm>
            <a:off x="6205576" y="4919472"/>
            <a:ext cx="2622728" cy="384048"/>
          </a:xfrm>
          <a:prstGeom prst="rect">
            <a:avLst/>
          </a:prstGeom>
          <a:noFill/>
          <a:ln/>
        </p:spPr>
        <p:txBody>
          <a:bodyPr wrap="square" lIns="0" tIns="0" rIns="0" bIns="0" rtlCol="0" anchor="t"/>
          <a:lstStyle/>
          <a:p>
            <a:pPr algn="l" indent="0" marL="0">
              <a:lnSpc>
                <a:spcPct val="92000"/>
              </a:lnSpc>
              <a:buNone/>
            </a:pPr>
            <a:r>
              <a:rPr lang="en-US" sz="900" b="1" dirty="0">
                <a:solidFill>
                  <a:srgbClr val="14302A"/>
                </a:solidFill>
              </a:rPr>
              <a:t>Release-claim rail</a:t>
            </a:r>
            <a:endParaRPr lang="en-US" sz="900" dirty="0"/>
          </a:p>
          <a:p>
            <a:pPr algn="l" indent="0" marL="0">
              <a:lnSpc>
                <a:spcPct val="92000"/>
              </a:lnSpc>
              <a:buNone/>
            </a:pPr>
            <a:r>
              <a:rPr lang="en-US" sz="750" dirty="0">
                <a:solidFill>
                  <a:srgbClr val="5C6B64"/>
                </a:solidFill>
              </a:rPr>
              <a:t>authorisation needs evidence, not phrasing</a:t>
            </a:r>
            <a:endParaRPr lang="en-US" sz="900" dirty="0"/>
          </a:p>
        </p:txBody>
      </p:sp>
      <p:sp>
        <p:nvSpPr>
          <p:cNvPr id="50" name="card-Answer log"/>
          <p:cNvSpPr/>
          <p:nvPr/>
        </p:nvSpPr>
        <p:spPr>
          <a:xfrm>
            <a:off x="8983751" y="4882896"/>
            <a:ext cx="2750744" cy="457200"/>
          </a:xfrm>
          <a:prstGeom prst="rect">
            <a:avLst/>
          </a:prstGeom>
          <a:solidFill>
            <a:srgbClr val="FFFFFF"/>
          </a:solidFill>
          <a:ln w="12700">
            <a:solidFill>
              <a:srgbClr val="C3CCC0"/>
            </a:solidFill>
            <a:prstDash val="solid"/>
          </a:ln>
        </p:spPr>
      </p:sp>
      <p:sp>
        <p:nvSpPr>
          <p:cNvPr id="51" name="Text 49"/>
          <p:cNvSpPr txBox="1"/>
          <p:nvPr/>
        </p:nvSpPr>
        <p:spPr>
          <a:xfrm>
            <a:off x="9047759" y="4919472"/>
            <a:ext cx="2622728" cy="384048"/>
          </a:xfrm>
          <a:prstGeom prst="rect">
            <a:avLst/>
          </a:prstGeom>
          <a:noFill/>
          <a:ln/>
        </p:spPr>
        <p:txBody>
          <a:bodyPr wrap="square" lIns="0" tIns="0" rIns="0" bIns="0" rtlCol="0" anchor="t"/>
          <a:lstStyle/>
          <a:p>
            <a:pPr algn="l" indent="0" marL="0">
              <a:lnSpc>
                <a:spcPct val="92000"/>
              </a:lnSpc>
              <a:buNone/>
            </a:pPr>
            <a:r>
              <a:rPr lang="en-US" sz="900" b="1" dirty="0">
                <a:solidFill>
                  <a:srgbClr val="14302A"/>
                </a:solidFill>
              </a:rPr>
              <a:t>Answer log</a:t>
            </a:r>
            <a:endParaRPr lang="en-US" sz="900" dirty="0"/>
          </a:p>
          <a:p>
            <a:pPr algn="l" indent="0" marL="0">
              <a:lnSpc>
                <a:spcPct val="92000"/>
              </a:lnSpc>
              <a:buNone/>
            </a:pPr>
            <a:r>
              <a:rPr lang="en-US" sz="750" dirty="0">
                <a:solidFill>
                  <a:srgbClr val="5C6B64"/>
                </a:solidFill>
              </a:rPr>
              <a:t>question, route, tools, citations, seconds</a:t>
            </a:r>
            <a:endParaRPr lang="en-US" sz="900" dirty="0"/>
          </a:p>
        </p:txBody>
      </p:sp>
      <p:sp>
        <p:nvSpPr>
          <p:cNvPr id="52" name="answer"/>
          <p:cNvSpPr/>
          <p:nvPr/>
        </p:nvSpPr>
        <p:spPr>
          <a:xfrm>
            <a:off x="457200" y="5468112"/>
            <a:ext cx="11277295" cy="475488"/>
          </a:xfrm>
          <a:prstGeom prst="rect">
            <a:avLst/>
          </a:prstGeom>
          <a:solidFill>
            <a:srgbClr val="5B8C3A"/>
          </a:solidFill>
          <a:ln w="12700">
            <a:solidFill>
              <a:srgbClr val="446B29"/>
            </a:solidFill>
            <a:prstDash val="solid"/>
          </a:ln>
        </p:spPr>
      </p:sp>
      <p:sp>
        <p:nvSpPr>
          <p:cNvPr id="53" name="Text 51"/>
          <p:cNvSpPr txBox="1"/>
          <p:nvPr/>
        </p:nvSpPr>
        <p:spPr>
          <a:xfrm>
            <a:off x="585216" y="5468112"/>
            <a:ext cx="11021263" cy="475488"/>
          </a:xfrm>
          <a:prstGeom prst="rect">
            <a:avLst/>
          </a:prstGeom>
          <a:noFill/>
          <a:ln/>
        </p:spPr>
        <p:txBody>
          <a:bodyPr wrap="square" lIns="0" tIns="0" rIns="0" bIns="0" rtlCol="0" anchor="ctr"/>
          <a:lstStyle/>
          <a:p>
            <a:pPr indent="0" marL="0">
              <a:buNone/>
            </a:pPr>
            <a:r>
              <a:rPr lang="en-US" sz="1150" b="1" dirty="0">
                <a:solidFill>
                  <a:srgbClr val="FFFFFF"/>
                </a:solidFill>
              </a:rPr>
              <a:t>Cited answer   —   </a:t>
            </a:r>
            <a:pPr indent="0" marL="0">
              <a:buNone/>
            </a:pPr>
            <a:r>
              <a:rPr lang="en-US" sz="950" dirty="0">
                <a:solidFill>
                  <a:srgbClr val="DCE8CF"/>
                </a:solidFill>
              </a:rPr>
              <a:t>every claim tied to a repair order and an update id — and logged, which is what the evaluator scores the next release against</a:t>
            </a:r>
            <a:endParaRPr lang="en-US" sz="1150" dirty="0"/>
          </a:p>
        </p:txBody>
      </p:sp>
      <p:sp>
        <p:nvSpPr>
          <p:cNvPr id="54" name="Text 52"/>
          <p:cNvSpPr txBox="1"/>
          <p:nvPr/>
        </p:nvSpPr>
        <p:spPr>
          <a:xfrm>
            <a:off x="457200" y="6053328"/>
            <a:ext cx="11277295" cy="237744"/>
          </a:xfrm>
          <a:prstGeom prst="rect">
            <a:avLst/>
          </a:prstGeom>
          <a:noFill/>
          <a:ln/>
        </p:spPr>
        <p:txBody>
          <a:bodyPr wrap="square" lIns="0" tIns="0" rIns="0" bIns="0" rtlCol="0" anchor="ctr"/>
          <a:lstStyle/>
          <a:p>
            <a:pPr indent="0" marL="0">
              <a:buNone/>
            </a:pPr>
            <a:r>
              <a:rPr lang="en-US" sz="900" i="1" dirty="0">
                <a:solidFill>
                  <a:srgbClr val="5C6B64"/>
                </a:solidFill>
              </a:rPr>
              <a:t>Five of six question classes never reach a model — that is why the deterministic measures sit at a 100% floor rather than a hopeful one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Thirteen running, one blocked — every status here measured by running the thing, not by importing it</a:t>
            </a:r>
            <a:endParaRPr lang="en-US" sz="1100" dirty="0"/>
          </a:p>
        </p:txBody>
      </p:sp>
      <p:sp>
        <p:nvSpPr>
          <p:cNvPr id="4" name="comp0"/>
          <p:cNvSpPr/>
          <p:nvPr/>
        </p:nvSpPr>
        <p:spPr>
          <a:xfrm>
            <a:off x="457200" y="1097280"/>
            <a:ext cx="5501488" cy="621792"/>
          </a:xfrm>
          <a:prstGeom prst="rect">
            <a:avLst/>
          </a:prstGeom>
          <a:solidFill>
            <a:srgbClr val="5B8C3A"/>
          </a:solidFill>
          <a:ln w="12700">
            <a:solidFill>
              <a:srgbClr val="C3CCC0"/>
            </a:solidFill>
            <a:prstDash val="solid"/>
          </a:ln>
        </p:spPr>
      </p:sp>
      <p:sp>
        <p:nvSpPr>
          <p:cNvPr id="5" name="Text 3"/>
          <p:cNvSpPr txBox="1"/>
          <p:nvPr/>
        </p:nvSpPr>
        <p:spPr>
          <a:xfrm>
            <a:off x="566928" y="1143000"/>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NIM — LLM</a:t>
            </a:r>
            <a:endParaRPr lang="en-US" sz="1050" dirty="0"/>
          </a:p>
          <a:p>
            <a:pPr indent="0" marL="0">
              <a:lnSpc>
                <a:spcPct val="92000"/>
              </a:lnSpc>
              <a:buNone/>
            </a:pPr>
            <a:r>
              <a:rPr lang="en-US" sz="850" dirty="0">
                <a:solidFill>
                  <a:srgbClr val="DCE8CF"/>
                </a:solidFill>
              </a:rPr>
              <a:t>Prose → JSON in, tool payload → prose out. Nothing else.</a:t>
            </a:r>
            <a:endParaRPr lang="en-US" sz="1050" dirty="0"/>
          </a:p>
        </p:txBody>
      </p:sp>
      <p:sp>
        <p:nvSpPr>
          <p:cNvPr id="6" name="Text 4"/>
          <p:cNvSpPr txBox="1"/>
          <p:nvPr/>
        </p:nvSpPr>
        <p:spPr>
          <a:xfrm>
            <a:off x="3947008" y="1143000"/>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Nemotron Nano 8B · :8000</a:t>
            </a:r>
            <a:endParaRPr lang="en-US" sz="850" dirty="0"/>
          </a:p>
        </p:txBody>
      </p:sp>
      <p:sp>
        <p:nvSpPr>
          <p:cNvPr id="7" name="comp1"/>
          <p:cNvSpPr/>
          <p:nvPr/>
        </p:nvSpPr>
        <p:spPr>
          <a:xfrm>
            <a:off x="457200" y="1819656"/>
            <a:ext cx="5501488" cy="621792"/>
          </a:xfrm>
          <a:prstGeom prst="rect">
            <a:avLst/>
          </a:prstGeom>
          <a:solidFill>
            <a:srgbClr val="5B8C3A"/>
          </a:solidFill>
          <a:ln w="12700">
            <a:solidFill>
              <a:srgbClr val="C3CCC0"/>
            </a:solidFill>
            <a:prstDash val="solid"/>
          </a:ln>
        </p:spPr>
      </p:sp>
      <p:sp>
        <p:nvSpPr>
          <p:cNvPr id="8" name="Text 6"/>
          <p:cNvSpPr txBox="1"/>
          <p:nvPr/>
        </p:nvSpPr>
        <p:spPr>
          <a:xfrm>
            <a:off x="566928" y="1865376"/>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NIM — Embedding</a:t>
            </a:r>
            <a:endParaRPr lang="en-US" sz="1050" dirty="0"/>
          </a:p>
          <a:p>
            <a:pPr indent="0" marL="0">
              <a:lnSpc>
                <a:spcPct val="92000"/>
              </a:lnSpc>
              <a:buNone/>
            </a:pPr>
            <a:r>
              <a:rPr lang="en-US" sz="850" dirty="0">
                <a:solidFill>
                  <a:srgbClr val="DCE8CF"/>
                </a:solidFill>
              </a:rPr>
              <a:t>Vectors for 1,949 updates and for op-code matching.</a:t>
            </a:r>
            <a:endParaRPr lang="en-US" sz="1050" dirty="0"/>
          </a:p>
        </p:txBody>
      </p:sp>
      <p:sp>
        <p:nvSpPr>
          <p:cNvPr id="9" name="Text 7"/>
          <p:cNvSpPr txBox="1"/>
          <p:nvPr/>
        </p:nvSpPr>
        <p:spPr>
          <a:xfrm>
            <a:off x="3947008" y="1865376"/>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NV-EmbedQA E5 v5 · :8001</a:t>
            </a:r>
            <a:endParaRPr lang="en-US" sz="850" dirty="0"/>
          </a:p>
        </p:txBody>
      </p:sp>
      <p:sp>
        <p:nvSpPr>
          <p:cNvPr id="10" name="comp2"/>
          <p:cNvSpPr/>
          <p:nvPr/>
        </p:nvSpPr>
        <p:spPr>
          <a:xfrm>
            <a:off x="457200" y="2542032"/>
            <a:ext cx="5501488" cy="621792"/>
          </a:xfrm>
          <a:prstGeom prst="rect">
            <a:avLst/>
          </a:prstGeom>
          <a:solidFill>
            <a:srgbClr val="5B8C3A"/>
          </a:solidFill>
          <a:ln w="12700">
            <a:solidFill>
              <a:srgbClr val="C3CCC0"/>
            </a:solidFill>
            <a:prstDash val="solid"/>
          </a:ln>
        </p:spPr>
      </p:sp>
      <p:sp>
        <p:nvSpPr>
          <p:cNvPr id="11" name="Text 9"/>
          <p:cNvSpPr txBox="1"/>
          <p:nvPr/>
        </p:nvSpPr>
        <p:spPr>
          <a:xfrm>
            <a:off x="566928" y="2587752"/>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NIM — Reranking</a:t>
            </a:r>
            <a:endParaRPr lang="en-US" sz="1050" dirty="0"/>
          </a:p>
          <a:p>
            <a:pPr indent="0" marL="0">
              <a:lnSpc>
                <a:spcPct val="92000"/>
              </a:lnSpc>
              <a:buNone/>
            </a:pPr>
            <a:r>
              <a:rPr lang="en-US" sz="850" dirty="0">
                <a:solidFill>
                  <a:srgbClr val="DCE8CF"/>
                </a:solidFill>
              </a:rPr>
              <a:t>Reorders candidates to the passages actually cited.</a:t>
            </a:r>
            <a:endParaRPr lang="en-US" sz="1050" dirty="0"/>
          </a:p>
        </p:txBody>
      </p:sp>
      <p:sp>
        <p:nvSpPr>
          <p:cNvPr id="12" name="Text 10"/>
          <p:cNvSpPr txBox="1"/>
          <p:nvPr/>
        </p:nvSpPr>
        <p:spPr>
          <a:xfrm>
            <a:off x="3947008" y="2587752"/>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NV-RerankQA 4B · :8002</a:t>
            </a:r>
            <a:endParaRPr lang="en-US" sz="850" dirty="0"/>
          </a:p>
        </p:txBody>
      </p:sp>
      <p:sp>
        <p:nvSpPr>
          <p:cNvPr id="13" name="comp3"/>
          <p:cNvSpPr/>
          <p:nvPr/>
        </p:nvSpPr>
        <p:spPr>
          <a:xfrm>
            <a:off x="457200" y="3264408"/>
            <a:ext cx="5501488" cy="621792"/>
          </a:xfrm>
          <a:prstGeom prst="rect">
            <a:avLst/>
          </a:prstGeom>
          <a:solidFill>
            <a:srgbClr val="5B8C3A"/>
          </a:solidFill>
          <a:ln w="12700">
            <a:solidFill>
              <a:srgbClr val="C3CCC0"/>
            </a:solidFill>
            <a:prstDash val="solid"/>
          </a:ln>
        </p:spPr>
      </p:sp>
      <p:sp>
        <p:nvSpPr>
          <p:cNvPr id="14" name="Text 12"/>
          <p:cNvSpPr txBox="1"/>
          <p:nvPr/>
        </p:nvSpPr>
        <p:spPr>
          <a:xfrm>
            <a:off x="566928" y="3310128"/>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Riva — ASR</a:t>
            </a:r>
            <a:endParaRPr lang="en-US" sz="1050" dirty="0"/>
          </a:p>
          <a:p>
            <a:pPr indent="0" marL="0">
              <a:lnSpc>
                <a:spcPct val="92000"/>
              </a:lnSpc>
              <a:buNone/>
            </a:pPr>
            <a:r>
              <a:rPr lang="en-US" sz="850" dirty="0">
                <a:solidFill>
                  <a:srgbClr val="DCE8CF"/>
                </a:solidFill>
              </a:rPr>
              <a:t>Speech to text for spoken shift updates.</a:t>
            </a:r>
            <a:endParaRPr lang="en-US" sz="1050" dirty="0"/>
          </a:p>
        </p:txBody>
      </p:sp>
      <p:sp>
        <p:nvSpPr>
          <p:cNvPr id="15" name="Text 13"/>
          <p:cNvSpPr txBox="1"/>
          <p:nvPr/>
        </p:nvSpPr>
        <p:spPr>
          <a:xfrm>
            <a:off x="3947008" y="3310128"/>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Parakeet CTC 0.6B · gRPC</a:t>
            </a:r>
            <a:endParaRPr lang="en-US" sz="850" dirty="0"/>
          </a:p>
        </p:txBody>
      </p:sp>
      <p:sp>
        <p:nvSpPr>
          <p:cNvPr id="16" name="comp4"/>
          <p:cNvSpPr/>
          <p:nvPr/>
        </p:nvSpPr>
        <p:spPr>
          <a:xfrm>
            <a:off x="457200" y="3986784"/>
            <a:ext cx="5501488" cy="621792"/>
          </a:xfrm>
          <a:prstGeom prst="rect">
            <a:avLst/>
          </a:prstGeom>
          <a:solidFill>
            <a:srgbClr val="5B8C3A"/>
          </a:solidFill>
          <a:ln w="12700">
            <a:solidFill>
              <a:srgbClr val="C3CCC0"/>
            </a:solidFill>
            <a:prstDash val="solid"/>
          </a:ln>
        </p:spPr>
      </p:sp>
      <p:sp>
        <p:nvSpPr>
          <p:cNvPr id="17" name="Text 15"/>
          <p:cNvSpPr txBox="1"/>
          <p:nvPr/>
        </p:nvSpPr>
        <p:spPr>
          <a:xfrm>
            <a:off x="566928" y="4032504"/>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Riva — TTS</a:t>
            </a:r>
            <a:endParaRPr lang="en-US" sz="1050" dirty="0"/>
          </a:p>
          <a:p>
            <a:pPr indent="0" marL="0">
              <a:lnSpc>
                <a:spcPct val="92000"/>
              </a:lnSpc>
              <a:buNone/>
            </a:pPr>
            <a:r>
              <a:rPr lang="en-US" sz="850" dirty="0">
                <a:solidFill>
                  <a:srgbClr val="DCE8CF"/>
                </a:solidFill>
              </a:rPr>
              <a:t>Synthesises the speech the ASR leg is tested with.</a:t>
            </a:r>
            <a:endParaRPr lang="en-US" sz="1050" dirty="0"/>
          </a:p>
        </p:txBody>
      </p:sp>
      <p:sp>
        <p:nvSpPr>
          <p:cNvPr id="18" name="Text 16"/>
          <p:cNvSpPr txBox="1"/>
          <p:nvPr/>
        </p:nvSpPr>
        <p:spPr>
          <a:xfrm>
            <a:off x="3947008" y="4032504"/>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Magpie TTS · gRPC</a:t>
            </a:r>
            <a:endParaRPr lang="en-US" sz="850" dirty="0"/>
          </a:p>
        </p:txBody>
      </p:sp>
      <p:sp>
        <p:nvSpPr>
          <p:cNvPr id="19" name="comp5"/>
          <p:cNvSpPr/>
          <p:nvPr/>
        </p:nvSpPr>
        <p:spPr>
          <a:xfrm>
            <a:off x="457200" y="4709160"/>
            <a:ext cx="5501488" cy="621792"/>
          </a:xfrm>
          <a:prstGeom prst="rect">
            <a:avLst/>
          </a:prstGeom>
          <a:solidFill>
            <a:srgbClr val="5B8C3A"/>
          </a:solidFill>
          <a:ln w="12700">
            <a:solidFill>
              <a:srgbClr val="C3CCC0"/>
            </a:solidFill>
            <a:prstDash val="solid"/>
          </a:ln>
        </p:spPr>
      </p:sp>
      <p:sp>
        <p:nvSpPr>
          <p:cNvPr id="20" name="Text 18"/>
          <p:cNvSpPr txBox="1"/>
          <p:nvPr/>
        </p:nvSpPr>
        <p:spPr>
          <a:xfrm>
            <a:off x="566928" y="4754880"/>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NVIDIA DCGM</a:t>
            </a:r>
            <a:endParaRPr lang="en-US" sz="1050" dirty="0"/>
          </a:p>
          <a:p>
            <a:pPr indent="0" marL="0">
              <a:lnSpc>
                <a:spcPct val="92000"/>
              </a:lnSpc>
              <a:buNone/>
            </a:pPr>
            <a:r>
              <a:rPr lang="en-US" sz="850" dirty="0">
                <a:solidFill>
                  <a:srgbClr val="DCE8CF"/>
                </a:solidFill>
              </a:rPr>
              <a:t>GPU utilisation, framebuffer, power, temperature.</a:t>
            </a:r>
            <a:endParaRPr lang="en-US" sz="1050" dirty="0"/>
          </a:p>
        </p:txBody>
      </p:sp>
      <p:sp>
        <p:nvSpPr>
          <p:cNvPr id="21" name="Text 19"/>
          <p:cNvSpPr txBox="1"/>
          <p:nvPr/>
        </p:nvSpPr>
        <p:spPr>
          <a:xfrm>
            <a:off x="3947008" y="4754880"/>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19 series · :9401</a:t>
            </a:r>
            <a:endParaRPr lang="en-US" sz="850" dirty="0"/>
          </a:p>
        </p:txBody>
      </p:sp>
      <p:sp>
        <p:nvSpPr>
          <p:cNvPr id="22" name="comp6"/>
          <p:cNvSpPr/>
          <p:nvPr/>
        </p:nvSpPr>
        <p:spPr>
          <a:xfrm>
            <a:off x="457200" y="5431536"/>
            <a:ext cx="5501488" cy="621792"/>
          </a:xfrm>
          <a:prstGeom prst="rect">
            <a:avLst/>
          </a:prstGeom>
          <a:solidFill>
            <a:srgbClr val="5B8C3A"/>
          </a:solidFill>
          <a:ln w="12700">
            <a:solidFill>
              <a:srgbClr val="C3CCC0"/>
            </a:solidFill>
            <a:prstDash val="solid"/>
          </a:ln>
        </p:spPr>
      </p:sp>
      <p:sp>
        <p:nvSpPr>
          <p:cNvPr id="23" name="Text 21"/>
          <p:cNvSpPr txBox="1"/>
          <p:nvPr/>
        </p:nvSpPr>
        <p:spPr>
          <a:xfrm>
            <a:off x="566928" y="5477256"/>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FFFFFF"/>
                </a:solidFill>
              </a:rPr>
              <a:t>NVIDIA Brev</a:t>
            </a:r>
            <a:endParaRPr lang="en-US" sz="1050" dirty="0"/>
          </a:p>
          <a:p>
            <a:pPr indent="0" marL="0">
              <a:lnSpc>
                <a:spcPct val="92000"/>
              </a:lnSpc>
              <a:buNone/>
            </a:pPr>
            <a:r>
              <a:rPr lang="en-US" sz="850" dirty="0">
                <a:solidFill>
                  <a:srgbClr val="DCE8CF"/>
                </a:solidFill>
              </a:rPr>
              <a:t>The deployment target carrying all three NIMs.</a:t>
            </a:r>
            <a:endParaRPr lang="en-US" sz="1050" dirty="0"/>
          </a:p>
        </p:txBody>
      </p:sp>
      <p:sp>
        <p:nvSpPr>
          <p:cNvPr id="24" name="Text 22"/>
          <p:cNvSpPr txBox="1"/>
          <p:nvPr/>
        </p:nvSpPr>
        <p:spPr>
          <a:xfrm>
            <a:off x="3947008" y="5477256"/>
            <a:ext cx="1901952" cy="530352"/>
          </a:xfrm>
          <a:prstGeom prst="rect">
            <a:avLst/>
          </a:prstGeom>
          <a:noFill/>
          <a:ln/>
        </p:spPr>
        <p:txBody>
          <a:bodyPr wrap="square" lIns="0" tIns="0" rIns="0" bIns="0" rtlCol="0" anchor="ctr"/>
          <a:lstStyle/>
          <a:p>
            <a:pPr algn="r" indent="0" marL="0">
              <a:buNone/>
            </a:pPr>
            <a:r>
              <a:rPr lang="en-US" sz="850" dirty="0">
                <a:solidFill>
                  <a:srgbClr val="DCE8CF"/>
                </a:solidFill>
              </a:rPr>
              <a:t>L40S 48 GB</a:t>
            </a:r>
            <a:endParaRPr lang="en-US" sz="850" dirty="0"/>
          </a:p>
        </p:txBody>
      </p:sp>
      <p:sp>
        <p:nvSpPr>
          <p:cNvPr id="25" name="comp7"/>
          <p:cNvSpPr/>
          <p:nvPr/>
        </p:nvSpPr>
        <p:spPr>
          <a:xfrm>
            <a:off x="6233008" y="1097280"/>
            <a:ext cx="5501488" cy="621792"/>
          </a:xfrm>
          <a:prstGeom prst="rect">
            <a:avLst/>
          </a:prstGeom>
          <a:solidFill>
            <a:srgbClr val="FFFFFF"/>
          </a:solidFill>
          <a:ln w="22225">
            <a:solidFill>
              <a:srgbClr val="76B900"/>
            </a:solidFill>
            <a:prstDash val="solid"/>
          </a:ln>
        </p:spPr>
      </p:sp>
      <p:sp>
        <p:nvSpPr>
          <p:cNvPr id="26" name="Text 24"/>
          <p:cNvSpPr txBox="1"/>
          <p:nvPr/>
        </p:nvSpPr>
        <p:spPr>
          <a:xfrm>
            <a:off x="6342736" y="1143000"/>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Agent Toolkit</a:t>
            </a:r>
            <a:endParaRPr lang="en-US" sz="1050" dirty="0"/>
          </a:p>
          <a:p>
            <a:pPr indent="0" marL="0">
              <a:lnSpc>
                <a:spcPct val="92000"/>
              </a:lnSpc>
              <a:buNone/>
            </a:pPr>
            <a:r>
              <a:rPr lang="en-US" sz="850" dirty="0">
                <a:solidFill>
                  <a:srgbClr val="5C6B64"/>
                </a:solidFill>
              </a:rPr>
              <a:t>A second front end onto the same ten tools.</a:t>
            </a:r>
            <a:endParaRPr lang="en-US" sz="1050" dirty="0"/>
          </a:p>
        </p:txBody>
      </p:sp>
      <p:sp>
        <p:nvSpPr>
          <p:cNvPr id="27" name="Text 25"/>
          <p:cNvSpPr txBox="1"/>
          <p:nvPr/>
        </p:nvSpPr>
        <p:spPr>
          <a:xfrm>
            <a:off x="9722815" y="1143000"/>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6 of 6 question classes</a:t>
            </a:r>
            <a:endParaRPr lang="en-US" sz="850" dirty="0"/>
          </a:p>
        </p:txBody>
      </p:sp>
      <p:sp>
        <p:nvSpPr>
          <p:cNvPr id="28" name="comp8"/>
          <p:cNvSpPr/>
          <p:nvPr/>
        </p:nvSpPr>
        <p:spPr>
          <a:xfrm>
            <a:off x="6233008" y="1819656"/>
            <a:ext cx="5501488" cy="621792"/>
          </a:xfrm>
          <a:prstGeom prst="rect">
            <a:avLst/>
          </a:prstGeom>
          <a:solidFill>
            <a:srgbClr val="FFFFFF"/>
          </a:solidFill>
          <a:ln w="22225">
            <a:solidFill>
              <a:srgbClr val="76B900"/>
            </a:solidFill>
            <a:prstDash val="solid"/>
          </a:ln>
        </p:spPr>
      </p:sp>
      <p:sp>
        <p:nvSpPr>
          <p:cNvPr id="29" name="Text 27"/>
          <p:cNvSpPr txBox="1"/>
          <p:nvPr/>
        </p:nvSpPr>
        <p:spPr>
          <a:xfrm>
            <a:off x="6342736" y="1865376"/>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Guardrails</a:t>
            </a:r>
            <a:endParaRPr lang="en-US" sz="1050" dirty="0"/>
          </a:p>
          <a:p>
            <a:pPr indent="0" marL="0">
              <a:lnSpc>
                <a:spcPct val="92000"/>
              </a:lnSpc>
              <a:buNone/>
            </a:pPr>
            <a:r>
              <a:rPr lang="en-US" sz="850" dirty="0">
                <a:solidFill>
                  <a:srgbClr val="5C6B64"/>
                </a:solidFill>
              </a:rPr>
              <a:t>Input rail judged by the local model.</a:t>
            </a:r>
            <a:endParaRPr lang="en-US" sz="1050" dirty="0"/>
          </a:p>
        </p:txBody>
      </p:sp>
      <p:sp>
        <p:nvSpPr>
          <p:cNvPr id="30" name="Text 28"/>
          <p:cNvSpPr txBox="1"/>
          <p:nvPr/>
        </p:nvSpPr>
        <p:spPr>
          <a:xfrm>
            <a:off x="9722815" y="1865376"/>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self check input</a:t>
            </a:r>
            <a:endParaRPr lang="en-US" sz="850" dirty="0"/>
          </a:p>
        </p:txBody>
      </p:sp>
      <p:sp>
        <p:nvSpPr>
          <p:cNvPr id="31" name="comp9"/>
          <p:cNvSpPr/>
          <p:nvPr/>
        </p:nvSpPr>
        <p:spPr>
          <a:xfrm>
            <a:off x="6233008" y="2542032"/>
            <a:ext cx="5501488" cy="621792"/>
          </a:xfrm>
          <a:prstGeom prst="rect">
            <a:avLst/>
          </a:prstGeom>
          <a:solidFill>
            <a:srgbClr val="FFFFFF"/>
          </a:solidFill>
          <a:ln w="22225">
            <a:solidFill>
              <a:srgbClr val="76B900"/>
            </a:solidFill>
            <a:prstDash val="solid"/>
          </a:ln>
        </p:spPr>
      </p:sp>
      <p:sp>
        <p:nvSpPr>
          <p:cNvPr id="32" name="Text 30"/>
          <p:cNvSpPr txBox="1"/>
          <p:nvPr/>
        </p:nvSpPr>
        <p:spPr>
          <a:xfrm>
            <a:off x="6342736" y="2587752"/>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Curator</a:t>
            </a:r>
            <a:endParaRPr lang="en-US" sz="1050" dirty="0"/>
          </a:p>
          <a:p>
            <a:pPr indent="0" marL="0">
              <a:lnSpc>
                <a:spcPct val="92000"/>
              </a:lnSpc>
              <a:buNone/>
            </a:pPr>
            <a:r>
              <a:rPr lang="en-US" sz="850" dirty="0">
                <a:solidFill>
                  <a:srgbClr val="5C6B64"/>
                </a:solidFill>
              </a:rPr>
              <a:t>Six stages; the sixth quarantines injection.</a:t>
            </a:r>
            <a:endParaRPr lang="en-US" sz="1050" dirty="0"/>
          </a:p>
        </p:txBody>
      </p:sp>
      <p:sp>
        <p:nvSpPr>
          <p:cNvPr id="33" name="Text 31"/>
          <p:cNvSpPr txBox="1"/>
          <p:nvPr/>
        </p:nvSpPr>
        <p:spPr>
          <a:xfrm>
            <a:off x="9722815" y="2587752"/>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run before indexing</a:t>
            </a:r>
            <a:endParaRPr lang="en-US" sz="850" dirty="0"/>
          </a:p>
        </p:txBody>
      </p:sp>
      <p:sp>
        <p:nvSpPr>
          <p:cNvPr id="34" name="comp10"/>
          <p:cNvSpPr/>
          <p:nvPr/>
        </p:nvSpPr>
        <p:spPr>
          <a:xfrm>
            <a:off x="6233008" y="3264408"/>
            <a:ext cx="5501488" cy="621792"/>
          </a:xfrm>
          <a:prstGeom prst="rect">
            <a:avLst/>
          </a:prstGeom>
          <a:solidFill>
            <a:srgbClr val="FFFFFF"/>
          </a:solidFill>
          <a:ln w="22225">
            <a:solidFill>
              <a:srgbClr val="76B900"/>
            </a:solidFill>
            <a:prstDash val="solid"/>
          </a:ln>
        </p:spPr>
      </p:sp>
      <p:sp>
        <p:nvSpPr>
          <p:cNvPr id="35" name="Text 33"/>
          <p:cNvSpPr txBox="1"/>
          <p:nvPr/>
        </p:nvSpPr>
        <p:spPr>
          <a:xfrm>
            <a:off x="6342736" y="3310128"/>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Evaluator</a:t>
            </a:r>
            <a:endParaRPr lang="en-US" sz="1050" dirty="0"/>
          </a:p>
          <a:p>
            <a:pPr indent="0" marL="0">
              <a:lnSpc>
                <a:spcPct val="92000"/>
              </a:lnSpc>
              <a:buNone/>
            </a:pPr>
            <a:r>
              <a:rPr lang="en-US" sz="850" dirty="0">
                <a:solidFill>
                  <a:srgbClr val="5C6B64"/>
                </a:solidFill>
              </a:rPr>
              <a:t>Six measures as BYOB benchmarks, run over run.</a:t>
            </a:r>
            <a:endParaRPr lang="en-US" sz="1050" dirty="0"/>
          </a:p>
        </p:txBody>
      </p:sp>
      <p:sp>
        <p:nvSpPr>
          <p:cNvPr id="36" name="Text 34"/>
          <p:cNvSpPr txBox="1"/>
          <p:nvPr/>
        </p:nvSpPr>
        <p:spPr>
          <a:xfrm>
            <a:off x="9722815" y="3310128"/>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Evaluator result schema</a:t>
            </a:r>
            <a:endParaRPr lang="en-US" sz="850" dirty="0"/>
          </a:p>
        </p:txBody>
      </p:sp>
      <p:sp>
        <p:nvSpPr>
          <p:cNvPr id="37" name="comp11"/>
          <p:cNvSpPr/>
          <p:nvPr/>
        </p:nvSpPr>
        <p:spPr>
          <a:xfrm>
            <a:off x="6233008" y="3986784"/>
            <a:ext cx="5501488" cy="621792"/>
          </a:xfrm>
          <a:prstGeom prst="rect">
            <a:avLst/>
          </a:prstGeom>
          <a:solidFill>
            <a:srgbClr val="FFFFFF"/>
          </a:solidFill>
          <a:ln w="22225">
            <a:solidFill>
              <a:srgbClr val="76B900"/>
            </a:solidFill>
            <a:prstDash val="solid"/>
          </a:ln>
        </p:spPr>
      </p:sp>
      <p:sp>
        <p:nvSpPr>
          <p:cNvPr id="38" name="Text 36"/>
          <p:cNvSpPr txBox="1"/>
          <p:nvPr/>
        </p:nvSpPr>
        <p:spPr>
          <a:xfrm>
            <a:off x="6342736" y="4032504"/>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Relay</a:t>
            </a:r>
            <a:endParaRPr lang="en-US" sz="1050" dirty="0"/>
          </a:p>
          <a:p>
            <a:pPr indent="0" marL="0">
              <a:lnSpc>
                <a:spcPct val="92000"/>
              </a:lnSpc>
              <a:buNone/>
            </a:pPr>
            <a:r>
              <a:rPr lang="en-US" sz="850" dirty="0">
                <a:solidFill>
                  <a:srgbClr val="5C6B64"/>
                </a:solidFill>
              </a:rPr>
              <a:t>How an answer was produced, not just what it said.</a:t>
            </a:r>
            <a:endParaRPr lang="en-US" sz="1050" dirty="0"/>
          </a:p>
        </p:txBody>
      </p:sp>
      <p:sp>
        <p:nvSpPr>
          <p:cNvPr id="39" name="Text 37"/>
          <p:cNvSpPr txBox="1"/>
          <p:nvPr/>
        </p:nvSpPr>
        <p:spPr>
          <a:xfrm>
            <a:off x="9722815" y="4032504"/>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per-stage trace spans</a:t>
            </a:r>
            <a:endParaRPr lang="en-US" sz="850" dirty="0"/>
          </a:p>
        </p:txBody>
      </p:sp>
      <p:sp>
        <p:nvSpPr>
          <p:cNvPr id="40" name="comp12"/>
          <p:cNvSpPr/>
          <p:nvPr/>
        </p:nvSpPr>
        <p:spPr>
          <a:xfrm>
            <a:off x="6233008" y="4709160"/>
            <a:ext cx="5501488" cy="621792"/>
          </a:xfrm>
          <a:prstGeom prst="rect">
            <a:avLst/>
          </a:prstGeom>
          <a:solidFill>
            <a:srgbClr val="FFFFFF"/>
          </a:solidFill>
          <a:ln w="22225">
            <a:solidFill>
              <a:srgbClr val="76B900"/>
            </a:solidFill>
            <a:prstDash val="solid"/>
          </a:ln>
        </p:spPr>
      </p:sp>
      <p:sp>
        <p:nvSpPr>
          <p:cNvPr id="41" name="Text 39"/>
          <p:cNvSpPr txBox="1"/>
          <p:nvPr/>
        </p:nvSpPr>
        <p:spPr>
          <a:xfrm>
            <a:off x="6342736" y="4754880"/>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NeMo Switchyard</a:t>
            </a:r>
            <a:endParaRPr lang="en-US" sz="1050" dirty="0"/>
          </a:p>
          <a:p>
            <a:pPr indent="0" marL="0">
              <a:lnSpc>
                <a:spcPct val="92000"/>
              </a:lnSpc>
              <a:buNone/>
            </a:pPr>
            <a:r>
              <a:rPr lang="en-US" sz="850" dirty="0">
                <a:solidFill>
                  <a:srgbClr val="5C6B64"/>
                </a:solidFill>
              </a:rPr>
              <a:t>Efficient model local, capable one hosted.</a:t>
            </a:r>
            <a:endParaRPr lang="en-US" sz="1050" dirty="0"/>
          </a:p>
        </p:txBody>
      </p:sp>
      <p:sp>
        <p:nvSpPr>
          <p:cNvPr id="42" name="Text 40"/>
          <p:cNvSpPr txBox="1"/>
          <p:nvPr/>
        </p:nvSpPr>
        <p:spPr>
          <a:xfrm>
            <a:off x="9722815" y="4754880"/>
            <a:ext cx="1901952" cy="530352"/>
          </a:xfrm>
          <a:prstGeom prst="rect">
            <a:avLst/>
          </a:prstGeom>
          <a:noFill/>
          <a:ln/>
        </p:spPr>
        <p:txBody>
          <a:bodyPr wrap="square" lIns="0" tIns="0" rIns="0" bIns="0" rtlCol="0" anchor="ctr"/>
          <a:lstStyle/>
          <a:p>
            <a:pPr algn="r" indent="0" marL="0">
              <a:buNone/>
            </a:pPr>
            <a:r>
              <a:rPr lang="en-US" sz="850" dirty="0">
                <a:solidFill>
                  <a:srgbClr val="5C6B64"/>
                </a:solidFill>
              </a:rPr>
              <a:t>off unless enabled</a:t>
            </a:r>
            <a:endParaRPr lang="en-US" sz="850" dirty="0"/>
          </a:p>
        </p:txBody>
      </p:sp>
      <p:sp>
        <p:nvSpPr>
          <p:cNvPr id="43" name="comp13"/>
          <p:cNvSpPr/>
          <p:nvPr/>
        </p:nvSpPr>
        <p:spPr>
          <a:xfrm>
            <a:off x="6233008" y="5431536"/>
            <a:ext cx="5501488" cy="621792"/>
          </a:xfrm>
          <a:prstGeom prst="rect">
            <a:avLst/>
          </a:prstGeom>
          <a:solidFill>
            <a:srgbClr val="FFFFFF"/>
          </a:solidFill>
          <a:ln w="19050">
            <a:solidFill>
              <a:srgbClr val="76B900"/>
            </a:solidFill>
            <a:prstDash val="dash"/>
          </a:ln>
        </p:spPr>
      </p:sp>
      <p:sp>
        <p:nvSpPr>
          <p:cNvPr id="44" name="Text 42"/>
          <p:cNvSpPr txBox="1"/>
          <p:nvPr/>
        </p:nvSpPr>
        <p:spPr>
          <a:xfrm>
            <a:off x="6342736" y="5477256"/>
            <a:ext cx="3352648" cy="548640"/>
          </a:xfrm>
          <a:prstGeom prst="rect">
            <a:avLst/>
          </a:prstGeom>
          <a:noFill/>
          <a:ln/>
        </p:spPr>
        <p:txBody>
          <a:bodyPr wrap="square" lIns="0" tIns="0" rIns="0" bIns="0" rtlCol="0" anchor="t"/>
          <a:lstStyle/>
          <a:p>
            <a:pPr indent="0" marL="0">
              <a:lnSpc>
                <a:spcPct val="92000"/>
              </a:lnSpc>
              <a:buNone/>
            </a:pPr>
            <a:r>
              <a:rPr lang="en-US" sz="1050" b="1" dirty="0">
                <a:solidFill>
                  <a:srgbClr val="4A7023"/>
                </a:solidFill>
              </a:rPr>
              <a:t>NemoClaw / OpenShell</a:t>
            </a:r>
            <a:endParaRPr lang="en-US" sz="1050" dirty="0"/>
          </a:p>
          <a:p>
            <a:pPr indent="0" marL="0">
              <a:lnSpc>
                <a:spcPct val="92000"/>
              </a:lnSpc>
              <a:buNone/>
            </a:pPr>
            <a:r>
              <a:rPr lang="en-US" sz="850" dirty="0">
                <a:solidFill>
                  <a:srgbClr val="5C6B64"/>
                </a:solidFill>
              </a:rPr>
              <a:t>Would add a containment boundary and a sandboxed compute tool.</a:t>
            </a:r>
            <a:endParaRPr lang="en-US" sz="1050" dirty="0"/>
          </a:p>
        </p:txBody>
      </p:sp>
      <p:sp>
        <p:nvSpPr>
          <p:cNvPr id="45" name="Text 43"/>
          <p:cNvSpPr txBox="1"/>
          <p:nvPr/>
        </p:nvSpPr>
        <p:spPr>
          <a:xfrm>
            <a:off x="9722815" y="5477256"/>
            <a:ext cx="1901952" cy="530352"/>
          </a:xfrm>
          <a:prstGeom prst="rect">
            <a:avLst/>
          </a:prstGeom>
          <a:noFill/>
          <a:ln/>
        </p:spPr>
        <p:txBody>
          <a:bodyPr wrap="square" lIns="0" tIns="0" rIns="0" bIns="0" rtlCol="0" anchor="ctr"/>
          <a:lstStyle/>
          <a:p>
            <a:pPr algn="r" indent="0" marL="0">
              <a:buNone/>
            </a:pPr>
            <a:r>
              <a:rPr lang="en-US" sz="850" b="1" dirty="0">
                <a:solidFill>
                  <a:srgbClr val="C1562A"/>
                </a:solidFill>
              </a:rPr>
              <a:t>BLOCKED — platform fault</a:t>
            </a:r>
            <a:endParaRPr lang="en-US" sz="850" dirty="0"/>
          </a:p>
        </p:txBody>
      </p:sp>
      <p:sp>
        <p:nvSpPr>
          <p:cNvPr id="46" name="Text 44"/>
          <p:cNvSpPr txBox="1"/>
          <p:nvPr/>
        </p:nvSpPr>
        <p:spPr>
          <a:xfrm>
            <a:off x="457200" y="6236208"/>
            <a:ext cx="11277295" cy="329184"/>
          </a:xfrm>
          <a:prstGeom prst="rect">
            <a:avLst/>
          </a:prstGeom>
          <a:noFill/>
          <a:ln/>
        </p:spPr>
        <p:txBody>
          <a:bodyPr wrap="square" lIns="0" tIns="0" rIns="0" bIns="0" rtlCol="0" anchor="ctr"/>
          <a:lstStyle/>
          <a:p>
            <a:pPr indent="0" marL="0">
              <a:buNone/>
            </a:pPr>
            <a:r>
              <a:rPr lang="en-US" sz="900" i="1" dirty="0">
                <a:solidFill>
                  <a:srgbClr val="5C6B64"/>
                </a:solidFill>
              </a:rPr>
              <a:t>The blocked row costs the containment boundary, and a sandboxed compute tool that would let derived figures be computed rather than narrated. It is not in the answer path: the agent the console and the API call is this project's own router, and nothing in it executes untrusted code.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One Brev L40S. All three NIMs co-reside in roughly 40 GB of the 48 — which is why escalation leaves the box</a:t>
            </a:r>
            <a:endParaRPr lang="en-US" sz="1100" dirty="0"/>
          </a:p>
        </p:txBody>
      </p:sp>
      <p:sp>
        <p:nvSpPr>
          <p:cNvPr id="4" name="Shape 2"/>
          <p:cNvSpPr/>
          <p:nvPr/>
        </p:nvSpPr>
        <p:spPr>
          <a:xfrm>
            <a:off x="457200" y="1115568"/>
            <a:ext cx="11277295" cy="274320"/>
          </a:xfrm>
          <a:prstGeom prst="rect">
            <a:avLst/>
          </a:prstGeom>
          <a:solidFill>
            <a:srgbClr val="14302A"/>
          </a:solidFill>
          <a:ln w="12700">
            <a:solidFill>
              <a:srgbClr val="14302A"/>
            </a:solidFill>
            <a:prstDash val="solid"/>
          </a:ln>
        </p:spPr>
      </p:sp>
      <p:sp>
        <p:nvSpPr>
          <p:cNvPr id="5" name="Text 3"/>
          <p:cNvSpPr txBox="1"/>
          <p:nvPr/>
        </p:nvSpPr>
        <p:spPr>
          <a:xfrm>
            <a:off x="566928" y="1115568"/>
            <a:ext cx="1105783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457200" y="1536192"/>
            <a:ext cx="11277295" cy="219456"/>
          </a:xfrm>
          <a:prstGeom prst="rect">
            <a:avLst/>
          </a:prstGeom>
          <a:solidFill>
            <a:srgbClr val="1E4035"/>
          </a:solidFill>
          <a:ln w="12700">
            <a:solidFill>
              <a:srgbClr val="1E4035"/>
            </a:solidFill>
            <a:prstDash val="solid"/>
          </a:ln>
        </p:spPr>
      </p:sp>
      <p:sp>
        <p:nvSpPr>
          <p:cNvPr id="7" name="Text 5"/>
          <p:cNvSpPr txBox="1"/>
          <p:nvPr/>
        </p:nvSpPr>
        <p:spPr>
          <a:xfrm>
            <a:off x="566928" y="1536192"/>
            <a:ext cx="11057839" cy="219456"/>
          </a:xfrm>
          <a:prstGeom prst="rect">
            <a:avLst/>
          </a:prstGeom>
          <a:noFill/>
          <a:ln/>
        </p:spPr>
        <p:txBody>
          <a:bodyPr wrap="square" lIns="0" tIns="0" rIns="0" bIns="0" rtlCol="0" anchor="ctr"/>
          <a:lstStyle/>
          <a:p>
            <a:pPr algn="l" indent="0" marL="0">
              <a:buNone/>
            </a:pPr>
            <a:r>
              <a:rPr lang="en-US" sz="950" b="1" spc="60" kern="0" dirty="0">
                <a:solidFill>
                  <a:srgbClr val="FFFFFF"/>
                </a:solidFill>
              </a:rPr>
              <a:t>GPU — served models</a:t>
            </a:r>
            <a:endParaRPr lang="en-US" sz="950" dirty="0"/>
          </a:p>
        </p:txBody>
      </p:sp>
      <p:sp>
        <p:nvSpPr>
          <p:cNvPr id="8" name="card-LLM NIM · :8000"/>
          <p:cNvSpPr/>
          <p:nvPr/>
        </p:nvSpPr>
        <p:spPr>
          <a:xfrm>
            <a:off x="457200" y="1792224"/>
            <a:ext cx="2750744" cy="658368"/>
          </a:xfrm>
          <a:prstGeom prst="rect">
            <a:avLst/>
          </a:prstGeom>
          <a:solidFill>
            <a:srgbClr val="5B8C3A"/>
          </a:solidFill>
          <a:ln w="19050">
            <a:solidFill>
              <a:srgbClr val="446B29"/>
            </a:solidFill>
            <a:prstDash val="solid"/>
          </a:ln>
        </p:spPr>
      </p:sp>
      <p:sp>
        <p:nvSpPr>
          <p:cNvPr id="9" name="Text 7"/>
          <p:cNvSpPr txBox="1"/>
          <p:nvPr/>
        </p:nvSpPr>
        <p:spPr>
          <a:xfrm>
            <a:off x="521208" y="1828800"/>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FFFFFF"/>
                </a:solidFill>
              </a:rPr>
              <a:t>LLM NIM · :8000</a:t>
            </a:r>
            <a:endParaRPr lang="en-US" sz="950" dirty="0"/>
          </a:p>
          <a:p>
            <a:pPr algn="l" indent="0" marL="0">
              <a:lnSpc>
                <a:spcPct val="92000"/>
              </a:lnSpc>
              <a:buNone/>
            </a:pPr>
            <a:r>
              <a:rPr lang="en-US" sz="800" dirty="0">
                <a:solidFill>
                  <a:srgbClr val="DCE8CF"/>
                </a:solidFill>
              </a:rPr>
              <a:t>Nemotron Nano 8B · about 22.5 GB</a:t>
            </a:r>
            <a:endParaRPr lang="en-US" sz="950" dirty="0"/>
          </a:p>
        </p:txBody>
      </p:sp>
      <p:sp>
        <p:nvSpPr>
          <p:cNvPr id="10" name="card-Embedding NIM · :8"/>
          <p:cNvSpPr/>
          <p:nvPr/>
        </p:nvSpPr>
        <p:spPr>
          <a:xfrm>
            <a:off x="3299384" y="1792224"/>
            <a:ext cx="2750744" cy="658368"/>
          </a:xfrm>
          <a:prstGeom prst="rect">
            <a:avLst/>
          </a:prstGeom>
          <a:solidFill>
            <a:srgbClr val="5B8C3A"/>
          </a:solidFill>
          <a:ln w="19050">
            <a:solidFill>
              <a:srgbClr val="446B29"/>
            </a:solidFill>
            <a:prstDash val="solid"/>
          </a:ln>
        </p:spPr>
      </p:sp>
      <p:sp>
        <p:nvSpPr>
          <p:cNvPr id="11" name="Text 9"/>
          <p:cNvSpPr txBox="1"/>
          <p:nvPr/>
        </p:nvSpPr>
        <p:spPr>
          <a:xfrm>
            <a:off x="3363392" y="1828800"/>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FFFFFF"/>
                </a:solidFill>
              </a:rPr>
              <a:t>Embedding NIM · :8001</a:t>
            </a:r>
            <a:endParaRPr lang="en-US" sz="950" dirty="0"/>
          </a:p>
          <a:p>
            <a:pPr algn="l" indent="0" marL="0">
              <a:lnSpc>
                <a:spcPct val="92000"/>
              </a:lnSpc>
              <a:buNone/>
            </a:pPr>
            <a:r>
              <a:rPr lang="en-US" sz="800" dirty="0">
                <a:solidFill>
                  <a:srgbClr val="DCE8CF"/>
                </a:solidFill>
              </a:rPr>
              <a:t>NV-EmbedQA E5 v5 · 1024 dimensions</a:t>
            </a:r>
            <a:endParaRPr lang="en-US" sz="950" dirty="0"/>
          </a:p>
        </p:txBody>
      </p:sp>
      <p:sp>
        <p:nvSpPr>
          <p:cNvPr id="12" name="card-Reranking NIM · :8"/>
          <p:cNvSpPr/>
          <p:nvPr/>
        </p:nvSpPr>
        <p:spPr>
          <a:xfrm>
            <a:off x="6141568" y="1792224"/>
            <a:ext cx="2750744" cy="658368"/>
          </a:xfrm>
          <a:prstGeom prst="rect">
            <a:avLst/>
          </a:prstGeom>
          <a:solidFill>
            <a:srgbClr val="5B8C3A"/>
          </a:solidFill>
          <a:ln w="19050">
            <a:solidFill>
              <a:srgbClr val="446B29"/>
            </a:solidFill>
            <a:prstDash val="solid"/>
          </a:ln>
        </p:spPr>
      </p:sp>
      <p:sp>
        <p:nvSpPr>
          <p:cNvPr id="13" name="Text 11"/>
          <p:cNvSpPr txBox="1"/>
          <p:nvPr/>
        </p:nvSpPr>
        <p:spPr>
          <a:xfrm>
            <a:off x="6205576" y="1828800"/>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FFFFFF"/>
                </a:solidFill>
              </a:rPr>
              <a:t>Reranking NIM · :8002</a:t>
            </a:r>
            <a:endParaRPr lang="en-US" sz="950" dirty="0"/>
          </a:p>
          <a:p>
            <a:pPr algn="l" indent="0" marL="0">
              <a:lnSpc>
                <a:spcPct val="92000"/>
              </a:lnSpc>
              <a:buNone/>
            </a:pPr>
            <a:r>
              <a:rPr lang="en-US" sz="800" dirty="0">
                <a:solidFill>
                  <a:srgbClr val="DCE8CF"/>
                </a:solidFill>
              </a:rPr>
              <a:t>NV-RerankQA 4B · no hosted equivalent</a:t>
            </a:r>
            <a:endParaRPr lang="en-US" sz="950" dirty="0"/>
          </a:p>
        </p:txBody>
      </p:sp>
      <p:sp>
        <p:nvSpPr>
          <p:cNvPr id="14" name="card-DCGM exporter · :9"/>
          <p:cNvSpPr/>
          <p:nvPr/>
        </p:nvSpPr>
        <p:spPr>
          <a:xfrm>
            <a:off x="8983751" y="1792224"/>
            <a:ext cx="2750744" cy="658368"/>
          </a:xfrm>
          <a:prstGeom prst="rect">
            <a:avLst/>
          </a:prstGeom>
          <a:solidFill>
            <a:srgbClr val="5B8C3A"/>
          </a:solidFill>
          <a:ln w="19050">
            <a:solidFill>
              <a:srgbClr val="446B29"/>
            </a:solidFill>
            <a:prstDash val="solid"/>
          </a:ln>
        </p:spPr>
      </p:sp>
      <p:sp>
        <p:nvSpPr>
          <p:cNvPr id="15" name="Text 13"/>
          <p:cNvSpPr txBox="1"/>
          <p:nvPr/>
        </p:nvSpPr>
        <p:spPr>
          <a:xfrm>
            <a:off x="9047759" y="1828800"/>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FFFFFF"/>
                </a:solidFill>
              </a:rPr>
              <a:t>DCGM exporter · :9401</a:t>
            </a:r>
            <a:endParaRPr lang="en-US" sz="950" dirty="0"/>
          </a:p>
          <a:p>
            <a:pPr algn="l" indent="0" marL="0">
              <a:lnSpc>
                <a:spcPct val="92000"/>
              </a:lnSpc>
              <a:buNone/>
            </a:pPr>
            <a:r>
              <a:rPr lang="en-US" sz="800" dirty="0">
                <a:solidFill>
                  <a:srgbClr val="DCE8CF"/>
                </a:solidFill>
              </a:rPr>
              <a:t>19 GPU series, scraped every 10s</a:t>
            </a:r>
            <a:endParaRPr lang="en-US" sz="950" dirty="0"/>
          </a:p>
        </p:txBody>
      </p:sp>
      <p:sp>
        <p:nvSpPr>
          <p:cNvPr id="16" name="Shape 14"/>
          <p:cNvSpPr/>
          <p:nvPr/>
        </p:nvSpPr>
        <p:spPr>
          <a:xfrm>
            <a:off x="457200" y="2651760"/>
            <a:ext cx="11277295" cy="219456"/>
          </a:xfrm>
          <a:prstGeom prst="rect">
            <a:avLst/>
          </a:prstGeom>
          <a:solidFill>
            <a:srgbClr val="1E4035"/>
          </a:solidFill>
          <a:ln w="12700">
            <a:solidFill>
              <a:srgbClr val="1E4035"/>
            </a:solidFill>
            <a:prstDash val="solid"/>
          </a:ln>
        </p:spPr>
      </p:sp>
      <p:sp>
        <p:nvSpPr>
          <p:cNvPr id="17" name="Text 15"/>
          <p:cNvSpPr txBox="1"/>
          <p:nvPr/>
        </p:nvSpPr>
        <p:spPr>
          <a:xfrm>
            <a:off x="566928" y="2651760"/>
            <a:ext cx="11057839" cy="219456"/>
          </a:xfrm>
          <a:prstGeom prst="rect">
            <a:avLst/>
          </a:prstGeom>
          <a:noFill/>
          <a:ln/>
        </p:spPr>
        <p:txBody>
          <a:bodyPr wrap="square" lIns="0" tIns="0" rIns="0" bIns="0" rtlCol="0" anchor="ctr"/>
          <a:lstStyle/>
          <a:p>
            <a:pPr algn="l" indent="0" marL="0">
              <a:buNone/>
            </a:pPr>
            <a:r>
              <a:rPr lang="en-US" sz="950" b="1" spc="60" kern="0" dirty="0">
                <a:solidFill>
                  <a:srgbClr val="FFFFFF"/>
                </a:solidFill>
              </a:rPr>
              <a:t>Datastores</a:t>
            </a:r>
            <a:endParaRPr lang="en-US" sz="950" dirty="0"/>
          </a:p>
        </p:txBody>
      </p:sp>
      <p:sp>
        <p:nvSpPr>
          <p:cNvPr id="18" name="card-Milvus · :19530"/>
          <p:cNvSpPr/>
          <p:nvPr/>
        </p:nvSpPr>
        <p:spPr>
          <a:xfrm>
            <a:off x="457200" y="2907792"/>
            <a:ext cx="2750744" cy="658368"/>
          </a:xfrm>
          <a:prstGeom prst="rect">
            <a:avLst/>
          </a:prstGeom>
          <a:solidFill>
            <a:srgbClr val="FFFFFF"/>
          </a:solidFill>
          <a:ln w="12700">
            <a:solidFill>
              <a:srgbClr val="C3CCC0"/>
            </a:solidFill>
            <a:prstDash val="solid"/>
          </a:ln>
        </p:spPr>
      </p:sp>
      <p:sp>
        <p:nvSpPr>
          <p:cNvPr id="19" name="Text 17"/>
          <p:cNvSpPr txBox="1"/>
          <p:nvPr/>
        </p:nvSpPr>
        <p:spPr>
          <a:xfrm>
            <a:off x="521208" y="2944368"/>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Milvus · :19530</a:t>
            </a:r>
            <a:endParaRPr lang="en-US" sz="950" dirty="0"/>
          </a:p>
          <a:p>
            <a:pPr algn="l" indent="0" marL="0">
              <a:lnSpc>
                <a:spcPct val="92000"/>
              </a:lnSpc>
              <a:buNone/>
            </a:pPr>
            <a:r>
              <a:rPr lang="en-US" sz="800" dirty="0">
                <a:solidFill>
                  <a:srgbClr val="5C6B64"/>
                </a:solidFill>
              </a:rPr>
              <a:t>the vector store; metrics on :9091</a:t>
            </a:r>
            <a:endParaRPr lang="en-US" sz="950" dirty="0"/>
          </a:p>
        </p:txBody>
      </p:sp>
      <p:sp>
        <p:nvSpPr>
          <p:cNvPr id="20" name="card-SQLite"/>
          <p:cNvSpPr/>
          <p:nvPr/>
        </p:nvSpPr>
        <p:spPr>
          <a:xfrm>
            <a:off x="3299384" y="2907792"/>
            <a:ext cx="2750744" cy="658368"/>
          </a:xfrm>
          <a:prstGeom prst="rect">
            <a:avLst/>
          </a:prstGeom>
          <a:solidFill>
            <a:srgbClr val="FFFFFF"/>
          </a:solidFill>
          <a:ln w="12700">
            <a:solidFill>
              <a:srgbClr val="C3CCC0"/>
            </a:solidFill>
            <a:prstDash val="solid"/>
          </a:ln>
        </p:spPr>
      </p:sp>
      <p:sp>
        <p:nvSpPr>
          <p:cNvPr id="21" name="Text 19"/>
          <p:cNvSpPr txBox="1"/>
          <p:nvPr/>
        </p:nvSpPr>
        <p:spPr>
          <a:xfrm>
            <a:off x="3363392" y="2944368"/>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SQLite</a:t>
            </a:r>
            <a:endParaRPr lang="en-US" sz="950" dirty="0"/>
          </a:p>
          <a:p>
            <a:pPr algn="l" indent="0" marL="0">
              <a:lnSpc>
                <a:spcPct val="92000"/>
              </a:lnSpc>
              <a:buNone/>
            </a:pPr>
            <a:r>
              <a:rPr lang="en-US" sz="800" dirty="0">
                <a:solidFill>
                  <a:srgbClr val="5C6B64"/>
                </a:solidFill>
              </a:rPr>
              <a:t>system of record; every app read is read-only</a:t>
            </a:r>
            <a:endParaRPr lang="en-US" sz="950" dirty="0"/>
          </a:p>
        </p:txBody>
      </p:sp>
      <p:sp>
        <p:nvSpPr>
          <p:cNvPr id="22" name="card-An unused embedded"/>
          <p:cNvSpPr/>
          <p:nvPr/>
        </p:nvSpPr>
        <p:spPr>
          <a:xfrm>
            <a:off x="6141568" y="2907792"/>
            <a:ext cx="2750744" cy="658368"/>
          </a:xfrm>
          <a:prstGeom prst="rect">
            <a:avLst/>
          </a:prstGeom>
          <a:solidFill>
            <a:srgbClr val="FFFFFF"/>
          </a:solidFill>
          <a:ln w="12700">
            <a:solidFill>
              <a:srgbClr val="C3CCC0"/>
            </a:solidFill>
            <a:prstDash val="solid"/>
          </a:ln>
        </p:spPr>
      </p:sp>
      <p:sp>
        <p:nvSpPr>
          <p:cNvPr id="23" name="Text 21"/>
          <p:cNvSpPr txBox="1"/>
          <p:nvPr/>
        </p:nvSpPr>
        <p:spPr>
          <a:xfrm>
            <a:off x="6205576" y="2944368"/>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An unused embedded store</a:t>
            </a:r>
            <a:endParaRPr lang="en-US" sz="950" dirty="0"/>
          </a:p>
          <a:p>
            <a:pPr algn="l" indent="0" marL="0">
              <a:lnSpc>
                <a:spcPct val="92000"/>
              </a:lnSpc>
              <a:buNone/>
            </a:pPr>
            <a:r>
              <a:rPr lang="en-US" sz="800" dirty="0">
                <a:solidFill>
                  <a:srgbClr val="5C6B64"/>
                </a:solidFill>
              </a:rPr>
              <a:t>present and NOT in use — the startup report names it</a:t>
            </a:r>
            <a:endParaRPr lang="en-US" sz="950" dirty="0"/>
          </a:p>
        </p:txBody>
      </p:sp>
      <p:sp>
        <p:nvSpPr>
          <p:cNvPr id="24" name="card-Named volumes"/>
          <p:cNvSpPr/>
          <p:nvPr/>
        </p:nvSpPr>
        <p:spPr>
          <a:xfrm>
            <a:off x="8983751" y="2907792"/>
            <a:ext cx="2750744" cy="658368"/>
          </a:xfrm>
          <a:prstGeom prst="rect">
            <a:avLst/>
          </a:prstGeom>
          <a:solidFill>
            <a:srgbClr val="FFFFFF"/>
          </a:solidFill>
          <a:ln w="12700">
            <a:solidFill>
              <a:srgbClr val="C3CCC0"/>
            </a:solidFill>
            <a:prstDash val="solid"/>
          </a:ln>
        </p:spPr>
      </p:sp>
      <p:sp>
        <p:nvSpPr>
          <p:cNvPr id="25" name="Text 23"/>
          <p:cNvSpPr txBox="1"/>
          <p:nvPr/>
        </p:nvSpPr>
        <p:spPr>
          <a:xfrm>
            <a:off x="9047759" y="2944368"/>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Named volumes</a:t>
            </a:r>
            <a:endParaRPr lang="en-US" sz="950" dirty="0"/>
          </a:p>
          <a:p>
            <a:pPr algn="l" indent="0" marL="0">
              <a:lnSpc>
                <a:spcPct val="92000"/>
              </a:lnSpc>
              <a:buNone/>
            </a:pPr>
            <a:r>
              <a:rPr lang="en-US" sz="800" dirty="0">
                <a:solidFill>
                  <a:srgbClr val="5C6B64"/>
                </a:solidFill>
              </a:rPr>
              <a:t>Prometheus retention survives a recreate</a:t>
            </a:r>
            <a:endParaRPr lang="en-US" sz="950" dirty="0"/>
          </a:p>
        </p:txBody>
      </p:sp>
      <p:sp>
        <p:nvSpPr>
          <p:cNvPr id="26" name="Shape 24"/>
          <p:cNvSpPr/>
          <p:nvPr/>
        </p:nvSpPr>
        <p:spPr>
          <a:xfrm>
            <a:off x="457200" y="3767328"/>
            <a:ext cx="11277295" cy="219456"/>
          </a:xfrm>
          <a:prstGeom prst="rect">
            <a:avLst/>
          </a:prstGeom>
          <a:solidFill>
            <a:srgbClr val="1E4035"/>
          </a:solidFill>
          <a:ln w="12700">
            <a:solidFill>
              <a:srgbClr val="1E4035"/>
            </a:solidFill>
            <a:prstDash val="solid"/>
          </a:ln>
        </p:spPr>
      </p:sp>
      <p:sp>
        <p:nvSpPr>
          <p:cNvPr id="27" name="Text 25"/>
          <p:cNvSpPr txBox="1"/>
          <p:nvPr/>
        </p:nvSpPr>
        <p:spPr>
          <a:xfrm>
            <a:off x="566928" y="3767328"/>
            <a:ext cx="11057839" cy="219456"/>
          </a:xfrm>
          <a:prstGeom prst="rect">
            <a:avLst/>
          </a:prstGeom>
          <a:noFill/>
          <a:ln/>
        </p:spPr>
        <p:txBody>
          <a:bodyPr wrap="square" lIns="0" tIns="0" rIns="0" bIns="0" rtlCol="0" anchor="ctr"/>
          <a:lstStyle/>
          <a:p>
            <a:pPr algn="l" indent="0" marL="0">
              <a:buNone/>
            </a:pPr>
            <a:r>
              <a:rPr lang="en-US" sz="950" b="1" spc="60" kern="0" dirty="0">
                <a:solidFill>
                  <a:srgbClr val="FFFFFF"/>
                </a:solidFill>
              </a:rPr>
              <a:t>Application and operator surfaces</a:t>
            </a:r>
            <a:endParaRPr lang="en-US" sz="950" dirty="0"/>
          </a:p>
        </p:txBody>
      </p:sp>
      <p:sp>
        <p:nvSpPr>
          <p:cNvPr id="28" name="card-HTTP API · :8080"/>
          <p:cNvSpPr/>
          <p:nvPr/>
        </p:nvSpPr>
        <p:spPr>
          <a:xfrm>
            <a:off x="457200" y="4023360"/>
            <a:ext cx="2750744" cy="658368"/>
          </a:xfrm>
          <a:prstGeom prst="rect">
            <a:avLst/>
          </a:prstGeom>
          <a:solidFill>
            <a:srgbClr val="FFFFFF"/>
          </a:solidFill>
          <a:ln w="12700">
            <a:solidFill>
              <a:srgbClr val="C3CCC0"/>
            </a:solidFill>
            <a:prstDash val="solid"/>
          </a:ln>
        </p:spPr>
      </p:sp>
      <p:sp>
        <p:nvSpPr>
          <p:cNvPr id="29" name="Text 27"/>
          <p:cNvSpPr txBox="1"/>
          <p:nvPr/>
        </p:nvSpPr>
        <p:spPr>
          <a:xfrm>
            <a:off x="521208" y="4059936"/>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HTTP API · :8080</a:t>
            </a:r>
            <a:endParaRPr lang="en-US" sz="950" dirty="0"/>
          </a:p>
          <a:p>
            <a:pPr algn="l" indent="0" marL="0">
              <a:lnSpc>
                <a:spcPct val="92000"/>
              </a:lnSpc>
              <a:buNone/>
            </a:pPr>
            <a:r>
              <a:rPr lang="en-US" sz="800" dirty="0">
                <a:solidFill>
                  <a:srgbClr val="5C6B64"/>
                </a:solidFill>
              </a:rPr>
              <a:t>27 routes, OpenAPI at /docs</a:t>
            </a:r>
            <a:endParaRPr lang="en-US" sz="950" dirty="0"/>
          </a:p>
        </p:txBody>
      </p:sp>
      <p:sp>
        <p:nvSpPr>
          <p:cNvPr id="30" name="card-Console · :7860"/>
          <p:cNvSpPr/>
          <p:nvPr/>
        </p:nvSpPr>
        <p:spPr>
          <a:xfrm>
            <a:off x="3299384" y="4023360"/>
            <a:ext cx="2750744" cy="658368"/>
          </a:xfrm>
          <a:prstGeom prst="rect">
            <a:avLst/>
          </a:prstGeom>
          <a:solidFill>
            <a:srgbClr val="FFFFFF"/>
          </a:solidFill>
          <a:ln w="12700">
            <a:solidFill>
              <a:srgbClr val="C3CCC0"/>
            </a:solidFill>
            <a:prstDash val="solid"/>
          </a:ln>
        </p:spPr>
      </p:sp>
      <p:sp>
        <p:nvSpPr>
          <p:cNvPr id="31" name="Text 29"/>
          <p:cNvSpPr txBox="1"/>
          <p:nvPr/>
        </p:nvSpPr>
        <p:spPr>
          <a:xfrm>
            <a:off x="3363392" y="4059936"/>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Console · :7860</a:t>
            </a:r>
            <a:endParaRPr lang="en-US" sz="950" dirty="0"/>
          </a:p>
          <a:p>
            <a:pPr algn="l" indent="0" marL="0">
              <a:lnSpc>
                <a:spcPct val="92000"/>
              </a:lnSpc>
              <a:buNone/>
            </a:pPr>
            <a:r>
              <a:rPr lang="en-US" sz="800" dirty="0">
                <a:solidFill>
                  <a:srgbClr val="5C6B64"/>
                </a:solidFill>
              </a:rPr>
              <a:t>6 tabs, optional public link</a:t>
            </a:r>
            <a:endParaRPr lang="en-US" sz="950" dirty="0"/>
          </a:p>
        </p:txBody>
      </p:sp>
      <p:sp>
        <p:nvSpPr>
          <p:cNvPr id="32" name="card-Metrics · :9400"/>
          <p:cNvSpPr/>
          <p:nvPr/>
        </p:nvSpPr>
        <p:spPr>
          <a:xfrm>
            <a:off x="6141568" y="4023360"/>
            <a:ext cx="2750744" cy="658368"/>
          </a:xfrm>
          <a:prstGeom prst="rect">
            <a:avLst/>
          </a:prstGeom>
          <a:solidFill>
            <a:srgbClr val="FFFFFF"/>
          </a:solidFill>
          <a:ln w="12700">
            <a:solidFill>
              <a:srgbClr val="C3CCC0"/>
            </a:solidFill>
            <a:prstDash val="solid"/>
          </a:ln>
        </p:spPr>
      </p:sp>
      <p:sp>
        <p:nvSpPr>
          <p:cNvPr id="33" name="Text 31"/>
          <p:cNvSpPr txBox="1"/>
          <p:nvPr/>
        </p:nvSpPr>
        <p:spPr>
          <a:xfrm>
            <a:off x="6205576" y="4059936"/>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Metrics · :9400</a:t>
            </a:r>
            <a:endParaRPr lang="en-US" sz="950" dirty="0"/>
          </a:p>
          <a:p>
            <a:pPr algn="l" indent="0" marL="0">
              <a:lnSpc>
                <a:spcPct val="92000"/>
              </a:lnSpc>
              <a:buNone/>
            </a:pPr>
            <a:r>
              <a:rPr lang="en-US" sz="800" dirty="0">
                <a:solidFill>
                  <a:srgbClr val="5C6B64"/>
                </a:solidFill>
              </a:rPr>
              <a:t>separate from the API port</a:t>
            </a:r>
            <a:endParaRPr lang="en-US" sz="950" dirty="0"/>
          </a:p>
        </p:txBody>
      </p:sp>
      <p:sp>
        <p:nvSpPr>
          <p:cNvPr id="34" name="card-Operator UIs"/>
          <p:cNvSpPr/>
          <p:nvPr/>
        </p:nvSpPr>
        <p:spPr>
          <a:xfrm>
            <a:off x="8983751" y="4023360"/>
            <a:ext cx="2750744" cy="658368"/>
          </a:xfrm>
          <a:prstGeom prst="rect">
            <a:avLst/>
          </a:prstGeom>
          <a:solidFill>
            <a:srgbClr val="FFFFFF"/>
          </a:solidFill>
          <a:ln w="12700">
            <a:solidFill>
              <a:srgbClr val="C3CCC0"/>
            </a:solidFill>
            <a:prstDash val="solid"/>
          </a:ln>
        </p:spPr>
      </p:sp>
      <p:sp>
        <p:nvSpPr>
          <p:cNvPr id="35" name="Text 33"/>
          <p:cNvSpPr txBox="1"/>
          <p:nvPr/>
        </p:nvSpPr>
        <p:spPr>
          <a:xfrm>
            <a:off x="9047759" y="4059936"/>
            <a:ext cx="2622728" cy="585216"/>
          </a:xfrm>
          <a:prstGeom prst="rect">
            <a:avLst/>
          </a:prstGeom>
          <a:noFill/>
          <a:ln/>
        </p:spPr>
        <p:txBody>
          <a:bodyPr wrap="square" lIns="0" tIns="0" rIns="0" bIns="0" rtlCol="0" anchor="t"/>
          <a:lstStyle/>
          <a:p>
            <a:pPr algn="l" indent="0" marL="0">
              <a:lnSpc>
                <a:spcPct val="92000"/>
              </a:lnSpc>
              <a:buNone/>
            </a:pPr>
            <a:r>
              <a:rPr lang="en-US" sz="950" b="1" dirty="0">
                <a:solidFill>
                  <a:srgbClr val="14302A"/>
                </a:solidFill>
              </a:rPr>
              <a:t>Operator UIs</a:t>
            </a:r>
            <a:endParaRPr lang="en-US" sz="950" dirty="0"/>
          </a:p>
          <a:p>
            <a:pPr algn="l" indent="0" marL="0">
              <a:lnSpc>
                <a:spcPct val="92000"/>
              </a:lnSpc>
              <a:buNone/>
            </a:pPr>
            <a:r>
              <a:rPr lang="en-US" sz="800" dirty="0">
                <a:solidFill>
                  <a:srgbClr val="5C6B64"/>
                </a:solidFill>
              </a:rPr>
              <a:t>Prometheus :9090 · Grafana :3000 · Attu :8101 · sqlite-web :8102 — loopback only</a:t>
            </a:r>
            <a:endParaRPr lang="en-US" sz="950" dirty="0"/>
          </a:p>
        </p:txBody>
      </p:sp>
      <p:sp>
        <p:nvSpPr>
          <p:cNvPr id="36" name="card-What is reachable "/>
          <p:cNvSpPr/>
          <p:nvPr/>
        </p:nvSpPr>
        <p:spPr>
          <a:xfrm>
            <a:off x="457200" y="4937760"/>
            <a:ext cx="11277295" cy="713232"/>
          </a:xfrm>
          <a:prstGeom prst="rect">
            <a:avLst/>
          </a:prstGeom>
          <a:solidFill>
            <a:srgbClr val="FFFFFF"/>
          </a:solidFill>
          <a:ln w="12700">
            <a:solidFill>
              <a:srgbClr val="C3CCC0"/>
            </a:solidFill>
            <a:prstDash val="solid"/>
          </a:ln>
        </p:spPr>
      </p:sp>
      <p:sp>
        <p:nvSpPr>
          <p:cNvPr id="37" name="Text 35"/>
          <p:cNvSpPr txBox="1"/>
          <p:nvPr/>
        </p:nvSpPr>
        <p:spPr>
          <a:xfrm>
            <a:off x="521208" y="4974336"/>
            <a:ext cx="11149279" cy="640080"/>
          </a:xfrm>
          <a:prstGeom prst="rect">
            <a:avLst/>
          </a:prstGeom>
          <a:noFill/>
          <a:ln/>
        </p:spPr>
        <p:txBody>
          <a:bodyPr wrap="square" lIns="0" tIns="0" rIns="0" bIns="0" rtlCol="0" anchor="t"/>
          <a:lstStyle/>
          <a:p>
            <a:pPr algn="l" indent="0" marL="0">
              <a:lnSpc>
                <a:spcPct val="92000"/>
              </a:lnSpc>
              <a:buNone/>
            </a:pPr>
            <a:r>
              <a:rPr lang="en-US" sz="1050" b="1" dirty="0">
                <a:solidFill>
                  <a:srgbClr val="14302A"/>
                </a:solidFill>
              </a:rPr>
              <a:t>What is reachable from outside the box</a:t>
            </a:r>
            <a:endParaRPr lang="en-US" sz="1050" dirty="0"/>
          </a:p>
          <a:p>
            <a:pPr algn="l" indent="0" marL="0">
              <a:lnSpc>
                <a:spcPct val="92000"/>
              </a:lnSpc>
              <a:buNone/>
            </a:pPr>
            <a:r>
              <a:rPr lang="en-US" sz="9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SQLite is the system of record; the vector store is derived from it and can always be rebuilt</a:t>
            </a:r>
            <a:endParaRPr lang="en-US" sz="1100" dirty="0"/>
          </a:p>
        </p:txBody>
      </p:sp>
      <p:sp>
        <p:nvSpPr>
          <p:cNvPr id="4" name="Shape 2"/>
          <p:cNvSpPr/>
          <p:nvPr/>
        </p:nvSpPr>
        <p:spPr>
          <a:xfrm>
            <a:off x="45720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566928" y="1115568"/>
            <a:ext cx="7187184"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SYSTEM OF RECORD</a:t>
            </a:r>
            <a:endParaRPr lang="en-US" sz="1050" dirty="0"/>
          </a:p>
        </p:txBody>
      </p:sp>
      <p:sp>
        <p:nvSpPr>
          <p:cNvPr id="6" name="Shape 4"/>
          <p:cNvSpPr/>
          <p:nvPr/>
        </p:nvSpPr>
        <p:spPr>
          <a:xfrm>
            <a:off x="8046720" y="1115568"/>
            <a:ext cx="3687775" cy="237744"/>
          </a:xfrm>
          <a:prstGeom prst="rect">
            <a:avLst/>
          </a:prstGeom>
          <a:solidFill>
            <a:srgbClr val="1E4035"/>
          </a:solidFill>
          <a:ln w="12700">
            <a:solidFill>
              <a:srgbClr val="1E4035"/>
            </a:solidFill>
            <a:prstDash val="solid"/>
          </a:ln>
        </p:spPr>
      </p:sp>
      <p:sp>
        <p:nvSpPr>
          <p:cNvPr id="7" name="Text 5"/>
          <p:cNvSpPr txBox="1"/>
          <p:nvPr/>
        </p:nvSpPr>
        <p:spPr>
          <a:xfrm>
            <a:off x="8156448" y="1115568"/>
            <a:ext cx="346831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DERIVED — rebuildable from the log</a:t>
            </a:r>
            <a:endParaRPr lang="en-US" sz="1050" dirty="0"/>
          </a:p>
        </p:txBody>
      </p:sp>
      <p:sp>
        <p:nvSpPr>
          <p:cNvPr id="8" name="tbl-ros"/>
          <p:cNvSpPr/>
          <p:nvPr/>
        </p:nvSpPr>
        <p:spPr>
          <a:xfrm>
            <a:off x="45720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566928" y="1508760"/>
            <a:ext cx="2112264" cy="310896"/>
          </a:xfrm>
          <a:prstGeom prst="rect">
            <a:avLst/>
          </a:prstGeom>
          <a:noFill/>
          <a:ln/>
        </p:spPr>
        <p:txBody>
          <a:bodyPr wrap="square" lIns="0" tIns="0" rIns="0" bIns="0" rtlCol="0" anchor="ctr"/>
          <a:lstStyle/>
          <a:p>
            <a:pPr indent="0" marL="0">
              <a:buNone/>
            </a:pPr>
            <a:r>
              <a:rPr lang="en-US" sz="1050" b="1" dirty="0">
                <a:solidFill>
                  <a:srgbClr val="14302A"/>
                </a:solidFill>
              </a:rPr>
              <a:t>ros</a:t>
            </a:r>
            <a:pPr indent="0" marL="0">
              <a:buNone/>
            </a:pPr>
            <a:r>
              <a:rPr lang="en-US" sz="900" dirty="0">
                <a:solidFill>
                  <a:srgbClr val="5C6B64"/>
                </a:solidFill>
              </a:rPr>
              <a:t>   400</a:t>
            </a:r>
            <a:endParaRPr lang="en-US" sz="1050" dirty="0"/>
          </a:p>
        </p:txBody>
      </p:sp>
      <p:sp>
        <p:nvSpPr>
          <p:cNvPr id="10" name="Text 8"/>
          <p:cNvSpPr txBox="1"/>
          <p:nvPr/>
        </p:nvSpPr>
        <p:spPr>
          <a:xfrm>
            <a:off x="566928" y="1810512"/>
            <a:ext cx="2112264" cy="14081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ro_number  PK</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vin · registration</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make · model · year</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pay_type · wait_type</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promised_time</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advisor · primary_tech</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concern · category</a:t>
            </a:r>
            <a:endParaRPr lang="en-US" sz="850" dirty="0"/>
          </a:p>
        </p:txBody>
      </p:sp>
      <p:sp>
        <p:nvSpPr>
          <p:cNvPr id="11" name="tbl-updates"/>
          <p:cNvSpPr/>
          <p:nvPr/>
        </p:nvSpPr>
        <p:spPr>
          <a:xfrm>
            <a:off x="297180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081528" y="1508760"/>
            <a:ext cx="2112264" cy="310896"/>
          </a:xfrm>
          <a:prstGeom prst="rect">
            <a:avLst/>
          </a:prstGeom>
          <a:noFill/>
          <a:ln/>
        </p:spPr>
        <p:txBody>
          <a:bodyPr wrap="square" lIns="0" tIns="0" rIns="0" bIns="0" rtlCol="0" anchor="ctr"/>
          <a:lstStyle/>
          <a:p>
            <a:pPr indent="0" marL="0">
              <a:buNone/>
            </a:pPr>
            <a:r>
              <a:rPr lang="en-US" sz="1050" b="1" dirty="0">
                <a:solidFill>
                  <a:srgbClr val="14302A"/>
                </a:solidFill>
              </a:rPr>
              <a:t>updates</a:t>
            </a:r>
            <a:pPr indent="0" marL="0">
              <a:buNone/>
            </a:pPr>
            <a:r>
              <a:rPr lang="en-US" sz="900" dirty="0">
                <a:solidFill>
                  <a:srgbClr val="5C6B64"/>
                </a:solidFill>
              </a:rPr>
              <a:t>   1,949</a:t>
            </a:r>
            <a:endParaRPr lang="en-US" sz="1050" dirty="0"/>
          </a:p>
        </p:txBody>
      </p:sp>
      <p:sp>
        <p:nvSpPr>
          <p:cNvPr id="13" name="Text 11"/>
          <p:cNvSpPr txBox="1"/>
          <p:nvPr/>
        </p:nvSpPr>
        <p:spPr>
          <a:xfrm>
            <a:off x="3081528" y="1810512"/>
            <a:ext cx="2112264" cy="14081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update_id  PK</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ro_number → ros</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staff_id → staff</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at · shift</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text   (untrusted)</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ground_truth</a:t>
            </a:r>
            <a:endParaRPr lang="en-US" sz="850" dirty="0"/>
          </a:p>
        </p:txBody>
      </p:sp>
      <p:sp>
        <p:nvSpPr>
          <p:cNvPr id="14" name="tbl-events"/>
          <p:cNvSpPr/>
          <p:nvPr/>
        </p:nvSpPr>
        <p:spPr>
          <a:xfrm>
            <a:off x="548640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596128" y="1508760"/>
            <a:ext cx="2157984" cy="310896"/>
          </a:xfrm>
          <a:prstGeom prst="rect">
            <a:avLst/>
          </a:prstGeom>
          <a:noFill/>
          <a:ln/>
        </p:spPr>
        <p:txBody>
          <a:bodyPr wrap="square" lIns="0" tIns="0" rIns="0" bIns="0" rtlCol="0" anchor="ctr"/>
          <a:lstStyle/>
          <a:p>
            <a:pPr indent="0" marL="0">
              <a:buNone/>
            </a:pPr>
            <a:r>
              <a:rPr lang="en-US" sz="1050" b="1" dirty="0">
                <a:solidFill>
                  <a:srgbClr val="14302A"/>
                </a:solidFill>
              </a:rPr>
              <a:t>events</a:t>
            </a:r>
            <a:pPr indent="0" marL="0">
              <a:buNone/>
            </a:pPr>
            <a:r>
              <a:rPr lang="en-US" sz="900" dirty="0">
                <a:solidFill>
                  <a:srgbClr val="5C6B64"/>
                </a:solidFill>
              </a:rPr>
              <a:t>   10,927</a:t>
            </a:r>
            <a:endParaRPr lang="en-US" sz="1050" dirty="0"/>
          </a:p>
        </p:txBody>
      </p:sp>
      <p:sp>
        <p:nvSpPr>
          <p:cNvPr id="16" name="Text 14"/>
          <p:cNvSpPr txBox="1"/>
          <p:nvPr/>
        </p:nvSpPr>
        <p:spPr>
          <a:xfrm>
            <a:off x="5596128" y="1810512"/>
            <a:ext cx="2157984" cy="14081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event_id  PK</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ro_number → ros</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type · at</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actor_id → staff</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shift</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source_update_id</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payload  (json)</a:t>
            </a:r>
            <a:endParaRPr lang="en-US" sz="850" dirty="0"/>
          </a:p>
        </p:txBody>
      </p:sp>
      <p:sp>
        <p:nvSpPr>
          <p:cNvPr id="17" name="tbl-staff"/>
          <p:cNvSpPr/>
          <p:nvPr/>
        </p:nvSpPr>
        <p:spPr>
          <a:xfrm>
            <a:off x="45720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566928" y="3483864"/>
            <a:ext cx="2112264" cy="310896"/>
          </a:xfrm>
          <a:prstGeom prst="rect">
            <a:avLst/>
          </a:prstGeom>
          <a:noFill/>
          <a:ln/>
        </p:spPr>
        <p:txBody>
          <a:bodyPr wrap="square" lIns="0" tIns="0" rIns="0" bIns="0" rtlCol="0" anchor="ctr"/>
          <a:lstStyle/>
          <a:p>
            <a:pPr indent="0" marL="0">
              <a:buNone/>
            </a:pPr>
            <a:r>
              <a:rPr lang="en-US" sz="1050" b="1" dirty="0">
                <a:solidFill>
                  <a:srgbClr val="14302A"/>
                </a:solidFill>
              </a:rPr>
              <a:t>staff</a:t>
            </a:r>
            <a:pPr indent="0" marL="0">
              <a:buNone/>
            </a:pPr>
            <a:r>
              <a:rPr lang="en-US" sz="900" dirty="0">
                <a:solidFill>
                  <a:srgbClr val="5C6B64"/>
                </a:solidFill>
              </a:rPr>
              <a:t>   50</a:t>
            </a:r>
            <a:endParaRPr lang="en-US" sz="1050" dirty="0"/>
          </a:p>
        </p:txBody>
      </p:sp>
      <p:sp>
        <p:nvSpPr>
          <p:cNvPr id="19" name="Text 17"/>
          <p:cNvSpPr txBox="1"/>
          <p:nvPr/>
        </p:nvSpPr>
        <p:spPr>
          <a:xfrm>
            <a:off x="566928" y="3785616"/>
            <a:ext cx="2112264" cy="9509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staff_id  PK</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name · role</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skill · shift · team</a:t>
            </a:r>
            <a:endParaRPr lang="en-US" sz="850" dirty="0"/>
          </a:p>
        </p:txBody>
      </p:sp>
      <p:sp>
        <p:nvSpPr>
          <p:cNvPr id="20" name="tbl-labour_ops"/>
          <p:cNvSpPr/>
          <p:nvPr/>
        </p:nvSpPr>
        <p:spPr>
          <a:xfrm>
            <a:off x="297180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081528" y="3483864"/>
            <a:ext cx="2112264" cy="310896"/>
          </a:xfrm>
          <a:prstGeom prst="rect">
            <a:avLst/>
          </a:prstGeom>
          <a:noFill/>
          <a:ln/>
        </p:spPr>
        <p:txBody>
          <a:bodyPr wrap="square" lIns="0" tIns="0" rIns="0" bIns="0" rtlCol="0" anchor="ctr"/>
          <a:lstStyle/>
          <a:p>
            <a:pPr indent="0" marL="0">
              <a:buNone/>
            </a:pPr>
            <a:r>
              <a:rPr lang="en-US" sz="1050" b="1" dirty="0">
                <a:solidFill>
                  <a:srgbClr val="14302A"/>
                </a:solidFill>
              </a:rPr>
              <a:t>labour_ops</a:t>
            </a:r>
            <a:pPr indent="0" marL="0">
              <a:buNone/>
            </a:pPr>
            <a:r>
              <a:rPr lang="en-US" sz="900" dirty="0">
                <a:solidFill>
                  <a:srgbClr val="5C6B64"/>
                </a:solidFill>
              </a:rPr>
              <a:t>   104</a:t>
            </a:r>
            <a:endParaRPr lang="en-US" sz="1050" dirty="0"/>
          </a:p>
        </p:txBody>
      </p:sp>
      <p:sp>
        <p:nvSpPr>
          <p:cNvPr id="22" name="Text 20"/>
          <p:cNvSpPr txBox="1"/>
          <p:nvPr/>
        </p:nvSpPr>
        <p:spPr>
          <a:xfrm>
            <a:off x="3081528" y="3785616"/>
            <a:ext cx="2112264" cy="9509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op_code  PK</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description · category</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flat_rate_hrs</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safety_critical</a:t>
            </a:r>
            <a:endParaRPr lang="en-US" sz="850" dirty="0"/>
          </a:p>
        </p:txBody>
      </p:sp>
      <p:sp>
        <p:nvSpPr>
          <p:cNvPr id="23" name="tbl-answer_log"/>
          <p:cNvSpPr/>
          <p:nvPr/>
        </p:nvSpPr>
        <p:spPr>
          <a:xfrm>
            <a:off x="548640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596128" y="3483864"/>
            <a:ext cx="2157984" cy="310896"/>
          </a:xfrm>
          <a:prstGeom prst="rect">
            <a:avLst/>
          </a:prstGeom>
          <a:noFill/>
          <a:ln/>
        </p:spPr>
        <p:txBody>
          <a:bodyPr wrap="square" lIns="0" tIns="0" rIns="0" bIns="0" rtlCol="0" anchor="ctr"/>
          <a:lstStyle/>
          <a:p>
            <a:pPr indent="0" marL="0">
              <a:buNone/>
            </a:pPr>
            <a:r>
              <a:rPr lang="en-US" sz="1050" b="1" dirty="0">
                <a:solidFill>
                  <a:srgbClr val="14302A"/>
                </a:solidFill>
              </a:rPr>
              <a:t>answer_log</a:t>
            </a:r>
            <a:pPr indent="0" marL="0">
              <a:buNone/>
            </a:pPr>
            <a:r>
              <a:rPr lang="en-US" sz="900" dirty="0">
                <a:solidFill>
                  <a:srgbClr val="5C6B64"/>
                </a:solidFill>
              </a:rPr>
              <a:t>   706</a:t>
            </a:r>
            <a:endParaRPr lang="en-US" sz="1050" dirty="0"/>
          </a:p>
        </p:txBody>
      </p:sp>
      <p:sp>
        <p:nvSpPr>
          <p:cNvPr id="25" name="Text 23"/>
          <p:cNvSpPr txBox="1"/>
          <p:nvPr/>
        </p:nvSpPr>
        <p:spPr>
          <a:xfrm>
            <a:off x="5596128" y="3785616"/>
            <a:ext cx="2157984" cy="9509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answer_id  PK · at</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question · answer</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route · composed</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grounded · citations</a:t>
            </a:r>
            <a:endParaRPr lang="en-US" sz="850" dirty="0"/>
          </a:p>
        </p:txBody>
      </p:sp>
      <p:sp>
        <p:nvSpPr>
          <p:cNvPr id="26" name="tbl-Milvus collection"/>
          <p:cNvSpPr/>
          <p:nvPr/>
        </p:nvSpPr>
        <p:spPr>
          <a:xfrm>
            <a:off x="8046720" y="1463040"/>
            <a:ext cx="3687775" cy="1828800"/>
          </a:xfrm>
          <a:prstGeom prst="rect">
            <a:avLst/>
          </a:prstGeom>
          <a:solidFill>
            <a:srgbClr val="FFFFFF"/>
          </a:solidFill>
          <a:ln w="22225">
            <a:solidFill>
              <a:srgbClr val="76B900"/>
            </a:solidFill>
            <a:prstDash val="solid"/>
          </a:ln>
        </p:spPr>
      </p:sp>
      <p:sp>
        <p:nvSpPr>
          <p:cNvPr id="27" name="Text 25"/>
          <p:cNvSpPr txBox="1"/>
          <p:nvPr/>
        </p:nvSpPr>
        <p:spPr>
          <a:xfrm>
            <a:off x="8156448" y="1508760"/>
            <a:ext cx="3468319" cy="310896"/>
          </a:xfrm>
          <a:prstGeom prst="rect">
            <a:avLst/>
          </a:prstGeom>
          <a:noFill/>
          <a:ln/>
        </p:spPr>
        <p:txBody>
          <a:bodyPr wrap="square" lIns="0" tIns="0" rIns="0" bIns="0" rtlCol="0" anchor="ctr"/>
          <a:lstStyle/>
          <a:p>
            <a:pPr indent="0" marL="0">
              <a:buNone/>
            </a:pPr>
            <a:r>
              <a:rPr lang="en-US" sz="1050" b="1" dirty="0">
                <a:solidFill>
                  <a:srgbClr val="14302A"/>
                </a:solidFill>
              </a:rPr>
              <a:t>Milvus collection</a:t>
            </a:r>
            <a:pPr indent="0" marL="0">
              <a:buNone/>
            </a:pPr>
            <a:r>
              <a:rPr lang="en-US" sz="900" dirty="0">
                <a:solidFill>
                  <a:srgbClr val="5C6B64"/>
                </a:solidFill>
              </a:rPr>
              <a:t>   one row per update</a:t>
            </a:r>
            <a:endParaRPr lang="en-US" sz="1050" dirty="0"/>
          </a:p>
        </p:txBody>
      </p:sp>
      <p:sp>
        <p:nvSpPr>
          <p:cNvPr id="28" name="Text 26"/>
          <p:cNvSpPr txBox="1"/>
          <p:nvPr/>
        </p:nvSpPr>
        <p:spPr>
          <a:xfrm>
            <a:off x="8156448" y="1810512"/>
            <a:ext cx="3468319" cy="14081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pk  INT64</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vector  FLOAT_VECTOR(1024)</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update_id · ro_number</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staff · at · shift</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text  VARCHAR(8192)</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vehicle · category · vin</a:t>
            </a:r>
            <a:endParaRPr lang="en-US" sz="850" dirty="0"/>
          </a:p>
        </p:txBody>
      </p:sp>
      <p:sp>
        <p:nvSpPr>
          <p:cNvPr id="29" name="tbl-Repair-order snapshot"/>
          <p:cNvSpPr/>
          <p:nvPr/>
        </p:nvSpPr>
        <p:spPr>
          <a:xfrm>
            <a:off x="8046720" y="3438144"/>
            <a:ext cx="3687775" cy="1371600"/>
          </a:xfrm>
          <a:prstGeom prst="rect">
            <a:avLst/>
          </a:prstGeom>
          <a:solidFill>
            <a:srgbClr val="FFFFFF"/>
          </a:solidFill>
          <a:ln w="22225">
            <a:solidFill>
              <a:srgbClr val="76B900"/>
            </a:solidFill>
            <a:prstDash val="solid"/>
          </a:ln>
        </p:spPr>
      </p:sp>
      <p:sp>
        <p:nvSpPr>
          <p:cNvPr id="30" name="Text 28"/>
          <p:cNvSpPr txBox="1"/>
          <p:nvPr/>
        </p:nvSpPr>
        <p:spPr>
          <a:xfrm>
            <a:off x="8156448" y="3483864"/>
            <a:ext cx="3468319" cy="310896"/>
          </a:xfrm>
          <a:prstGeom prst="rect">
            <a:avLst/>
          </a:prstGeom>
          <a:noFill/>
          <a:ln/>
        </p:spPr>
        <p:txBody>
          <a:bodyPr wrap="square" lIns="0" tIns="0" rIns="0" bIns="0" rtlCol="0" anchor="ctr"/>
          <a:lstStyle/>
          <a:p>
            <a:pPr indent="0" marL="0">
              <a:buNone/>
            </a:pPr>
            <a:r>
              <a:rPr lang="en-US" sz="1050" b="1" dirty="0">
                <a:solidFill>
                  <a:srgbClr val="14302A"/>
                </a:solidFill>
              </a:rPr>
              <a:t>Repair-order snapshot</a:t>
            </a:r>
            <a:pPr indent="0" marL="0">
              <a:buNone/>
            </a:pPr>
            <a:r>
              <a:rPr lang="en-US" sz="900" dirty="0">
                <a:solidFill>
                  <a:srgbClr val="5C6B64"/>
                </a:solidFill>
              </a:rPr>
              <a:t>   computed, never stored</a:t>
            </a:r>
            <a:endParaRPr lang="en-US" sz="1050" dirty="0"/>
          </a:p>
        </p:txBody>
      </p:sp>
      <p:sp>
        <p:nvSpPr>
          <p:cNvPr id="31" name="Text 29"/>
          <p:cNvSpPr txBox="1"/>
          <p:nvPr/>
        </p:nvSpPr>
        <p:spPr>
          <a:xfrm>
            <a:off x="8156448" y="3785616"/>
            <a:ext cx="3468319" cy="950976"/>
          </a:xfrm>
          <a:prstGeom prst="rect">
            <a:avLst/>
          </a:prstGeom>
          <a:noFill/>
          <a:ln/>
        </p:spPr>
        <p:txBody>
          <a:bodyPr wrap="square" lIns="0" tIns="0" rIns="0" bIns="0" rtlCol="0" anchor="t"/>
          <a:lstStyle/>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state  (1 of 13)</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blocking · at_risk · safety</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booked hours · tech</a:t>
            </a:r>
            <a:endParaRPr lang="en-US" sz="850" dirty="0"/>
          </a:p>
          <a:p>
            <a:pPr indent="0" marL="0">
              <a:lnSpc>
                <a:spcPct val="95000"/>
              </a:lnSpc>
              <a:buNone/>
            </a:pPr>
            <a:r>
              <a:rPr lang="en-US" sz="850" dirty="0">
                <a:solidFill>
                  <a:srgbClr val="5C6B64"/>
                </a:solidFill>
                <a:latin typeface="Courier New" pitchFamily="34" charset="0"/>
                <a:ea typeface="Courier New" pitchFamily="34" charset="-122"/>
                <a:cs typeface="Courier New" pitchFamily="34" charset="-120"/>
              </a:rPr>
              <a:t>contradictions</a:t>
            </a:r>
            <a:endParaRPr lang="en-US" sz="850" dirty="0"/>
          </a:p>
        </p:txBody>
      </p:sp>
      <p:sp>
        <p:nvSpPr>
          <p:cNvPr id="32" name="card-Why derived means "/>
          <p:cNvSpPr/>
          <p:nvPr/>
        </p:nvSpPr>
        <p:spPr>
          <a:xfrm>
            <a:off x="457200" y="4992624"/>
            <a:ext cx="11277295" cy="749808"/>
          </a:xfrm>
          <a:prstGeom prst="rect">
            <a:avLst/>
          </a:prstGeom>
          <a:solidFill>
            <a:srgbClr val="FFFFFF"/>
          </a:solidFill>
          <a:ln w="12700">
            <a:solidFill>
              <a:srgbClr val="C3CCC0"/>
            </a:solidFill>
            <a:prstDash val="solid"/>
          </a:ln>
        </p:spPr>
      </p:sp>
      <p:sp>
        <p:nvSpPr>
          <p:cNvPr id="33" name="Text 31"/>
          <p:cNvSpPr txBox="1"/>
          <p:nvPr/>
        </p:nvSpPr>
        <p:spPr>
          <a:xfrm>
            <a:off x="521208" y="5029200"/>
            <a:ext cx="11149279" cy="676656"/>
          </a:xfrm>
          <a:prstGeom prst="rect">
            <a:avLst/>
          </a:prstGeom>
          <a:noFill/>
          <a:ln/>
        </p:spPr>
        <p:txBody>
          <a:bodyPr wrap="square" lIns="0" tIns="0" rIns="0" bIns="0" rtlCol="0" anchor="t"/>
          <a:lstStyle/>
          <a:p>
            <a:pPr algn="l" indent="0" marL="0">
              <a:lnSpc>
                <a:spcPct val="92000"/>
              </a:lnSpc>
              <a:buNone/>
            </a:pPr>
            <a:r>
              <a:rPr lang="en-US" sz="1050" b="1" dirty="0">
                <a:solidFill>
                  <a:srgbClr val="14302A"/>
                </a:solidFill>
              </a:rPr>
              <a:t>Why derived means rebuildable</a:t>
            </a:r>
            <a:endParaRPr lang="en-US" sz="1050" dirty="0"/>
          </a:p>
          <a:p>
            <a:pPr algn="l" indent="0" marL="0">
              <a:lnSpc>
                <a:spcPct val="92000"/>
              </a:lnSpc>
              <a:buNone/>
            </a:pPr>
            <a:r>
              <a:rPr lang="en-US" sz="9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56032"/>
            <a:ext cx="11277295" cy="384048"/>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457200" y="658368"/>
            <a:ext cx="11277295" cy="384048"/>
          </a:xfrm>
          <a:prstGeom prst="rect">
            <a:avLst/>
          </a:prstGeom>
          <a:noFill/>
          <a:ln/>
        </p:spPr>
        <p:txBody>
          <a:bodyPr wrap="square" lIns="0" tIns="0" rIns="0" bIns="0" rtlCol="0" anchor="ctr"/>
          <a:lstStyle/>
          <a:p>
            <a:pPr indent="0" marL="0">
              <a:buNone/>
            </a:pPr>
            <a:r>
              <a:rPr lang="en-US" sz="1100" dirty="0">
                <a:solidFill>
                  <a:srgbClr val="5C6B64"/>
                </a:solidFill>
              </a:rPr>
              <a:t>Thirteen states, and only these transitions. Anything absent is rejected by the engine and surfaced</a:t>
            </a:r>
            <a:endParaRPr lang="en-US" sz="1100" dirty="0"/>
          </a:p>
        </p:txBody>
      </p:sp>
      <p:sp>
        <p:nvSpPr>
          <p:cNvPr id="4" name="st-CHECKED_IN"/>
          <p:cNvSpPr/>
          <p:nvPr/>
        </p:nvSpPr>
        <p:spPr>
          <a:xfrm>
            <a:off x="457200" y="1335024"/>
            <a:ext cx="1711909" cy="731520"/>
          </a:xfrm>
          <a:prstGeom prst="rect">
            <a:avLst/>
          </a:prstGeom>
          <a:solidFill>
            <a:srgbClr val="FFFFFF"/>
          </a:solidFill>
          <a:ln w="12700">
            <a:solidFill>
              <a:srgbClr val="C3CCC0"/>
            </a:solidFill>
            <a:prstDash val="solid"/>
          </a:ln>
        </p:spPr>
      </p:sp>
      <p:sp>
        <p:nvSpPr>
          <p:cNvPr id="5" name="Text 3"/>
          <p:cNvSpPr txBox="1"/>
          <p:nvPr/>
        </p:nvSpPr>
        <p:spPr>
          <a:xfrm>
            <a:off x="512064"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370277" y="1335024"/>
            <a:ext cx="1711909" cy="731520"/>
          </a:xfrm>
          <a:prstGeom prst="rect">
            <a:avLst/>
          </a:prstGeom>
          <a:solidFill>
            <a:srgbClr val="FFFFFF"/>
          </a:solidFill>
          <a:ln w="12700">
            <a:solidFill>
              <a:srgbClr val="C3CCC0"/>
            </a:solidFill>
            <a:prstDash val="solid"/>
          </a:ln>
        </p:spPr>
      </p:sp>
      <p:sp>
        <p:nvSpPr>
          <p:cNvPr id="7" name="Text 5"/>
          <p:cNvSpPr txBox="1"/>
          <p:nvPr/>
        </p:nvSpPr>
        <p:spPr>
          <a:xfrm>
            <a:off x="2425141"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83354" y="1335024"/>
            <a:ext cx="1711909" cy="731520"/>
          </a:xfrm>
          <a:prstGeom prst="rect">
            <a:avLst/>
          </a:prstGeom>
          <a:solidFill>
            <a:srgbClr val="FFFFFF"/>
          </a:solidFill>
          <a:ln w="12700">
            <a:solidFill>
              <a:srgbClr val="C3CCC0"/>
            </a:solidFill>
            <a:prstDash val="solid"/>
          </a:ln>
        </p:spPr>
      </p:sp>
      <p:sp>
        <p:nvSpPr>
          <p:cNvPr id="9" name="Text 7"/>
          <p:cNvSpPr txBox="1"/>
          <p:nvPr/>
        </p:nvSpPr>
        <p:spPr>
          <a:xfrm>
            <a:off x="4338218"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71190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109509" y="1335024"/>
            <a:ext cx="1711909" cy="731520"/>
          </a:xfrm>
          <a:prstGeom prst="rect">
            <a:avLst/>
          </a:prstGeom>
          <a:solidFill>
            <a:srgbClr val="FBEADF"/>
          </a:solidFill>
          <a:ln w="22225">
            <a:solidFill>
              <a:srgbClr val="C1562A"/>
            </a:solidFill>
            <a:prstDash val="solid"/>
          </a:ln>
        </p:spPr>
      </p:sp>
      <p:sp>
        <p:nvSpPr>
          <p:cNvPr id="13" name="Text 11"/>
          <p:cNvSpPr txBox="1"/>
          <p:nvPr/>
        </p:nvSpPr>
        <p:spPr>
          <a:xfrm>
            <a:off x="8164373"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800" dirty="0">
                <a:solidFill>
                  <a:srgbClr val="C1562A"/>
                </a:solidFill>
              </a:rPr>
              <a:t>vehicles sit here</a:t>
            </a:r>
            <a:endParaRPr lang="en-US" sz="1000" dirty="0"/>
          </a:p>
        </p:txBody>
      </p:sp>
      <p:sp>
        <p:nvSpPr>
          <p:cNvPr id="14" name="st-AUTHORISED"/>
          <p:cNvSpPr/>
          <p:nvPr/>
        </p:nvSpPr>
        <p:spPr>
          <a:xfrm>
            <a:off x="10022586" y="1335024"/>
            <a:ext cx="1711909" cy="731520"/>
          </a:xfrm>
          <a:prstGeom prst="rect">
            <a:avLst/>
          </a:prstGeom>
          <a:solidFill>
            <a:srgbClr val="FFFFFF"/>
          </a:solidFill>
          <a:ln w="12700">
            <a:solidFill>
              <a:srgbClr val="C3CCC0"/>
            </a:solidFill>
            <a:prstDash val="solid"/>
          </a:ln>
        </p:spPr>
      </p:sp>
      <p:sp>
        <p:nvSpPr>
          <p:cNvPr id="15" name="Text 13"/>
          <p:cNvSpPr txBox="1"/>
          <p:nvPr/>
        </p:nvSpPr>
        <p:spPr>
          <a:xfrm>
            <a:off x="10077450" y="133502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370277" y="2523744"/>
            <a:ext cx="1711909" cy="731520"/>
          </a:xfrm>
          <a:prstGeom prst="rect">
            <a:avLst/>
          </a:prstGeom>
          <a:solidFill>
            <a:srgbClr val="5B8C3A"/>
          </a:solidFill>
          <a:ln w="19050">
            <a:solidFill>
              <a:srgbClr val="446B29"/>
            </a:solidFill>
            <a:prstDash val="solid"/>
          </a:ln>
        </p:spPr>
      </p:sp>
      <p:sp>
        <p:nvSpPr>
          <p:cNvPr id="17" name="Text 15"/>
          <p:cNvSpPr txBox="1"/>
          <p:nvPr/>
        </p:nvSpPr>
        <p:spPr>
          <a:xfrm>
            <a:off x="2425141" y="252374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800" dirty="0">
                <a:solidFill>
                  <a:srgbClr val="DCE8CF"/>
                </a:solidFill>
              </a:rPr>
              <a:t>terminal</a:t>
            </a:r>
            <a:endParaRPr lang="en-US" sz="1000" dirty="0"/>
          </a:p>
        </p:txBody>
      </p:sp>
      <p:sp>
        <p:nvSpPr>
          <p:cNvPr id="18" name="st-READY_FOR_DELIVERY"/>
          <p:cNvSpPr/>
          <p:nvPr/>
        </p:nvSpPr>
        <p:spPr>
          <a:xfrm>
            <a:off x="4283354" y="2523744"/>
            <a:ext cx="1711909" cy="731520"/>
          </a:xfrm>
          <a:prstGeom prst="rect">
            <a:avLst/>
          </a:prstGeom>
          <a:solidFill>
            <a:srgbClr val="FFFFFF"/>
          </a:solidFill>
          <a:ln w="12700">
            <a:solidFill>
              <a:srgbClr val="C3CCC0"/>
            </a:solidFill>
            <a:prstDash val="solid"/>
          </a:ln>
        </p:spPr>
      </p:sp>
      <p:sp>
        <p:nvSpPr>
          <p:cNvPr id="19" name="Text 17"/>
          <p:cNvSpPr txBox="1"/>
          <p:nvPr/>
        </p:nvSpPr>
        <p:spPr>
          <a:xfrm>
            <a:off x="4338218" y="252374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71190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109509" y="2523744"/>
            <a:ext cx="1711909" cy="731520"/>
          </a:xfrm>
          <a:prstGeom prst="rect">
            <a:avLst/>
          </a:prstGeom>
          <a:solidFill>
            <a:srgbClr val="FFFFFF"/>
          </a:solidFill>
          <a:ln w="12700">
            <a:solidFill>
              <a:srgbClr val="C3CCC0"/>
            </a:solidFill>
            <a:prstDash val="solid"/>
          </a:ln>
        </p:spPr>
      </p:sp>
      <p:sp>
        <p:nvSpPr>
          <p:cNvPr id="23" name="Text 21"/>
          <p:cNvSpPr txBox="1"/>
          <p:nvPr/>
        </p:nvSpPr>
        <p:spPr>
          <a:xfrm>
            <a:off x="8164373" y="252374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10022586" y="2523744"/>
            <a:ext cx="1711909" cy="731520"/>
          </a:xfrm>
          <a:prstGeom prst="rect">
            <a:avLst/>
          </a:prstGeom>
          <a:solidFill>
            <a:srgbClr val="FFFFFF"/>
          </a:solidFill>
          <a:ln w="12700">
            <a:solidFill>
              <a:srgbClr val="C3CCC0"/>
            </a:solidFill>
            <a:prstDash val="solid"/>
          </a:ln>
        </p:spPr>
      </p:sp>
      <p:sp>
        <p:nvSpPr>
          <p:cNvPr id="25" name="Text 23"/>
          <p:cNvSpPr txBox="1"/>
          <p:nvPr/>
        </p:nvSpPr>
        <p:spPr>
          <a:xfrm>
            <a:off x="10077450" y="2523744"/>
            <a:ext cx="160218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19654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0961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3577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4885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0961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3577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4885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962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457200" y="3529584"/>
            <a:ext cx="11277295" cy="237744"/>
          </a:xfrm>
          <a:prstGeom prst="rect">
            <a:avLst/>
          </a:prstGeom>
          <a:solidFill>
            <a:srgbClr val="1E4035"/>
          </a:solidFill>
          <a:ln w="12700">
            <a:solidFill>
              <a:srgbClr val="1E4035"/>
            </a:solidFill>
            <a:prstDash val="solid"/>
          </a:ln>
        </p:spPr>
      </p:sp>
      <p:sp>
        <p:nvSpPr>
          <p:cNvPr id="37" name="Text 35"/>
          <p:cNvSpPr txBox="1"/>
          <p:nvPr/>
        </p:nvSpPr>
        <p:spPr>
          <a:xfrm>
            <a:off x="566928" y="3529584"/>
            <a:ext cx="11057839" cy="237744"/>
          </a:xfrm>
          <a:prstGeom prst="rect">
            <a:avLst/>
          </a:prstGeom>
          <a:noFill/>
          <a:ln/>
        </p:spPr>
        <p:txBody>
          <a:bodyPr wrap="square" lIns="0" tIns="0" rIns="0" bIns="0" rtlCol="0" anchor="ctr"/>
          <a:lstStyle/>
          <a:p>
            <a:pPr algn="l" indent="0" marL="0">
              <a:buNone/>
            </a:pPr>
            <a:r>
              <a:rPr lang="en-US" sz="950" b="1" spc="60" kern="0" dirty="0">
                <a:solidFill>
                  <a:srgbClr val="FFFFFF"/>
                </a:solidFill>
              </a:rPr>
              <a:t>LEAVES AND REJOINS THE LINE</a:t>
            </a:r>
            <a:endParaRPr lang="en-US" sz="950" dirty="0"/>
          </a:p>
        </p:txBody>
      </p:sp>
      <p:sp>
        <p:nvSpPr>
          <p:cNvPr id="38" name="st-PARTS_HOLD"/>
          <p:cNvSpPr/>
          <p:nvPr/>
        </p:nvSpPr>
        <p:spPr>
          <a:xfrm>
            <a:off x="457200" y="3840480"/>
            <a:ext cx="5547208" cy="658368"/>
          </a:xfrm>
          <a:prstGeom prst="rect">
            <a:avLst/>
          </a:prstGeom>
          <a:solidFill>
            <a:srgbClr val="FBEADF"/>
          </a:solidFill>
          <a:ln w="22225">
            <a:solidFill>
              <a:srgbClr val="C1562A"/>
            </a:solidFill>
            <a:prstDash val="solid"/>
          </a:ln>
        </p:spPr>
      </p:sp>
      <p:sp>
        <p:nvSpPr>
          <p:cNvPr id="39" name="Text 37"/>
          <p:cNvSpPr txBox="1"/>
          <p:nvPr/>
        </p:nvSpPr>
        <p:spPr>
          <a:xfrm>
            <a:off x="566928" y="3886200"/>
            <a:ext cx="5327752" cy="566928"/>
          </a:xfrm>
          <a:prstGeom prst="rect">
            <a:avLst/>
          </a:prstGeom>
          <a:noFill/>
          <a:ln/>
        </p:spPr>
        <p:txBody>
          <a:bodyPr wrap="square" lIns="0" tIns="0" rIns="0" bIns="0" rtlCol="0" anchor="t"/>
          <a:lstStyle/>
          <a:p>
            <a:pPr indent="0" marL="0">
              <a:lnSpc>
                <a:spcPct val="92000"/>
              </a:lnSpc>
              <a:buNone/>
            </a:pPr>
            <a:r>
              <a:rPr lang="en-US" sz="1050" b="1" dirty="0">
                <a:solidFill>
                  <a:srgbClr val="7A3418"/>
                </a:solidFill>
              </a:rPr>
              <a:t>PARTS HOLD</a:t>
            </a:r>
            <a:endParaRPr lang="en-US" sz="1050" dirty="0"/>
          </a:p>
          <a:p>
            <a:pPr indent="0" marL="0">
              <a:lnSpc>
                <a:spcPct val="92000"/>
              </a:lnSpc>
              <a:buNone/>
            </a:pPr>
            <a:r>
              <a:rPr lang="en-US" sz="850" dirty="0">
                <a:solidFill>
                  <a:srgbClr val="C1562A"/>
                </a:solidFill>
              </a:rPr>
              <a:t>Entered from diagnosing, authorised or repair-in-progress; leaves to repair-in-progress or back to awaiting authorisation. One of the two states where vehicles actually sit.</a:t>
            </a:r>
            <a:endParaRPr lang="en-US" sz="1050" dirty="0"/>
          </a:p>
        </p:txBody>
      </p:sp>
      <p:sp>
        <p:nvSpPr>
          <p:cNvPr id="40" name="st-DECLINED"/>
          <p:cNvSpPr/>
          <p:nvPr/>
        </p:nvSpPr>
        <p:spPr>
          <a:xfrm>
            <a:off x="6187288" y="3840480"/>
            <a:ext cx="5547208" cy="658368"/>
          </a:xfrm>
          <a:prstGeom prst="rect">
            <a:avLst/>
          </a:prstGeom>
          <a:solidFill>
            <a:srgbClr val="FFFFFF"/>
          </a:solidFill>
          <a:ln w="12700">
            <a:solidFill>
              <a:srgbClr val="C3CCC0"/>
            </a:solidFill>
            <a:prstDash val="solid"/>
          </a:ln>
        </p:spPr>
      </p:sp>
      <p:sp>
        <p:nvSpPr>
          <p:cNvPr id="41" name="Text 39"/>
          <p:cNvSpPr txBox="1"/>
          <p:nvPr/>
        </p:nvSpPr>
        <p:spPr>
          <a:xfrm>
            <a:off x="6297016" y="3886200"/>
            <a:ext cx="5327752" cy="566928"/>
          </a:xfrm>
          <a:prstGeom prst="rect">
            <a:avLst/>
          </a:prstGeom>
          <a:noFill/>
          <a:ln/>
        </p:spPr>
        <p:txBody>
          <a:bodyPr wrap="square" lIns="0" tIns="0" rIns="0" bIns="0" rtlCol="0" anchor="t"/>
          <a:lstStyle/>
          <a:p>
            <a:pPr indent="0" marL="0">
              <a:lnSpc>
                <a:spcPct val="92000"/>
              </a:lnSpc>
              <a:buNone/>
            </a:pPr>
            <a:r>
              <a:rPr lang="en-US" sz="1050" b="1" dirty="0">
                <a:solidFill>
                  <a:srgbClr val="14302A"/>
                </a:solidFill>
              </a:rPr>
              <a:t>DECLINED</a:t>
            </a:r>
            <a:endParaRPr lang="en-US" sz="1050" dirty="0"/>
          </a:p>
          <a:p>
            <a:pPr indent="0" marL="0">
              <a:lnSpc>
                <a:spcPct val="92000"/>
              </a:lnSpc>
              <a:buNone/>
            </a:pPr>
            <a:r>
              <a:rPr lang="en-US" sz="850" dirty="0">
                <a:solidFill>
                  <a:srgbClr val="5C6B64"/>
                </a:solidFill>
              </a:rPr>
              <a:t>Entered only from awaiting authorisation, when the customer says no; leaves to ready-for-delivery or straight to invoiced. The work does not happen, and the vehicle still has to go back.</a:t>
            </a:r>
            <a:endParaRPr lang="en-US" sz="1050" dirty="0"/>
          </a:p>
        </p:txBody>
      </p:sp>
      <p:sp>
        <p:nvSpPr>
          <p:cNvPr id="42" name="card-Deliberately not I"/>
          <p:cNvSpPr/>
          <p:nvPr/>
        </p:nvSpPr>
        <p:spPr>
          <a:xfrm>
            <a:off x="457200" y="4736592"/>
            <a:ext cx="3637178" cy="859536"/>
          </a:xfrm>
          <a:prstGeom prst="rect">
            <a:avLst/>
          </a:prstGeom>
          <a:solidFill>
            <a:srgbClr val="FFFFFF"/>
          </a:solidFill>
          <a:ln w="12700">
            <a:solidFill>
              <a:srgbClr val="C3CCC0"/>
            </a:solidFill>
            <a:prstDash val="solid"/>
          </a:ln>
        </p:spPr>
      </p:sp>
      <p:sp>
        <p:nvSpPr>
          <p:cNvPr id="43" name="Text 41"/>
          <p:cNvSpPr txBox="1"/>
          <p:nvPr/>
        </p:nvSpPr>
        <p:spPr>
          <a:xfrm>
            <a:off x="521208" y="4773168"/>
            <a:ext cx="3509162" cy="7863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Deliberately not IN_PROGRESS / COMPLETE</a:t>
            </a:r>
            <a:endParaRPr lang="en-US" sz="1000" dirty="0"/>
          </a:p>
          <a:p>
            <a:pPr algn="l" indent="0" marL="0">
              <a:lnSpc>
                <a:spcPct val="92000"/>
              </a:lnSpc>
              <a:buNone/>
            </a:pPr>
            <a:r>
              <a:rPr lang="en-US" sz="850" dirty="0">
                <a:solidFill>
                  <a:srgbClr val="5C6B64"/>
                </a:solidFill>
              </a:rPr>
              <a:t>The states that matter operationally are the blocking ones, because that is where vehicles actually sit and where the agent creates value.</a:t>
            </a:r>
            <a:endParaRPr lang="en-US" sz="1000" dirty="0"/>
          </a:p>
        </p:txBody>
      </p:sp>
      <p:sp>
        <p:nvSpPr>
          <p:cNvPr id="44" name="card-The authorisation "/>
          <p:cNvSpPr/>
          <p:nvPr/>
        </p:nvSpPr>
        <p:spPr>
          <a:xfrm>
            <a:off x="4277258" y="4736592"/>
            <a:ext cx="3637178" cy="859536"/>
          </a:xfrm>
          <a:prstGeom prst="rect">
            <a:avLst/>
          </a:prstGeom>
          <a:solidFill>
            <a:srgbClr val="FFFFFF"/>
          </a:solidFill>
          <a:ln w="12700">
            <a:solidFill>
              <a:srgbClr val="C3CCC0"/>
            </a:solidFill>
            <a:prstDash val="solid"/>
          </a:ln>
        </p:spPr>
      </p:sp>
      <p:sp>
        <p:nvSpPr>
          <p:cNvPr id="45" name="Text 43"/>
          <p:cNvSpPr txBox="1"/>
          <p:nvPr/>
        </p:nvSpPr>
        <p:spPr>
          <a:xfrm>
            <a:off x="4341266" y="4773168"/>
            <a:ext cx="3509162" cy="7863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The authorisation rule</a:t>
            </a:r>
            <a:endParaRPr lang="en-US" sz="1000" dirty="0"/>
          </a:p>
          <a:p>
            <a:pPr algn="l" indent="0" marL="0">
              <a:lnSpc>
                <a:spcPct val="92000"/>
              </a:lnSpc>
              <a:buNone/>
            </a:pPr>
            <a:r>
              <a:rPr lang="en-US" sz="850" dirty="0">
                <a:solidFill>
                  <a:srgbClr val="5C6B64"/>
                </a:solidFill>
              </a:rPr>
              <a:t>Repair cannot legitimately begin before the customer has said yes. That gate is why the release-claim rail exists.</a:t>
            </a:r>
            <a:endParaRPr lang="en-US" sz="1000" dirty="0"/>
          </a:p>
        </p:txBody>
      </p:sp>
      <p:sp>
        <p:nvSpPr>
          <p:cNvPr id="46" name="card-QC failure is an e"/>
          <p:cNvSpPr/>
          <p:nvPr/>
        </p:nvSpPr>
        <p:spPr>
          <a:xfrm>
            <a:off x="8097317" y="4736592"/>
            <a:ext cx="3637178" cy="859536"/>
          </a:xfrm>
          <a:prstGeom prst="rect">
            <a:avLst/>
          </a:prstGeom>
          <a:solidFill>
            <a:srgbClr val="FFFFFF"/>
          </a:solidFill>
          <a:ln w="12700">
            <a:solidFill>
              <a:srgbClr val="C3CCC0"/>
            </a:solidFill>
            <a:prstDash val="solid"/>
          </a:ln>
        </p:spPr>
      </p:sp>
      <p:sp>
        <p:nvSpPr>
          <p:cNvPr id="47" name="Text 45"/>
          <p:cNvSpPr txBox="1"/>
          <p:nvPr/>
        </p:nvSpPr>
        <p:spPr>
          <a:xfrm>
            <a:off x="8161325" y="4773168"/>
            <a:ext cx="3509162" cy="786384"/>
          </a:xfrm>
          <a:prstGeom prst="rect">
            <a:avLst/>
          </a:prstGeom>
          <a:noFill/>
          <a:ln/>
        </p:spPr>
        <p:txBody>
          <a:bodyPr wrap="square" lIns="0" tIns="0" rIns="0" bIns="0" rtlCol="0" anchor="t"/>
          <a:lstStyle/>
          <a:p>
            <a:pPr algn="l" indent="0" marL="0">
              <a:lnSpc>
                <a:spcPct val="92000"/>
              </a:lnSpc>
              <a:buNone/>
            </a:pPr>
            <a:r>
              <a:rPr lang="en-US" sz="1000" b="1" dirty="0">
                <a:solidFill>
                  <a:srgbClr val="14302A"/>
                </a:solidFill>
              </a:rPr>
              <a:t>QC failure is an edge, not an error path</a:t>
            </a:r>
            <a:endParaRPr lang="en-US" sz="1000" dirty="0"/>
          </a:p>
          <a:p>
            <a:pPr algn="l" indent="0" marL="0">
              <a:lnSpc>
                <a:spcPct val="92000"/>
              </a:lnSpc>
              <a:buNone/>
            </a:pPr>
            <a:r>
              <a:rPr lang="en-US" sz="850" dirty="0">
                <a:solidFill>
                  <a:srgbClr val="5C6B64"/>
                </a:solidFill>
              </a:rPr>
              <a:t>Quality control and road test can both send a job back to the bench, and supplementary work can re-open authorisation. A lifecycle that only moves forward does not describe a workshop.</a:t>
            </a:r>
            <a:endParaRPr lang="en-US" sz="1000" dirty="0"/>
          </a:p>
        </p:txBody>
      </p:sp>
      <p:sp>
        <p:nvSpPr>
          <p:cNvPr id="48" name="Text 46"/>
          <p:cNvSpPr txBox="1"/>
          <p:nvPr/>
        </p:nvSpPr>
        <p:spPr>
          <a:xfrm>
            <a:off x="457200" y="5760720"/>
            <a:ext cx="11277295" cy="274320"/>
          </a:xfrm>
          <a:prstGeom prst="rect">
            <a:avLst/>
          </a:prstGeom>
          <a:noFill/>
          <a:ln/>
        </p:spPr>
        <p:txBody>
          <a:bodyPr wrap="square" lIns="0" tIns="0" rIns="0" bIns="0" rtlCol="0" anchor="ctr"/>
          <a:lstStyle/>
          <a:p>
            <a:pPr indent="0" marL="0">
              <a:buNone/>
            </a:pPr>
            <a:r>
              <a:rPr lang="en-US" sz="900" i="1" dirty="0">
                <a:solidFill>
                  <a:srgbClr val="5C6B64"/>
                </a:solidFill>
              </a:rPr>
              <a:t>Amber marks the two blocking states; green marks the terminal one. The second row flows right to left, so every arrow drawn here is a transition the engine actually allows.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2026-10-05T16:33:02Z</dcterms:created>
  <dcterms:modified xsi:type="dcterms:W3CDTF">2026-10-05T16:33:02Z</dcterms:modified>
</cp:coreProperties>
</file>