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88167c4-f979-1824-c91b-1f92c2c78184}">
          <p14:sldIdLst>
            <p14:sldId id="256"/>
          </p14:sldIdLst>
        </p14:section>
        <p14:section name="Process" id="{eac9bf67-4895-1517-137c-e1b032580ec3}">
          <p14:sldIdLst>
            <p14:sldId id="257"/>
          </p14:sldIdLst>
        </p14:section>
        <p14:section name="Architecture" id="{174cd3e1-5e0f-567a-c33b-7966dddfb007}">
          <p14:sldIdLst>
            <p14:sldId id="258"/>
          </p14:sldIdLst>
        </p14:section>
        <p14:section name="Application flow" id="{8b3ae366-bc67-e64e-1a2c-81611cb267ce}">
          <p14:sldIdLst>
            <p14:sldId id="259"/>
          </p14:sldIdLst>
        </p14:section>
        <p14:section name="Components" id="{86d6f8bd-13bc-565d-ad25-0e8f242423ee}">
          <p14:sldIdLst>
            <p14:sldId id="260"/>
          </p14:sldIdLst>
        </p14:section>
        <p14:section name="Deployment" id="{6dbd43a3-7fe3-08e9-43d4-a6806c69c365}">
          <p14:sldIdLst>
            <p14:sldId id="261"/>
          </p14:sldIdLst>
        </p14:section>
        <p14:section name="Data model" id="{c171e4f2-706c-546b-3716-91f77e0bd799}">
          <p14:sldIdLst>
            <p14:sldId id="262"/>
          </p14:sldIdLst>
        </p14:section>
        <p14:section name="Lifecycle" id="{01c25880-b6a7-9854-4ea7-e0ec308eb2a6}">
          <p14:sldIdLst>
            <p14:sldId id="263"/>
          </p14:sldIdLst>
        </p14:section>
        <p14:section name="Usage" id="{8f8099ed-6e0d-3c01-0cd8-e6af9a6bb78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L40S carries all three NIMs. Nothing in the answer path calls a hosted model; speech is the single hosted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(demo scene 2): A technician speaks or types an update. NVIDIA Riva Parakeet transcribes it. A Nemotron model extracts the facts. Python checks every one against the catalogue, folds it into an event log, and derives the state of the repair order. Nothing is guessed, and every answer cites its records. The slide builds itself in about six seconds on entry; it does not need a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lanes, read top to bottom. The write path fills lanes 1-3; a question runs through 4-6. Thirteen of the fourteen NVIDIA components are running; NemoClaw is blocked by a platform fault, so it is drawn dashed.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answers are logged with the payload they were built from, those rows become the evaluation dataset, and the scores gate the next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strip is the read path. The four frames are the same run seen from the app, from Grafana, from Prometheus and from the store. Two cautions on the 90.9%. It does NOT corroborate the eleven timings in docs/EXAMPLES.md - that is a different measurement that happens to agree. And `compose` records the path that FINISHED: an answer that called the model, timed out and fell back to Python counts as Python, so a failing LLM would push this number up. There are no NIM errors in this window, which is what makes it a clean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needs a GPU except the voice leg and the semantic tab. The store consoles are deliberately outside the advisor's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2A"/>
        </a:solidFill>
      </p:bgPr>
    </p:bg>
    <p:spTree>
      <p:nvGrpSpPr>
        <p:cNvPr id="1" name=""/>
        <p:cNvGrpSpPr/>
        <p:nvPr/>
      </p:nvGrpSpPr>
      <p:grpSpPr>
        <a:xfrm>
          <a:off x="0" y="0"/>
          <a:ext cx="0" cy="0"/>
          <a:chOff x="0" y="0"/>
          <a:chExt cx="0" cy="0"/>
        </a:xfrm>
      </p:grpSpPr>
      <p:sp>
        <p:nvSpPr>
          <p:cNvPr id="2" name="Text 0"/>
          <p:cNvSpPr txBox="1"/>
          <p:nvPr/>
        </p:nvSpPr>
        <p:spPr>
          <a:xfrm>
            <a:off x="502920" y="1261872"/>
            <a:ext cx="11185855" cy="1417320"/>
          </a:xfrm>
          <a:prstGeom prst="rect">
            <a:avLst/>
          </a:prstGeom>
          <a:noFill/>
          <a:ln/>
        </p:spPr>
        <p:txBody>
          <a:bodyPr wrap="square" lIns="0" tIns="0" rIns="0" bIns="0" rtlCol="0" anchor="ctr"/>
          <a:lstStyle/>
          <a:p>
            <a:pPr indent="0" marL="0">
              <a:lnSpc>
                <a:spcPct val="95000"/>
              </a:lnSpc>
              <a:buNone/>
            </a:pPr>
            <a:r>
              <a:rPr lang="en-US" sz="3800" b="1" dirty="0">
                <a:solidFill>
                  <a:srgbClr val="FFFFFF"/>
                </a:solidFill>
                <a:latin typeface="Arial" pitchFamily="34" charset="0"/>
                <a:ea typeface="Arial" pitchFamily="34" charset="-122"/>
                <a:cs typeface="Arial" pitchFamily="34" charset="-120"/>
              </a:rPr>
              <a:t>Automotive Service Operations</a:t>
            </a:r>
            <a:endParaRPr lang="en-US" sz="3800" dirty="0"/>
          </a:p>
          <a:p>
            <a:pPr indent="0" marL="0">
              <a:lnSpc>
                <a:spcPct val="95000"/>
              </a:lnSpc>
              <a:buNone/>
            </a:pPr>
            <a:r>
              <a:rPr lang="en-US" sz="3800" b="1" dirty="0">
                <a:solidFill>
                  <a:srgbClr val="FFFFFF"/>
                </a:solidFill>
                <a:latin typeface="Arial" pitchFamily="34" charset="0"/>
                <a:ea typeface="Arial" pitchFamily="34" charset="-122"/>
                <a:cs typeface="Arial" pitchFamily="34" charset="-120"/>
              </a:rPr>
              <a:t>Intelligence Agent</a:t>
            </a:r>
            <a:endParaRPr lang="en-US" sz="3800" dirty="0"/>
          </a:p>
        </p:txBody>
      </p:sp>
      <p:sp>
        <p:nvSpPr>
          <p:cNvPr id="3" name="Text 1"/>
          <p:cNvSpPr txBox="1"/>
          <p:nvPr/>
        </p:nvSpPr>
        <p:spPr>
          <a:xfrm>
            <a:off x="502920" y="2788920"/>
            <a:ext cx="8778240" cy="731520"/>
          </a:xfrm>
          <a:prstGeom prst="rect">
            <a:avLst/>
          </a:prstGeom>
          <a:noFill/>
          <a:ln/>
        </p:spPr>
        <p:txBody>
          <a:bodyPr wrap="square" lIns="0" tIns="0" rIns="0" bIns="0" rtlCol="0" anchor="ctr"/>
          <a:lstStyle/>
          <a:p>
            <a:pPr indent="0" marL="0">
              <a:buNone/>
            </a:pPr>
            <a:r>
              <a:rPr lang="en-US" sz="1400" dirty="0">
                <a:solidFill>
                  <a:srgbClr val="C8D6BE"/>
                </a:solidFill>
              </a:rPr>
              <a:t>Voice and text shift updates become derived repair-order state, a prioritised handover, and a grounded agent — on one L40S</a:t>
            </a:r>
            <a:endParaRPr lang="en-US" sz="1400" dirty="0"/>
          </a:p>
        </p:txBody>
      </p:sp>
      <p:sp>
        <p:nvSpPr>
          <p:cNvPr id="4" name="stat0"/>
          <p:cNvSpPr/>
          <p:nvPr/>
        </p:nvSpPr>
        <p:spPr>
          <a:xfrm>
            <a:off x="502920" y="4206240"/>
            <a:ext cx="2618156" cy="1508760"/>
          </a:xfrm>
          <a:prstGeom prst="rect">
            <a:avLst/>
          </a:prstGeom>
          <a:solidFill>
            <a:srgbClr val="1E4035"/>
          </a:solidFill>
          <a:ln w="12700">
            <a:solidFill>
              <a:srgbClr val="2E5245"/>
            </a:solidFill>
            <a:prstDash val="solid"/>
          </a:ln>
        </p:spPr>
      </p:sp>
      <p:sp>
        <p:nvSpPr>
          <p:cNvPr id="5" name="Text 3"/>
          <p:cNvSpPr txBox="1"/>
          <p:nvPr/>
        </p:nvSpPr>
        <p:spPr>
          <a:xfrm>
            <a:off x="649224" y="4343400"/>
            <a:ext cx="2343836" cy="566928"/>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14</a:t>
            </a:r>
            <a:endParaRPr lang="en-US" sz="3000" dirty="0"/>
          </a:p>
        </p:txBody>
      </p:sp>
      <p:sp>
        <p:nvSpPr>
          <p:cNvPr id="6" name="Text 4"/>
          <p:cNvSpPr txBox="1"/>
          <p:nvPr/>
        </p:nvSpPr>
        <p:spPr>
          <a:xfrm>
            <a:off x="649224" y="4937760"/>
            <a:ext cx="2343836" cy="731520"/>
          </a:xfrm>
          <a:prstGeom prst="rect">
            <a:avLst/>
          </a:prstGeom>
          <a:noFill/>
          <a:ln/>
        </p:spPr>
        <p:txBody>
          <a:bodyPr wrap="square" lIns="0" tIns="0" rIns="0" bIns="0" rtlCol="0" anchor="ctr"/>
          <a:lstStyle/>
          <a:p>
            <a:pPr indent="0" marL="0">
              <a:lnSpc>
                <a:spcPct val="95000"/>
              </a:lnSpc>
              <a:buNone/>
            </a:pPr>
            <a:r>
              <a:rPr lang="en-US" sz="1100" dirty="0">
                <a:solidFill>
                  <a:srgbClr val="C8D6BE"/>
                </a:solidFill>
              </a:rPr>
              <a:t>NVIDIA components</a:t>
            </a:r>
            <a:endParaRPr lang="en-US" sz="1100" dirty="0"/>
          </a:p>
          <a:p>
            <a:pPr indent="0" marL="0">
              <a:lnSpc>
                <a:spcPct val="95000"/>
              </a:lnSpc>
              <a:buNone/>
            </a:pPr>
            <a:r>
              <a:rPr lang="en-US" sz="1100" dirty="0">
                <a:solidFill>
                  <a:srgbClr val="C8D6BE"/>
                </a:solidFill>
              </a:rPr>
              <a:t>13 running, 1 blocked</a:t>
            </a:r>
            <a:endParaRPr lang="en-US" sz="1100" dirty="0"/>
          </a:p>
        </p:txBody>
      </p:sp>
      <p:sp>
        <p:nvSpPr>
          <p:cNvPr id="7" name="stat1"/>
          <p:cNvSpPr/>
          <p:nvPr/>
        </p:nvSpPr>
        <p:spPr>
          <a:xfrm>
            <a:off x="3358820" y="4206240"/>
            <a:ext cx="2618156" cy="1508760"/>
          </a:xfrm>
          <a:prstGeom prst="rect">
            <a:avLst/>
          </a:prstGeom>
          <a:solidFill>
            <a:srgbClr val="1E4035"/>
          </a:solidFill>
          <a:ln w="12700">
            <a:solidFill>
              <a:srgbClr val="2E5245"/>
            </a:solidFill>
            <a:prstDash val="solid"/>
          </a:ln>
        </p:spPr>
      </p:sp>
      <p:sp>
        <p:nvSpPr>
          <p:cNvPr id="8" name="Text 6"/>
          <p:cNvSpPr txBox="1"/>
          <p:nvPr/>
        </p:nvSpPr>
        <p:spPr>
          <a:xfrm>
            <a:off x="3505124" y="4343400"/>
            <a:ext cx="2343836" cy="566928"/>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11</a:t>
            </a:r>
            <a:endParaRPr lang="en-US" sz="3000" dirty="0"/>
          </a:p>
        </p:txBody>
      </p:sp>
      <p:sp>
        <p:nvSpPr>
          <p:cNvPr id="9" name="Text 7"/>
          <p:cNvSpPr txBox="1"/>
          <p:nvPr/>
        </p:nvSpPr>
        <p:spPr>
          <a:xfrm>
            <a:off x="3505124" y="4937760"/>
            <a:ext cx="2343836" cy="731520"/>
          </a:xfrm>
          <a:prstGeom prst="rect">
            <a:avLst/>
          </a:prstGeom>
          <a:noFill/>
          <a:ln/>
        </p:spPr>
        <p:txBody>
          <a:bodyPr wrap="square" lIns="0" tIns="0" rIns="0" bIns="0" rtlCol="0" anchor="ctr"/>
          <a:lstStyle/>
          <a:p>
            <a:pPr indent="0" marL="0">
              <a:lnSpc>
                <a:spcPct val="95000"/>
              </a:lnSpc>
              <a:buNone/>
            </a:pPr>
            <a:r>
              <a:rPr lang="en-US" sz="1100" dirty="0">
                <a:solidFill>
                  <a:srgbClr val="C8D6BE"/>
                </a:solidFill>
              </a:rPr>
              <a:t>typed tools</a:t>
            </a:r>
            <a:endParaRPr lang="en-US" sz="1100" dirty="0"/>
          </a:p>
          <a:p>
            <a:pPr indent="0" marL="0">
              <a:lnSpc>
                <a:spcPct val="95000"/>
              </a:lnSpc>
              <a:buNone/>
            </a:pPr>
            <a:r>
              <a:rPr lang="en-US" sz="1100" dirty="0">
                <a:solidFill>
                  <a:srgbClr val="C8D6BE"/>
                </a:solidFill>
              </a:rPr>
              <a:t>deterministic SQL and vector reads</a:t>
            </a:r>
            <a:endParaRPr lang="en-US" sz="1100" dirty="0"/>
          </a:p>
        </p:txBody>
      </p:sp>
      <p:sp>
        <p:nvSpPr>
          <p:cNvPr id="10" name="stat2"/>
          <p:cNvSpPr/>
          <p:nvPr/>
        </p:nvSpPr>
        <p:spPr>
          <a:xfrm>
            <a:off x="6214720" y="4206240"/>
            <a:ext cx="2618156" cy="1508760"/>
          </a:xfrm>
          <a:prstGeom prst="rect">
            <a:avLst/>
          </a:prstGeom>
          <a:solidFill>
            <a:srgbClr val="1E4035"/>
          </a:solidFill>
          <a:ln w="12700">
            <a:solidFill>
              <a:srgbClr val="2E5245"/>
            </a:solidFill>
            <a:prstDash val="solid"/>
          </a:ln>
        </p:spPr>
      </p:sp>
      <p:sp>
        <p:nvSpPr>
          <p:cNvPr id="11" name="Text 9"/>
          <p:cNvSpPr txBox="1"/>
          <p:nvPr/>
        </p:nvSpPr>
        <p:spPr>
          <a:xfrm>
            <a:off x="6361024" y="4343400"/>
            <a:ext cx="2343836" cy="566928"/>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100%</a:t>
            </a:r>
            <a:endParaRPr lang="en-US" sz="3000" dirty="0"/>
          </a:p>
        </p:txBody>
      </p:sp>
      <p:sp>
        <p:nvSpPr>
          <p:cNvPr id="12" name="Text 10"/>
          <p:cNvSpPr txBox="1"/>
          <p:nvPr/>
        </p:nvSpPr>
        <p:spPr>
          <a:xfrm>
            <a:off x="6361024" y="4937760"/>
            <a:ext cx="2343836" cy="731520"/>
          </a:xfrm>
          <a:prstGeom prst="rect">
            <a:avLst/>
          </a:prstGeom>
          <a:noFill/>
          <a:ln/>
        </p:spPr>
        <p:txBody>
          <a:bodyPr wrap="square" lIns="0" tIns="0" rIns="0" bIns="0" rtlCol="0" anchor="ctr"/>
          <a:lstStyle/>
          <a:p>
            <a:pPr indent="0" marL="0">
              <a:lnSpc>
                <a:spcPct val="95000"/>
              </a:lnSpc>
              <a:buNone/>
            </a:pPr>
            <a:r>
              <a:rPr lang="en-US" sz="1100" dirty="0">
                <a:solidFill>
                  <a:srgbClr val="C8D6BE"/>
                </a:solidFill>
              </a:rPr>
              <a:t>grounded and traceable</a:t>
            </a:r>
            <a:endParaRPr lang="en-US" sz="1100" dirty="0"/>
          </a:p>
          <a:p>
            <a:pPr indent="0" marL="0">
              <a:lnSpc>
                <a:spcPct val="95000"/>
              </a:lnSpc>
              <a:buNone/>
            </a:pPr>
            <a:r>
              <a:rPr lang="en-US" sz="1100" dirty="0">
                <a:solidFill>
                  <a:srgbClr val="C8D6BE"/>
                </a:solidFill>
              </a:rPr>
              <a:t>905 of 905 citations resolve</a:t>
            </a:r>
            <a:endParaRPr lang="en-US" sz="1100" dirty="0"/>
          </a:p>
        </p:txBody>
      </p:sp>
      <p:sp>
        <p:nvSpPr>
          <p:cNvPr id="13" name="stat3"/>
          <p:cNvSpPr/>
          <p:nvPr/>
        </p:nvSpPr>
        <p:spPr>
          <a:xfrm>
            <a:off x="9070619" y="4206240"/>
            <a:ext cx="2618156" cy="1508760"/>
          </a:xfrm>
          <a:prstGeom prst="rect">
            <a:avLst/>
          </a:prstGeom>
          <a:solidFill>
            <a:srgbClr val="1E4035"/>
          </a:solidFill>
          <a:ln w="12700">
            <a:solidFill>
              <a:srgbClr val="2E5245"/>
            </a:solidFill>
            <a:prstDash val="solid"/>
          </a:ln>
        </p:spPr>
      </p:sp>
      <p:sp>
        <p:nvSpPr>
          <p:cNvPr id="14" name="Text 12"/>
          <p:cNvSpPr txBox="1"/>
          <p:nvPr/>
        </p:nvSpPr>
        <p:spPr>
          <a:xfrm>
            <a:off x="9216923" y="4343400"/>
            <a:ext cx="2343836" cy="566928"/>
          </a:xfrm>
          <a:prstGeom prst="rect">
            <a:avLst/>
          </a:prstGeom>
          <a:noFill/>
          <a:ln/>
        </p:spPr>
        <p:txBody>
          <a:bodyPr wrap="square" lIns="0" tIns="0" rIns="0" bIns="0" rtlCol="0" anchor="ctr"/>
          <a:lstStyle/>
          <a:p>
            <a:pPr indent="0" marL="0">
              <a:buNone/>
            </a:pPr>
            <a:r>
              <a:rPr lang="en-US" sz="3000" b="1" dirty="0">
                <a:solidFill>
                  <a:srgbClr val="76B900"/>
                </a:solidFill>
                <a:latin typeface="Arial" pitchFamily="34" charset="0"/>
                <a:ea typeface="Arial" pitchFamily="34" charset="-122"/>
                <a:cs typeface="Arial" pitchFamily="34" charset="-120"/>
              </a:rPr>
              <a:t>5 of 6</a:t>
            </a:r>
            <a:endParaRPr lang="en-US" sz="3000" dirty="0"/>
          </a:p>
        </p:txBody>
      </p:sp>
      <p:sp>
        <p:nvSpPr>
          <p:cNvPr id="15" name="Text 13"/>
          <p:cNvSpPr txBox="1"/>
          <p:nvPr/>
        </p:nvSpPr>
        <p:spPr>
          <a:xfrm>
            <a:off x="9216923" y="4937760"/>
            <a:ext cx="2343836" cy="731520"/>
          </a:xfrm>
          <a:prstGeom prst="rect">
            <a:avLst/>
          </a:prstGeom>
          <a:noFill/>
          <a:ln/>
        </p:spPr>
        <p:txBody>
          <a:bodyPr wrap="square" lIns="0" tIns="0" rIns="0" bIns="0" rtlCol="0" anchor="ctr"/>
          <a:lstStyle/>
          <a:p>
            <a:pPr indent="0" marL="0">
              <a:lnSpc>
                <a:spcPct val="95000"/>
              </a:lnSpc>
              <a:buNone/>
            </a:pPr>
            <a:r>
              <a:rPr lang="en-US" sz="1100" dirty="0">
                <a:solidFill>
                  <a:srgbClr val="C8D6BE"/>
                </a:solidFill>
              </a:rPr>
              <a:t>question classes answered</a:t>
            </a:r>
            <a:endParaRPr lang="en-US" sz="1100" dirty="0"/>
          </a:p>
          <a:p>
            <a:pPr indent="0" marL="0">
              <a:lnSpc>
                <a:spcPct val="95000"/>
              </a:lnSpc>
              <a:buNone/>
            </a:pPr>
            <a:r>
              <a:rPr lang="en-US" sz="1100" dirty="0">
                <a:solidFill>
                  <a:srgbClr val="C8D6BE"/>
                </a:solidFill>
              </a:rPr>
              <a:t>with no model call at all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From a shop-floor update to a decision</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Five steps. The model reads and writes language; everything that counts - figures, status, safety - is checked by code</a:t>
            </a:r>
            <a:endParaRPr lang="en-US" sz="1150" dirty="0"/>
          </a:p>
        </p:txBody>
      </p:sp>
      <p:sp>
        <p:nvSpPr>
          <p:cNvPr id="4" name="anim-s0-card"/>
          <p:cNvSpPr/>
          <p:nvPr/>
        </p:nvSpPr>
        <p:spPr>
          <a:xfrm>
            <a:off x="502920" y="2194560"/>
            <a:ext cx="2017715" cy="2377440"/>
          </a:xfrm>
          <a:prstGeom prst="rect">
            <a:avLst/>
          </a:prstGeom>
          <a:solidFill>
            <a:srgbClr val="FFFFFF"/>
          </a:solidFill>
          <a:ln w="12700">
            <a:solidFill>
              <a:srgbClr val="C3CCC0"/>
            </a:solidFill>
            <a:prstDash val="solid"/>
          </a:ln>
        </p:spPr>
      </p:sp>
      <p:sp>
        <p:nvSpPr>
          <p:cNvPr id="5" name="anim-s0-num"/>
          <p:cNvSpPr txBox="1"/>
          <p:nvPr/>
        </p:nvSpPr>
        <p:spPr>
          <a:xfrm>
            <a:off x="630936" y="1947672"/>
            <a:ext cx="493776" cy="493776"/>
          </a:xfrm>
          <a:prstGeom prst="ellipse">
            <a:avLst/>
          </a:prstGeom>
          <a:solidFill>
            <a:srgbClr val="5B8C3A"/>
          </a:solidFill>
          <a:ln w="25400">
            <a:solidFill>
              <a:srgbClr val="FFFFFF"/>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anim-s0-text"/>
          <p:cNvSpPr txBox="1"/>
          <p:nvPr/>
        </p:nvSpPr>
        <p:spPr>
          <a:xfrm>
            <a:off x="630936" y="2523744"/>
            <a:ext cx="1761683" cy="1444752"/>
          </a:xfrm>
          <a:prstGeom prst="rect">
            <a:avLst/>
          </a:prstGeom>
          <a:noFill/>
          <a:ln/>
        </p:spPr>
        <p:txBody>
          <a:bodyPr wrap="square" lIns="0" tIns="0" rIns="0" bIns="0" rtlCol="0" anchor="t"/>
          <a:lstStyle/>
          <a:p>
            <a:pPr indent="0" marL="0">
              <a:lnSpc>
                <a:spcPct val="95000"/>
              </a:lnSpc>
              <a:buNone/>
            </a:pPr>
            <a:r>
              <a:rPr lang="en-US" sz="1600" b="1" dirty="0">
                <a:solidFill>
                  <a:srgbClr val="14302A"/>
                </a:solidFill>
                <a:latin typeface="Arial" pitchFamily="34" charset="0"/>
                <a:ea typeface="Arial" pitchFamily="34" charset="-122"/>
                <a:cs typeface="Arial" pitchFamily="34" charset="-120"/>
              </a:rPr>
              <a:t>Capture</a:t>
            </a:r>
            <a:endParaRPr lang="en-US" sz="1600" dirty="0"/>
          </a:p>
          <a:p>
            <a:pPr indent="0" marL="0">
              <a:lnSpc>
                <a:spcPct val="95000"/>
              </a:lnSpc>
              <a:spcBef>
                <a:spcPts val="400"/>
              </a:spcBef>
              <a:buNone/>
            </a:pPr>
            <a:r>
              <a:rPr lang="en-US" sz="1200" dirty="0">
                <a:solidFill>
                  <a:srgbClr val="5C6B64"/>
                </a:solidFill>
              </a:rPr>
              <a:t>A technician speaks or types the update at the bay.</a:t>
            </a:r>
            <a:endParaRPr lang="en-US" sz="1600" dirty="0"/>
          </a:p>
        </p:txBody>
      </p:sp>
      <p:sp>
        <p:nvSpPr>
          <p:cNvPr id="7" name="anim-s0-badge"/>
          <p:cNvSpPr txBox="1"/>
          <p:nvPr/>
        </p:nvSpPr>
        <p:spPr>
          <a:xfrm>
            <a:off x="594360" y="4005072"/>
            <a:ext cx="1834835" cy="475488"/>
          </a:xfrm>
          <a:prstGeom prst="rect">
            <a:avLst/>
          </a:prstGeom>
          <a:solidFill>
            <a:srgbClr val="5B8C3A"/>
          </a:solidFill>
          <a:ln w="12700">
            <a:solidFill>
              <a:srgbClr val="446B29"/>
            </a:solidFill>
          </a:ln>
        </p:spPr>
        <p:txBody>
          <a:bodyPr wrap="square" lIns="0" tIns="0" rIns="0" bIns="0" rtlCol="0" anchor="ctr"/>
          <a:lstStyle/>
          <a:p>
            <a:pPr algn="ctr" indent="0" marL="0">
              <a:lnSpc>
                <a:spcPct val="90000"/>
              </a:lnSpc>
              <a:buNone/>
            </a:pPr>
            <a:r>
              <a:rPr lang="en-US" sz="1000" b="1" dirty="0">
                <a:solidFill>
                  <a:srgbClr val="FFFFFF"/>
                </a:solidFill>
              </a:rPr>
              <a:t>NVIDIA Riva</a:t>
            </a:r>
            <a:endParaRPr lang="en-US" sz="1000" dirty="0"/>
          </a:p>
          <a:p>
            <a:pPr algn="ctr" indent="0" marL="0">
              <a:lnSpc>
                <a:spcPct val="90000"/>
              </a:lnSpc>
              <a:buNone/>
            </a:pPr>
            <a:r>
              <a:rPr lang="en-US" sz="1000" b="1" dirty="0">
                <a:solidFill>
                  <a:srgbClr val="FFFFFF"/>
                </a:solidFill>
              </a:rPr>
              <a:t>Parakeet speech-to-text</a:t>
            </a:r>
            <a:endParaRPr lang="en-US" sz="1000" dirty="0"/>
          </a:p>
        </p:txBody>
      </p:sp>
      <p:sp>
        <p:nvSpPr>
          <p:cNvPr id="8" name="anim-a1"/>
          <p:cNvSpPr/>
          <p:nvPr/>
        </p:nvSpPr>
        <p:spPr>
          <a:xfrm>
            <a:off x="2557211" y="2359152"/>
            <a:ext cx="201168" cy="237744"/>
          </a:xfrm>
          <a:prstGeom prst="rightArrow">
            <a:avLst/>
          </a:prstGeom>
          <a:solidFill>
            <a:srgbClr val="76B900"/>
          </a:solidFill>
          <a:ln w="12700">
            <a:solidFill>
              <a:srgbClr val="76B900"/>
            </a:solidFill>
            <a:prstDash val="solid"/>
          </a:ln>
        </p:spPr>
      </p:sp>
      <p:sp>
        <p:nvSpPr>
          <p:cNvPr id="9" name="anim-s1-card"/>
          <p:cNvSpPr/>
          <p:nvPr/>
        </p:nvSpPr>
        <p:spPr>
          <a:xfrm>
            <a:off x="2794955" y="2194560"/>
            <a:ext cx="2017715" cy="2377440"/>
          </a:xfrm>
          <a:prstGeom prst="rect">
            <a:avLst/>
          </a:prstGeom>
          <a:solidFill>
            <a:srgbClr val="FFFFFF"/>
          </a:solidFill>
          <a:ln w="12700">
            <a:solidFill>
              <a:srgbClr val="C3CCC0"/>
            </a:solidFill>
            <a:prstDash val="solid"/>
          </a:ln>
        </p:spPr>
      </p:sp>
      <p:sp>
        <p:nvSpPr>
          <p:cNvPr id="10" name="anim-s1-num"/>
          <p:cNvSpPr txBox="1"/>
          <p:nvPr/>
        </p:nvSpPr>
        <p:spPr>
          <a:xfrm>
            <a:off x="2922971" y="1947672"/>
            <a:ext cx="493776" cy="493776"/>
          </a:xfrm>
          <a:prstGeom prst="ellipse">
            <a:avLst/>
          </a:prstGeom>
          <a:solidFill>
            <a:srgbClr val="5B8C3A"/>
          </a:solidFill>
          <a:ln w="25400">
            <a:solidFill>
              <a:srgbClr val="FFFFFF"/>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anim-s1-text"/>
          <p:cNvSpPr txBox="1"/>
          <p:nvPr/>
        </p:nvSpPr>
        <p:spPr>
          <a:xfrm>
            <a:off x="2922971" y="2523744"/>
            <a:ext cx="1761683" cy="1444752"/>
          </a:xfrm>
          <a:prstGeom prst="rect">
            <a:avLst/>
          </a:prstGeom>
          <a:noFill/>
          <a:ln/>
        </p:spPr>
        <p:txBody>
          <a:bodyPr wrap="square" lIns="0" tIns="0" rIns="0" bIns="0" rtlCol="0" anchor="t"/>
          <a:lstStyle/>
          <a:p>
            <a:pPr indent="0" marL="0">
              <a:lnSpc>
                <a:spcPct val="95000"/>
              </a:lnSpc>
              <a:buNone/>
            </a:pPr>
            <a:r>
              <a:rPr lang="en-US" sz="1600" b="1" dirty="0">
                <a:solidFill>
                  <a:srgbClr val="14302A"/>
                </a:solidFill>
                <a:latin typeface="Arial" pitchFamily="34" charset="0"/>
                <a:ea typeface="Arial" pitchFamily="34" charset="-122"/>
                <a:cs typeface="Arial" pitchFamily="34" charset="-120"/>
              </a:rPr>
              <a:t>Understand</a:t>
            </a:r>
            <a:endParaRPr lang="en-US" sz="1600" dirty="0"/>
          </a:p>
          <a:p>
            <a:pPr indent="0" marL="0">
              <a:lnSpc>
                <a:spcPct val="95000"/>
              </a:lnSpc>
              <a:spcBef>
                <a:spcPts val="400"/>
              </a:spcBef>
              <a:buNone/>
            </a:pPr>
            <a:r>
              <a:rPr lang="en-US" sz="1200" dirty="0">
                <a:solidFill>
                  <a:srgbClr val="5C6B64"/>
                </a:solidFill>
              </a:rPr>
              <a:t>Free-form shop talk becomes structured facts: concern, cause, correction.</a:t>
            </a:r>
            <a:endParaRPr lang="en-US" sz="1600" dirty="0"/>
          </a:p>
        </p:txBody>
      </p:sp>
      <p:sp>
        <p:nvSpPr>
          <p:cNvPr id="12" name="anim-s1-badge"/>
          <p:cNvSpPr txBox="1"/>
          <p:nvPr/>
        </p:nvSpPr>
        <p:spPr>
          <a:xfrm>
            <a:off x="2886395" y="4005072"/>
            <a:ext cx="1834835" cy="475488"/>
          </a:xfrm>
          <a:prstGeom prst="rect">
            <a:avLst/>
          </a:prstGeom>
          <a:solidFill>
            <a:srgbClr val="5B8C3A"/>
          </a:solidFill>
          <a:ln w="12700">
            <a:solidFill>
              <a:srgbClr val="446B29"/>
            </a:solidFill>
          </a:ln>
        </p:spPr>
        <p:txBody>
          <a:bodyPr wrap="square" lIns="0" tIns="0" rIns="0" bIns="0" rtlCol="0" anchor="ctr"/>
          <a:lstStyle/>
          <a:p>
            <a:pPr algn="ctr" indent="0" marL="0">
              <a:lnSpc>
                <a:spcPct val="90000"/>
              </a:lnSpc>
              <a:buNone/>
            </a:pPr>
            <a:r>
              <a:rPr lang="en-US" sz="1000" b="1" dirty="0">
                <a:solidFill>
                  <a:srgbClr val="FFFFFF"/>
                </a:solidFill>
              </a:rPr>
              <a:t>NVIDIA NIM</a:t>
            </a:r>
            <a:endParaRPr lang="en-US" sz="1000" dirty="0"/>
          </a:p>
          <a:p>
            <a:pPr algn="ctr" indent="0" marL="0">
              <a:lnSpc>
                <a:spcPct val="90000"/>
              </a:lnSpc>
              <a:buNone/>
            </a:pPr>
            <a:r>
              <a:rPr lang="en-US" sz="1000" b="1" dirty="0">
                <a:solidFill>
                  <a:srgbClr val="FFFFFF"/>
                </a:solidFill>
              </a:rPr>
              <a:t>Nemotron 8B</a:t>
            </a:r>
            <a:endParaRPr lang="en-US" sz="1000" dirty="0"/>
          </a:p>
        </p:txBody>
      </p:sp>
      <p:sp>
        <p:nvSpPr>
          <p:cNvPr id="13" name="anim-a2"/>
          <p:cNvSpPr/>
          <p:nvPr/>
        </p:nvSpPr>
        <p:spPr>
          <a:xfrm>
            <a:off x="4849246" y="2359152"/>
            <a:ext cx="201168" cy="237744"/>
          </a:xfrm>
          <a:prstGeom prst="rightArrow">
            <a:avLst/>
          </a:prstGeom>
          <a:solidFill>
            <a:srgbClr val="76B900"/>
          </a:solidFill>
          <a:ln w="12700">
            <a:solidFill>
              <a:srgbClr val="76B900"/>
            </a:solidFill>
            <a:prstDash val="solid"/>
          </a:ln>
        </p:spPr>
      </p:sp>
      <p:sp>
        <p:nvSpPr>
          <p:cNvPr id="14" name="anim-s2-card"/>
          <p:cNvSpPr/>
          <p:nvPr/>
        </p:nvSpPr>
        <p:spPr>
          <a:xfrm>
            <a:off x="5086990" y="2194560"/>
            <a:ext cx="2017715" cy="2377440"/>
          </a:xfrm>
          <a:prstGeom prst="rect">
            <a:avLst/>
          </a:prstGeom>
          <a:solidFill>
            <a:srgbClr val="FFFFFF"/>
          </a:solidFill>
          <a:ln w="12700">
            <a:solidFill>
              <a:srgbClr val="C3CCC0"/>
            </a:solidFill>
            <a:prstDash val="solid"/>
          </a:ln>
        </p:spPr>
      </p:sp>
      <p:sp>
        <p:nvSpPr>
          <p:cNvPr id="15" name="anim-s2-num"/>
          <p:cNvSpPr txBox="1"/>
          <p:nvPr/>
        </p:nvSpPr>
        <p:spPr>
          <a:xfrm>
            <a:off x="5215006" y="1947672"/>
            <a:ext cx="493776" cy="493776"/>
          </a:xfrm>
          <a:prstGeom prst="ellipse">
            <a:avLst/>
          </a:prstGeom>
          <a:solidFill>
            <a:srgbClr val="5B8C3A"/>
          </a:solidFill>
          <a:ln w="25400">
            <a:solidFill>
              <a:srgbClr val="FFFFFF"/>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anim-s2-text"/>
          <p:cNvSpPr txBox="1"/>
          <p:nvPr/>
        </p:nvSpPr>
        <p:spPr>
          <a:xfrm>
            <a:off x="5215006" y="2523744"/>
            <a:ext cx="1761683" cy="1444752"/>
          </a:xfrm>
          <a:prstGeom prst="rect">
            <a:avLst/>
          </a:prstGeom>
          <a:noFill/>
          <a:ln/>
        </p:spPr>
        <p:txBody>
          <a:bodyPr wrap="square" lIns="0" tIns="0" rIns="0" bIns="0" rtlCol="0" anchor="t"/>
          <a:lstStyle/>
          <a:p>
            <a:pPr indent="0" marL="0">
              <a:lnSpc>
                <a:spcPct val="95000"/>
              </a:lnSpc>
              <a:buNone/>
            </a:pPr>
            <a:r>
              <a:rPr lang="en-US" sz="1600" b="1" dirty="0">
                <a:solidFill>
                  <a:srgbClr val="14302A"/>
                </a:solidFill>
                <a:latin typeface="Arial" pitchFamily="34" charset="0"/>
                <a:ea typeface="Arial" pitchFamily="34" charset="-122"/>
                <a:cs typeface="Arial" pitchFamily="34" charset="-120"/>
              </a:rPr>
              <a:t>Verify</a:t>
            </a:r>
            <a:endParaRPr lang="en-US" sz="1600" dirty="0"/>
          </a:p>
          <a:p>
            <a:pPr indent="0" marL="0">
              <a:lnSpc>
                <a:spcPct val="95000"/>
              </a:lnSpc>
              <a:spcBef>
                <a:spcPts val="400"/>
              </a:spcBef>
              <a:buNone/>
            </a:pPr>
            <a:r>
              <a:rPr lang="en-US" sz="1200" dirty="0">
                <a:solidFill>
                  <a:srgbClr val="5C6B64"/>
                </a:solidFill>
              </a:rPr>
              <a:t>Every fact is checked against the catalogue. Conflicts are raised, never overwritten.</a:t>
            </a:r>
            <a:endParaRPr lang="en-US" sz="1600" dirty="0"/>
          </a:p>
        </p:txBody>
      </p:sp>
      <p:sp>
        <p:nvSpPr>
          <p:cNvPr id="17" name="anim-s2-badge"/>
          <p:cNvSpPr txBox="1"/>
          <p:nvPr/>
        </p:nvSpPr>
        <p:spPr>
          <a:xfrm>
            <a:off x="5178430" y="4005072"/>
            <a:ext cx="1834835" cy="475488"/>
          </a:xfrm>
          <a:prstGeom prst="rect">
            <a:avLst/>
          </a:prstGeom>
          <a:solidFill>
            <a:srgbClr val="EEF2EB"/>
          </a:solidFill>
          <a:ln w="12700">
            <a:solidFill>
              <a:srgbClr val="C3CCC0"/>
            </a:solidFill>
          </a:ln>
        </p:spPr>
        <p:txBody>
          <a:bodyPr wrap="square" lIns="0" tIns="0" rIns="0" bIns="0" rtlCol="0" anchor="ctr"/>
          <a:lstStyle/>
          <a:p>
            <a:pPr algn="ctr" indent="0" marL="0">
              <a:lnSpc>
                <a:spcPct val="90000"/>
              </a:lnSpc>
              <a:buNone/>
            </a:pPr>
            <a:r>
              <a:rPr lang="en-US" sz="1000" dirty="0">
                <a:solidFill>
                  <a:srgbClr val="5C6B64"/>
                </a:solidFill>
              </a:rPr>
              <a:t>Deterministic Python</a:t>
            </a:r>
            <a:endParaRPr lang="en-US" sz="1000" dirty="0"/>
          </a:p>
          <a:p>
            <a:pPr algn="ctr" indent="0" marL="0">
              <a:lnSpc>
                <a:spcPct val="90000"/>
              </a:lnSpc>
              <a:buNone/>
            </a:pPr>
            <a:r>
              <a:rPr lang="en-US" sz="1000" dirty="0">
                <a:solidFill>
                  <a:srgbClr val="5C6B64"/>
                </a:solidFill>
              </a:rPr>
              <a:t>no model involved</a:t>
            </a:r>
            <a:endParaRPr lang="en-US" sz="1000" dirty="0"/>
          </a:p>
        </p:txBody>
      </p:sp>
      <p:sp>
        <p:nvSpPr>
          <p:cNvPr id="18" name="anim-a3"/>
          <p:cNvSpPr/>
          <p:nvPr/>
        </p:nvSpPr>
        <p:spPr>
          <a:xfrm>
            <a:off x="7141281" y="2359152"/>
            <a:ext cx="201168" cy="237744"/>
          </a:xfrm>
          <a:prstGeom prst="rightArrow">
            <a:avLst/>
          </a:prstGeom>
          <a:solidFill>
            <a:srgbClr val="76B900"/>
          </a:solidFill>
          <a:ln w="12700">
            <a:solidFill>
              <a:srgbClr val="76B900"/>
            </a:solidFill>
            <a:prstDash val="solid"/>
          </a:ln>
        </p:spPr>
      </p:sp>
      <p:sp>
        <p:nvSpPr>
          <p:cNvPr id="19" name="anim-s3-card"/>
          <p:cNvSpPr/>
          <p:nvPr/>
        </p:nvSpPr>
        <p:spPr>
          <a:xfrm>
            <a:off x="7379025" y="2194560"/>
            <a:ext cx="2017715" cy="2377440"/>
          </a:xfrm>
          <a:prstGeom prst="rect">
            <a:avLst/>
          </a:prstGeom>
          <a:solidFill>
            <a:srgbClr val="FFFFFF"/>
          </a:solidFill>
          <a:ln w="12700">
            <a:solidFill>
              <a:srgbClr val="C3CCC0"/>
            </a:solidFill>
            <a:prstDash val="solid"/>
          </a:ln>
        </p:spPr>
      </p:sp>
      <p:sp>
        <p:nvSpPr>
          <p:cNvPr id="20" name="anim-s3-num"/>
          <p:cNvSpPr txBox="1"/>
          <p:nvPr/>
        </p:nvSpPr>
        <p:spPr>
          <a:xfrm>
            <a:off x="7507041" y="1947672"/>
            <a:ext cx="493776" cy="493776"/>
          </a:xfrm>
          <a:prstGeom prst="ellipse">
            <a:avLst/>
          </a:prstGeom>
          <a:solidFill>
            <a:srgbClr val="5B8C3A"/>
          </a:solidFill>
          <a:ln w="25400">
            <a:solidFill>
              <a:srgbClr val="FFFFFF"/>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anim-s3-text"/>
          <p:cNvSpPr txBox="1"/>
          <p:nvPr/>
        </p:nvSpPr>
        <p:spPr>
          <a:xfrm>
            <a:off x="7507041" y="2523744"/>
            <a:ext cx="1761683" cy="1444752"/>
          </a:xfrm>
          <a:prstGeom prst="rect">
            <a:avLst/>
          </a:prstGeom>
          <a:noFill/>
          <a:ln/>
        </p:spPr>
        <p:txBody>
          <a:bodyPr wrap="square" lIns="0" tIns="0" rIns="0" bIns="0" rtlCol="0" anchor="t"/>
          <a:lstStyle/>
          <a:p>
            <a:pPr indent="0" marL="0">
              <a:lnSpc>
                <a:spcPct val="95000"/>
              </a:lnSpc>
              <a:buNone/>
            </a:pPr>
            <a:r>
              <a:rPr lang="en-US" sz="1600" b="1" dirty="0">
                <a:solidFill>
                  <a:srgbClr val="14302A"/>
                </a:solidFill>
                <a:latin typeface="Arial" pitchFamily="34" charset="0"/>
                <a:ea typeface="Arial" pitchFamily="34" charset="-122"/>
                <a:cs typeface="Arial" pitchFamily="34" charset="-120"/>
              </a:rPr>
              <a:t>Record</a:t>
            </a:r>
            <a:endParaRPr lang="en-US" sz="1600" dirty="0"/>
          </a:p>
          <a:p>
            <a:pPr indent="0" marL="0">
              <a:lnSpc>
                <a:spcPct val="95000"/>
              </a:lnSpc>
              <a:spcBef>
                <a:spcPts val="400"/>
              </a:spcBef>
              <a:buNone/>
            </a:pPr>
            <a:r>
              <a:rPr lang="en-US" sz="1200" dirty="0">
                <a:solidFill>
                  <a:srgbClr val="5C6B64"/>
                </a:solidFill>
              </a:rPr>
              <a:t>The update joins an append-only log; each order's state is derived from it.</a:t>
            </a:r>
            <a:endParaRPr lang="en-US" sz="1600" dirty="0"/>
          </a:p>
        </p:txBody>
      </p:sp>
      <p:sp>
        <p:nvSpPr>
          <p:cNvPr id="22" name="anim-s3-badge"/>
          <p:cNvSpPr txBox="1"/>
          <p:nvPr/>
        </p:nvSpPr>
        <p:spPr>
          <a:xfrm>
            <a:off x="7470465" y="4005072"/>
            <a:ext cx="1834835" cy="475488"/>
          </a:xfrm>
          <a:prstGeom prst="rect">
            <a:avLst/>
          </a:prstGeom>
          <a:solidFill>
            <a:srgbClr val="EEF2EB"/>
          </a:solidFill>
          <a:ln w="12700">
            <a:solidFill>
              <a:srgbClr val="C3CCC0"/>
            </a:solidFill>
          </a:ln>
        </p:spPr>
        <p:txBody>
          <a:bodyPr wrap="square" lIns="0" tIns="0" rIns="0" bIns="0" rtlCol="0" anchor="ctr"/>
          <a:lstStyle/>
          <a:p>
            <a:pPr algn="ctr" indent="0" marL="0">
              <a:lnSpc>
                <a:spcPct val="90000"/>
              </a:lnSpc>
              <a:buNone/>
            </a:pPr>
            <a:r>
              <a:rPr lang="en-US" sz="1000" dirty="0">
                <a:solidFill>
                  <a:srgbClr val="5C6B64"/>
                </a:solidFill>
              </a:rPr>
              <a:t>Event log</a:t>
            </a:r>
            <a:endParaRPr lang="en-US" sz="1000" dirty="0"/>
          </a:p>
          <a:p>
            <a:pPr algn="ctr" indent="0" marL="0">
              <a:lnSpc>
                <a:spcPct val="90000"/>
              </a:lnSpc>
              <a:buNone/>
            </a:pPr>
            <a:r>
              <a:rPr lang="en-US" sz="1000" dirty="0">
                <a:solidFill>
                  <a:srgbClr val="5C6B64"/>
                </a:solidFill>
              </a:rPr>
              <a:t>SQLite, on the box</a:t>
            </a:r>
            <a:endParaRPr lang="en-US" sz="1000" dirty="0"/>
          </a:p>
        </p:txBody>
      </p:sp>
      <p:sp>
        <p:nvSpPr>
          <p:cNvPr id="23" name="anim-a4"/>
          <p:cNvSpPr/>
          <p:nvPr/>
        </p:nvSpPr>
        <p:spPr>
          <a:xfrm>
            <a:off x="9433316" y="2359152"/>
            <a:ext cx="201168" cy="237744"/>
          </a:xfrm>
          <a:prstGeom prst="rightArrow">
            <a:avLst/>
          </a:prstGeom>
          <a:solidFill>
            <a:srgbClr val="76B900"/>
          </a:solidFill>
          <a:ln w="12700">
            <a:solidFill>
              <a:srgbClr val="76B900"/>
            </a:solidFill>
            <a:prstDash val="solid"/>
          </a:ln>
        </p:spPr>
      </p:sp>
      <p:sp>
        <p:nvSpPr>
          <p:cNvPr id="24" name="anim-s4-card"/>
          <p:cNvSpPr/>
          <p:nvPr/>
        </p:nvSpPr>
        <p:spPr>
          <a:xfrm>
            <a:off x="9671060" y="2194560"/>
            <a:ext cx="2017715" cy="2377440"/>
          </a:xfrm>
          <a:prstGeom prst="rect">
            <a:avLst/>
          </a:prstGeom>
          <a:solidFill>
            <a:srgbClr val="FFFFFF"/>
          </a:solidFill>
          <a:ln w="12700">
            <a:solidFill>
              <a:srgbClr val="C3CCC0"/>
            </a:solidFill>
            <a:prstDash val="solid"/>
          </a:ln>
        </p:spPr>
      </p:sp>
      <p:sp>
        <p:nvSpPr>
          <p:cNvPr id="25" name="anim-s4-num"/>
          <p:cNvSpPr txBox="1"/>
          <p:nvPr/>
        </p:nvSpPr>
        <p:spPr>
          <a:xfrm>
            <a:off x="9799076" y="1947672"/>
            <a:ext cx="493776" cy="493776"/>
          </a:xfrm>
          <a:prstGeom prst="ellipse">
            <a:avLst/>
          </a:prstGeom>
          <a:solidFill>
            <a:srgbClr val="5B8C3A"/>
          </a:solidFill>
          <a:ln w="25400">
            <a:solidFill>
              <a:srgbClr val="FFFFFF"/>
            </a:solid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6" name="anim-s4-text"/>
          <p:cNvSpPr txBox="1"/>
          <p:nvPr/>
        </p:nvSpPr>
        <p:spPr>
          <a:xfrm>
            <a:off x="9799076" y="2523744"/>
            <a:ext cx="1761683" cy="1444752"/>
          </a:xfrm>
          <a:prstGeom prst="rect">
            <a:avLst/>
          </a:prstGeom>
          <a:noFill/>
          <a:ln/>
        </p:spPr>
        <p:txBody>
          <a:bodyPr wrap="square" lIns="0" tIns="0" rIns="0" bIns="0" rtlCol="0" anchor="t"/>
          <a:lstStyle/>
          <a:p>
            <a:pPr indent="0" marL="0">
              <a:lnSpc>
                <a:spcPct val="95000"/>
              </a:lnSpc>
              <a:buNone/>
            </a:pPr>
            <a:r>
              <a:rPr lang="en-US" sz="1600" b="1" dirty="0">
                <a:solidFill>
                  <a:srgbClr val="14302A"/>
                </a:solidFill>
                <a:latin typeface="Arial" pitchFamily="34" charset="0"/>
                <a:ea typeface="Arial" pitchFamily="34" charset="-122"/>
                <a:cs typeface="Arial" pitchFamily="34" charset="-120"/>
              </a:rPr>
              <a:t>Decide</a:t>
            </a:r>
            <a:endParaRPr lang="en-US" sz="1600" dirty="0"/>
          </a:p>
          <a:p>
            <a:pPr indent="0" marL="0">
              <a:lnSpc>
                <a:spcPct val="95000"/>
              </a:lnSpc>
              <a:spcBef>
                <a:spcPts val="400"/>
              </a:spcBef>
              <a:buNone/>
            </a:pPr>
            <a:r>
              <a:rPr lang="en-US" sz="1200" dirty="0">
                <a:solidFill>
                  <a:srgbClr val="5C6B64"/>
                </a:solidFill>
              </a:rPr>
              <a:t>Managers ask in plain English. Answers are computed, cited and checked.</a:t>
            </a:r>
            <a:endParaRPr lang="en-US" sz="1600" dirty="0"/>
          </a:p>
        </p:txBody>
      </p:sp>
      <p:sp>
        <p:nvSpPr>
          <p:cNvPr id="27" name="anim-s4-badge"/>
          <p:cNvSpPr txBox="1"/>
          <p:nvPr/>
        </p:nvSpPr>
        <p:spPr>
          <a:xfrm>
            <a:off x="9762500" y="4005072"/>
            <a:ext cx="1834835" cy="475488"/>
          </a:xfrm>
          <a:prstGeom prst="rect">
            <a:avLst/>
          </a:prstGeom>
          <a:solidFill>
            <a:srgbClr val="5B8C3A"/>
          </a:solidFill>
          <a:ln w="12700">
            <a:solidFill>
              <a:srgbClr val="446B29"/>
            </a:solidFill>
          </a:ln>
        </p:spPr>
        <p:txBody>
          <a:bodyPr wrap="square" lIns="0" tIns="0" rIns="0" bIns="0" rtlCol="0" anchor="ctr"/>
          <a:lstStyle/>
          <a:p>
            <a:pPr algn="ctr" indent="0" marL="0">
              <a:lnSpc>
                <a:spcPct val="90000"/>
              </a:lnSpc>
              <a:buNone/>
            </a:pPr>
            <a:r>
              <a:rPr lang="en-US" sz="1000" b="1" dirty="0">
                <a:solidFill>
                  <a:srgbClr val="FFFFFF"/>
                </a:solidFill>
              </a:rPr>
              <a:t>NVIDIA NIM retrieval</a:t>
            </a:r>
            <a:endParaRPr lang="en-US" sz="1000" dirty="0"/>
          </a:p>
          <a:p>
            <a:pPr algn="ctr" indent="0" marL="0">
              <a:lnSpc>
                <a:spcPct val="90000"/>
              </a:lnSpc>
              <a:buNone/>
            </a:pPr>
            <a:r>
              <a:rPr lang="en-US" sz="1000" b="1" dirty="0">
                <a:solidFill>
                  <a:srgbClr val="FFFFFF"/>
                </a:solidFill>
              </a:rPr>
              <a:t>NeMo Guardrails</a:t>
            </a:r>
            <a:endParaRPr lang="en-US" sz="1000" dirty="0"/>
          </a:p>
        </p:txBody>
      </p:sp>
      <p:sp>
        <p:nvSpPr>
          <p:cNvPr id="28" name="Text 26"/>
          <p:cNvSpPr txBox="1"/>
          <p:nvPr/>
        </p:nvSpPr>
        <p:spPr>
          <a:xfrm>
            <a:off x="502920" y="5120640"/>
            <a:ext cx="11185855" cy="237744"/>
          </a:xfrm>
          <a:prstGeom prst="rect">
            <a:avLst/>
          </a:prstGeom>
          <a:noFill/>
          <a:ln/>
        </p:spPr>
        <p:txBody>
          <a:bodyPr wrap="square" lIns="0" tIns="0" rIns="0" bIns="0" rtlCol="0" anchor="ctr"/>
          <a:lstStyle/>
          <a:p>
            <a:pPr indent="0" marL="0">
              <a:buNone/>
            </a:pPr>
            <a:r>
              <a:rPr lang="en-US" sz="1100" i="1" dirty="0">
                <a:solidFill>
                  <a:srgbClr val="5C6B64"/>
                </a:solidFill>
              </a:rPr>
              <a:t>Speech recognition runs on NVIDIA-hosted Riva; every other model runs on the L40S in the box.</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22" presetClass="entr" presetSubtype="8" fill="hold" nodeType="withEffect">
                                  <p:stCondLst>
                                    <p:cond delay="45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400"/>
                                        <p:tgtEl>
                                          <p:spTgt spid="7"/>
                                        </p:tgtEl>
                                      </p:cBhvr>
                                    </p:animEffect>
                                  </p:childTnLst>
                                </p:cTn>
                              </p:par>
                              <p:par>
                                <p:cTn id="16" presetID="22" presetClass="entr" presetSubtype="8" fill="hold" nodeType="withEffect">
                                  <p:stCondLst>
                                    <p:cond delay="100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300"/>
                                        <p:tgtEl>
                                          <p:spTgt spid="8"/>
                                        </p:tgtEl>
                                      </p:cBhvr>
                                    </p:animEffect>
                                  </p:childTnLst>
                                </p:cTn>
                              </p:par>
                              <p:par>
                                <p:cTn id="19" presetID="10" presetClass="entr" presetSubtype="0" fill="hold" nodeType="withEffect">
                                  <p:stCondLst>
                                    <p:cond delay="13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13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13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22" presetClass="entr" presetSubtype="8" fill="hold" nodeType="withEffect">
                                  <p:stCondLst>
                                    <p:cond delay="175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400"/>
                                        <p:tgtEl>
                                          <p:spTgt spid="12"/>
                                        </p:tgtEl>
                                      </p:cBhvr>
                                    </p:animEffect>
                                  </p:childTnLst>
                                </p:cTn>
                              </p:par>
                              <p:par>
                                <p:cTn id="31" presetID="22" presetClass="entr" presetSubtype="8" fill="hold" nodeType="withEffect">
                                  <p:stCondLst>
                                    <p:cond delay="230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300"/>
                                        <p:tgtEl>
                                          <p:spTgt spid="13"/>
                                        </p:tgtEl>
                                      </p:cBhvr>
                                    </p:animEffect>
                                  </p:childTnLst>
                                </p:cTn>
                              </p:par>
                              <p:par>
                                <p:cTn id="34" presetID="10" presetClass="entr" presetSubtype="0" fill="hold" nodeType="withEffect">
                                  <p:stCondLst>
                                    <p:cond delay="260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nodeType="withEffect">
                                  <p:stCondLst>
                                    <p:cond delay="260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nodeType="withEffect">
                                  <p:stCondLst>
                                    <p:cond delay="26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22" presetClass="entr" presetSubtype="8" fill="hold" nodeType="withEffect">
                                  <p:stCondLst>
                                    <p:cond delay="305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400"/>
                                        <p:tgtEl>
                                          <p:spTgt spid="17"/>
                                        </p:tgtEl>
                                      </p:cBhvr>
                                    </p:animEffect>
                                  </p:childTnLst>
                                </p:cTn>
                              </p:par>
                              <p:par>
                                <p:cTn id="46" presetID="22" presetClass="entr" presetSubtype="8" fill="hold" nodeType="withEffect">
                                  <p:stCondLst>
                                    <p:cond delay="3600"/>
                                  </p:stCondLst>
                                  <p:childTnLst>
                                    <p:set>
                                      <p:cBhvr>
                                        <p:cTn id="47" dur="1" fill="hold">
                                          <p:stCondLst>
                                            <p:cond delay="0"/>
                                          </p:stCondLst>
                                        </p:cTn>
                                        <p:tgtEl>
                                          <p:spTgt spid="18"/>
                                        </p:tgtEl>
                                        <p:attrNameLst>
                                          <p:attrName>style.visibility</p:attrName>
                                        </p:attrNameLst>
                                      </p:cBhvr>
                                      <p:to>
                                        <p:strVal val="visible"/>
                                      </p:to>
                                    </p:set>
                                    <p:animEffect transition="in" filter="wipe(left)">
                                      <p:cBhvr>
                                        <p:cTn id="48" dur="300"/>
                                        <p:tgtEl>
                                          <p:spTgt spid="18"/>
                                        </p:tgtEl>
                                      </p:cBhvr>
                                    </p:animEffect>
                                  </p:childTnLst>
                                </p:cTn>
                              </p:par>
                              <p:par>
                                <p:cTn id="49" presetID="10" presetClass="entr" presetSubtype="0" fill="hold" nodeType="withEffect">
                                  <p:stCondLst>
                                    <p:cond delay="390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nodeType="withEffect">
                                  <p:stCondLst>
                                    <p:cond delay="390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39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22" presetClass="entr" presetSubtype="8" fill="hold" nodeType="withEffect">
                                  <p:stCondLst>
                                    <p:cond delay="435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400"/>
                                        <p:tgtEl>
                                          <p:spTgt spid="22"/>
                                        </p:tgtEl>
                                      </p:cBhvr>
                                    </p:animEffect>
                                  </p:childTnLst>
                                </p:cTn>
                              </p:par>
                              <p:par>
                                <p:cTn id="61" presetID="22" presetClass="entr" presetSubtype="8" fill="hold" nodeType="withEffect">
                                  <p:stCondLst>
                                    <p:cond delay="490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300"/>
                                        <p:tgtEl>
                                          <p:spTgt spid="23"/>
                                        </p:tgtEl>
                                      </p:cBhvr>
                                    </p:animEffect>
                                  </p:childTnLst>
                                </p:cTn>
                              </p:par>
                              <p:par>
                                <p:cTn id="64" presetID="10" presetClass="entr" presetSubtype="0" fill="hold" nodeType="withEffect">
                                  <p:stCondLst>
                                    <p:cond delay="52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nodeType="withEffect">
                                  <p:stCondLst>
                                    <p:cond delay="520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nodeType="withEffect">
                                  <p:stCondLst>
                                    <p:cond delay="520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22" presetClass="entr" presetSubtype="8" fill="hold" nodeType="withEffect">
                                  <p:stCondLst>
                                    <p:cond delay="5650"/>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82880"/>
            <a:ext cx="8229600" cy="329184"/>
          </a:xfrm>
          <a:prstGeom prst="rect">
            <a:avLst/>
          </a:prstGeom>
          <a:noFill/>
          <a:ln/>
        </p:spPr>
        <p:txBody>
          <a:bodyPr wrap="square" lIns="0" tIns="0" rIns="0" bIns="0" rtlCol="0" anchor="ctr"/>
          <a:lstStyle/>
          <a:p>
            <a:pPr indent="0" marL="0">
              <a:buNone/>
            </a:pPr>
            <a:r>
              <a:rPr lang="en-US" sz="2300" b="1" spc="50" kern="0" dirty="0">
                <a:solidFill>
                  <a:srgbClr val="14302A"/>
                </a:solidFill>
                <a:latin typeface="Arial" pitchFamily="34" charset="0"/>
                <a:ea typeface="Arial" pitchFamily="34" charset="-122"/>
                <a:cs typeface="Arial" pitchFamily="34" charset="-120"/>
              </a:rPr>
              <a:t>AGENTIC AI USE CASE</a:t>
            </a:r>
            <a:endParaRPr lang="en-US" sz="2300" dirty="0"/>
          </a:p>
        </p:txBody>
      </p:sp>
      <p:sp>
        <p:nvSpPr>
          <p:cNvPr id="3" name="Text 1"/>
          <p:cNvSpPr txBox="1"/>
          <p:nvPr/>
        </p:nvSpPr>
        <p:spPr>
          <a:xfrm>
            <a:off x="502920" y="512064"/>
            <a:ext cx="9144000" cy="237744"/>
          </a:xfrm>
          <a:prstGeom prst="rect">
            <a:avLst/>
          </a:prstGeom>
          <a:noFill/>
          <a:ln/>
        </p:spPr>
        <p:txBody>
          <a:bodyPr wrap="square" lIns="0" tIns="0" rIns="0" bIns="0" rtlCol="0" anchor="ctr"/>
          <a:lstStyle/>
          <a:p>
            <a:pPr indent="0" marL="0">
              <a:buNone/>
            </a:pPr>
            <a:r>
              <a:rPr lang="en-US" sz="1450" b="1" dirty="0">
                <a:solidFill>
                  <a:srgbClr val="3E5A50"/>
                </a:solidFill>
                <a:latin typeface="Arial" pitchFamily="34" charset="0"/>
                <a:ea typeface="Arial" pitchFamily="34" charset="-122"/>
                <a:cs typeface="Arial" pitchFamily="34" charset="-120"/>
              </a:rPr>
              <a:t>Automotive Service Operations Intelligence Agent</a:t>
            </a:r>
            <a:endParaRPr lang="en-US" sz="1450" dirty="0"/>
          </a:p>
        </p:txBody>
      </p:sp>
      <p:sp>
        <p:nvSpPr>
          <p:cNvPr id="4" name="panel-OBJECTIVE"/>
          <p:cNvSpPr/>
          <p:nvPr/>
        </p:nvSpPr>
        <p:spPr>
          <a:xfrm>
            <a:off x="502920" y="786384"/>
            <a:ext cx="5455768" cy="1042416"/>
          </a:xfrm>
          <a:prstGeom prst="rect">
            <a:avLst/>
          </a:prstGeom>
          <a:solidFill>
            <a:srgbClr val="EFF4EA"/>
          </a:solidFill>
          <a:ln w="12700">
            <a:solidFill>
              <a:srgbClr val="EFF4EA"/>
            </a:solidFill>
            <a:prstDash val="solid"/>
          </a:ln>
        </p:spPr>
      </p:sp>
      <p:sp>
        <p:nvSpPr>
          <p:cNvPr id="5" name="Shape 3"/>
          <p:cNvSpPr/>
          <p:nvPr/>
        </p:nvSpPr>
        <p:spPr>
          <a:xfrm>
            <a:off x="502920" y="786384"/>
            <a:ext cx="68580" cy="1042416"/>
          </a:xfrm>
          <a:prstGeom prst="rect">
            <a:avLst/>
          </a:prstGeom>
          <a:solidFill>
            <a:srgbClr val="76B900"/>
          </a:solidFill>
          <a:ln w="12700">
            <a:solidFill>
              <a:srgbClr val="76B900"/>
            </a:solidFill>
            <a:prstDash val="solid"/>
          </a:ln>
        </p:spPr>
      </p:sp>
      <p:sp>
        <p:nvSpPr>
          <p:cNvPr id="6" name="Text 4"/>
          <p:cNvSpPr txBox="1"/>
          <p:nvPr/>
        </p:nvSpPr>
        <p:spPr>
          <a:xfrm>
            <a:off x="704088" y="841248"/>
            <a:ext cx="5071720" cy="219456"/>
          </a:xfrm>
          <a:prstGeom prst="rect">
            <a:avLst/>
          </a:prstGeom>
          <a:noFill/>
          <a:ln/>
        </p:spPr>
        <p:txBody>
          <a:bodyPr wrap="square" lIns="0" tIns="0" rIns="0" bIns="0" rtlCol="0" anchor="ctr"/>
          <a:lstStyle/>
          <a:p>
            <a:pPr indent="0" marL="0">
              <a:buNone/>
            </a:pPr>
            <a:r>
              <a:rPr lang="en-US" sz="1100" b="1" spc="90" kern="0" dirty="0">
                <a:solidFill>
                  <a:srgbClr val="14302A"/>
                </a:solidFill>
                <a:latin typeface="Arial" pitchFamily="34" charset="0"/>
                <a:ea typeface="Arial" pitchFamily="34" charset="-122"/>
                <a:cs typeface="Arial" pitchFamily="34" charset="-120"/>
              </a:rPr>
              <a:t>OBJECTIVE</a:t>
            </a:r>
            <a:endParaRPr lang="en-US" sz="1100" dirty="0"/>
          </a:p>
        </p:txBody>
      </p:sp>
      <p:sp>
        <p:nvSpPr>
          <p:cNvPr id="7" name="Text 5"/>
          <p:cNvSpPr txBox="1"/>
          <p:nvPr/>
        </p:nvSpPr>
        <p:spPr>
          <a:xfrm>
            <a:off x="704088" y="1069848"/>
            <a:ext cx="5071720" cy="694944"/>
          </a:xfrm>
          <a:prstGeom prst="rect">
            <a:avLst/>
          </a:prstGeom>
          <a:noFill/>
          <a:ln/>
        </p:spPr>
        <p:txBody>
          <a:bodyPr wrap="square" lIns="0" tIns="0" rIns="0" bIns="0" rtlCol="0" anchor="t"/>
          <a:lstStyle/>
          <a:p>
            <a:pPr indent="0" marL="0">
              <a:lnSpc>
                <a:spcPct val="98000"/>
              </a:lnSpc>
              <a:buNone/>
            </a:pPr>
            <a:r>
              <a:rPr lang="en-US" sz="1050" dirty="0">
                <a:solidFill>
                  <a:srgbClr val="3E5A50"/>
                </a:solidFill>
              </a:rPr>
              <a:t>A service department's day is recorded in speech and free text at the bay. Turning that into the state of each repair order is done by hand and from memory, so updates are lost and a manager's question gets an answer nobody can trace back.</a:t>
            </a:r>
            <a:endParaRPr lang="en-US" sz="1050" dirty="0"/>
          </a:p>
        </p:txBody>
      </p:sp>
      <p:sp>
        <p:nvSpPr>
          <p:cNvPr id="8" name="panel-BUSINESS OUTCOME"/>
          <p:cNvSpPr/>
          <p:nvPr/>
        </p:nvSpPr>
        <p:spPr>
          <a:xfrm>
            <a:off x="6233008" y="786384"/>
            <a:ext cx="5455768" cy="1042416"/>
          </a:xfrm>
          <a:prstGeom prst="rect">
            <a:avLst/>
          </a:prstGeom>
          <a:solidFill>
            <a:srgbClr val="F7EDE6"/>
          </a:solidFill>
          <a:ln w="12700">
            <a:solidFill>
              <a:srgbClr val="F7EDE6"/>
            </a:solidFill>
            <a:prstDash val="solid"/>
          </a:ln>
        </p:spPr>
      </p:sp>
      <p:sp>
        <p:nvSpPr>
          <p:cNvPr id="9" name="Shape 7"/>
          <p:cNvSpPr/>
          <p:nvPr/>
        </p:nvSpPr>
        <p:spPr>
          <a:xfrm>
            <a:off x="6233008" y="786384"/>
            <a:ext cx="68580" cy="1042416"/>
          </a:xfrm>
          <a:prstGeom prst="rect">
            <a:avLst/>
          </a:prstGeom>
          <a:solidFill>
            <a:srgbClr val="C1562A"/>
          </a:solidFill>
          <a:ln w="12700">
            <a:solidFill>
              <a:srgbClr val="C1562A"/>
            </a:solidFill>
            <a:prstDash val="solid"/>
          </a:ln>
        </p:spPr>
      </p:sp>
      <p:sp>
        <p:nvSpPr>
          <p:cNvPr id="10" name="Text 8"/>
          <p:cNvSpPr txBox="1"/>
          <p:nvPr/>
        </p:nvSpPr>
        <p:spPr>
          <a:xfrm>
            <a:off x="6434176" y="841248"/>
            <a:ext cx="5071720" cy="219456"/>
          </a:xfrm>
          <a:prstGeom prst="rect">
            <a:avLst/>
          </a:prstGeom>
          <a:noFill/>
          <a:ln/>
        </p:spPr>
        <p:txBody>
          <a:bodyPr wrap="square" lIns="0" tIns="0" rIns="0" bIns="0" rtlCol="0" anchor="ctr"/>
          <a:lstStyle/>
          <a:p>
            <a:pPr indent="0" marL="0">
              <a:buNone/>
            </a:pPr>
            <a:r>
              <a:rPr lang="en-US" sz="1100" b="1" spc="90" kern="0" dirty="0">
                <a:solidFill>
                  <a:srgbClr val="14302A"/>
                </a:solidFill>
                <a:latin typeface="Arial" pitchFamily="34" charset="0"/>
                <a:ea typeface="Arial" pitchFamily="34" charset="-122"/>
                <a:cs typeface="Arial" pitchFamily="34" charset="-120"/>
              </a:rPr>
              <a:t>BUSINESS OUTCOME</a:t>
            </a:r>
            <a:endParaRPr lang="en-US" sz="1100" dirty="0"/>
          </a:p>
        </p:txBody>
      </p:sp>
      <p:sp>
        <p:nvSpPr>
          <p:cNvPr id="11" name="Text 9"/>
          <p:cNvSpPr txBox="1"/>
          <p:nvPr/>
        </p:nvSpPr>
        <p:spPr>
          <a:xfrm>
            <a:off x="6434176" y="1069848"/>
            <a:ext cx="5071720" cy="694944"/>
          </a:xfrm>
          <a:prstGeom prst="rect">
            <a:avLst/>
          </a:prstGeom>
          <a:noFill/>
          <a:ln/>
        </p:spPr>
        <p:txBody>
          <a:bodyPr wrap="square" lIns="0" tIns="0" rIns="0" bIns="0" rtlCol="0" anchor="t"/>
          <a:lstStyle/>
          <a:p>
            <a:pPr marL="342900" indent="-342900">
              <a:lnSpc>
                <a:spcPct val="98000"/>
              </a:lnSpc>
              <a:buSzPct val="100000"/>
              <a:buChar char="•"/>
            </a:pPr>
            <a:r>
              <a:rPr lang="en-US" sz="1050" dirty="0">
                <a:solidFill>
                  <a:srgbClr val="3E5A50"/>
                </a:solidFill>
              </a:rPr>
              <a:t>Spoken and typed updates become repair-order state</a:t>
            </a:r>
            <a:endParaRPr lang="en-US" sz="1050" dirty="0"/>
          </a:p>
          <a:p>
            <a:pPr marL="342900" indent="-342900">
              <a:lnSpc>
                <a:spcPct val="98000"/>
              </a:lnSpc>
              <a:buSzPct val="100000"/>
              <a:buChar char="•"/>
            </a:pPr>
            <a:r>
              <a:rPr lang="en-US" sz="1050" dirty="0">
                <a:solidFill>
                  <a:srgbClr val="3E5A50"/>
                </a:solidFill>
              </a:rPr>
              <a:t>Every figure in an answer traces to an order and an update id</a:t>
            </a:r>
            <a:endParaRPr lang="en-US" sz="1050" dirty="0"/>
          </a:p>
          <a:p>
            <a:pPr marL="342900" indent="-342900">
              <a:lnSpc>
                <a:spcPct val="98000"/>
              </a:lnSpc>
              <a:buSzPct val="100000"/>
              <a:buChar char="•"/>
            </a:pPr>
            <a:r>
              <a:rPr lang="en-US" sz="1050" dirty="0">
                <a:solidFill>
                  <a:srgbClr val="3E5A50"/>
                </a:solidFill>
              </a:rPr>
              <a:t>Five of six question classes need no model call at all</a:t>
            </a:r>
            <a:endParaRPr lang="en-US" sz="1050" dirty="0"/>
          </a:p>
        </p:txBody>
      </p:sp>
      <p:sp>
        <p:nvSpPr>
          <p:cNvPr id="12" name="Text 10"/>
          <p:cNvSpPr txBox="1"/>
          <p:nvPr/>
        </p:nvSpPr>
        <p:spPr>
          <a:xfrm>
            <a:off x="502920" y="1883664"/>
            <a:ext cx="3657600" cy="256032"/>
          </a:xfrm>
          <a:prstGeom prst="rect">
            <a:avLst/>
          </a:prstGeom>
          <a:noFill/>
          <a:ln/>
        </p:spPr>
        <p:txBody>
          <a:bodyPr wrap="square" lIns="0" tIns="0" rIns="0" bIns="0" rtlCol="0" anchor="ctr"/>
          <a:lstStyle/>
          <a:p>
            <a:pPr indent="0" marL="0">
              <a:buNone/>
            </a:pPr>
            <a:r>
              <a:rPr lang="en-US" sz="1400" b="1" spc="120" kern="0" dirty="0">
                <a:solidFill>
                  <a:srgbClr val="14302A"/>
                </a:solidFill>
                <a:latin typeface="Arial" pitchFamily="34" charset="0"/>
                <a:ea typeface="Arial" pitchFamily="34" charset="-122"/>
                <a:cs typeface="Arial" pitchFamily="34" charset="-120"/>
              </a:rPr>
              <a:t>ARCHITECTURE</a:t>
            </a:r>
            <a:endParaRPr lang="en-US" sz="1400" dirty="0"/>
          </a:p>
        </p:txBody>
      </p:sp>
      <p:sp>
        <p:nvSpPr>
          <p:cNvPr id="13" name="legend-NVIDIA COMPONE"/>
          <p:cNvSpPr/>
          <p:nvPr/>
        </p:nvSpPr>
        <p:spPr>
          <a:xfrm>
            <a:off x="6348679" y="1883664"/>
            <a:ext cx="1719072" cy="256032"/>
          </a:xfrm>
          <a:prstGeom prst="rect">
            <a:avLst/>
          </a:prstGeom>
          <a:solidFill>
            <a:srgbClr val="5B8C3A"/>
          </a:solidFill>
          <a:ln w="15875">
            <a:solidFill>
              <a:srgbClr val="446B29"/>
            </a:solidFill>
            <a:prstDash val="solid"/>
          </a:ln>
        </p:spPr>
      </p:sp>
      <p:sp>
        <p:nvSpPr>
          <p:cNvPr id="14" name="Text 12"/>
          <p:cNvSpPr txBox="1"/>
          <p:nvPr/>
        </p:nvSpPr>
        <p:spPr>
          <a:xfrm>
            <a:off x="6348679" y="1883664"/>
            <a:ext cx="1719072" cy="256032"/>
          </a:xfrm>
          <a:prstGeom prst="rect">
            <a:avLst/>
          </a:prstGeom>
          <a:noFill/>
          <a:ln/>
        </p:spPr>
        <p:txBody>
          <a:bodyPr wrap="square" lIns="0" tIns="0" rIns="0" bIns="0" rtlCol="0" anchor="ctr"/>
          <a:lstStyle/>
          <a:p>
            <a:pPr algn="ctr" indent="0" marL="0">
              <a:buNone/>
            </a:pPr>
            <a:r>
              <a:rPr lang="en-US" sz="1000" b="1" spc="40" kern="0" dirty="0">
                <a:solidFill>
                  <a:srgbClr val="FFFFFF"/>
                </a:solidFill>
              </a:rPr>
              <a:t>NVIDIA COMPONENTS</a:t>
            </a:r>
            <a:endParaRPr lang="en-US" sz="1000" dirty="0"/>
          </a:p>
        </p:txBody>
      </p:sp>
      <p:sp>
        <p:nvSpPr>
          <p:cNvPr id="15" name="legend-NVIDIA FRAMEWO"/>
          <p:cNvSpPr/>
          <p:nvPr/>
        </p:nvSpPr>
        <p:spPr>
          <a:xfrm>
            <a:off x="8159191" y="1883664"/>
            <a:ext cx="1719072" cy="256032"/>
          </a:xfrm>
          <a:prstGeom prst="rect">
            <a:avLst/>
          </a:prstGeom>
          <a:solidFill>
            <a:srgbClr val="FFFFFF"/>
          </a:solidFill>
          <a:ln w="19050">
            <a:solidFill>
              <a:srgbClr val="76B900"/>
            </a:solidFill>
            <a:prstDash val="solid"/>
          </a:ln>
        </p:spPr>
      </p:sp>
      <p:sp>
        <p:nvSpPr>
          <p:cNvPr id="16" name="Text 14"/>
          <p:cNvSpPr txBox="1"/>
          <p:nvPr/>
        </p:nvSpPr>
        <p:spPr>
          <a:xfrm>
            <a:off x="8159191" y="1883664"/>
            <a:ext cx="1719072" cy="256032"/>
          </a:xfrm>
          <a:prstGeom prst="rect">
            <a:avLst/>
          </a:prstGeom>
          <a:noFill/>
          <a:ln/>
        </p:spPr>
        <p:txBody>
          <a:bodyPr wrap="square" lIns="0" tIns="0" rIns="0" bIns="0" rtlCol="0" anchor="ctr"/>
          <a:lstStyle/>
          <a:p>
            <a:pPr algn="ctr" indent="0" marL="0">
              <a:buNone/>
            </a:pPr>
            <a:r>
              <a:rPr lang="en-US" sz="1000" b="1" spc="40" kern="0" dirty="0">
                <a:solidFill>
                  <a:srgbClr val="4A7023"/>
                </a:solidFill>
              </a:rPr>
              <a:t>NVIDIA FRAMEWORK</a:t>
            </a:r>
            <a:endParaRPr lang="en-US" sz="1000" dirty="0"/>
          </a:p>
        </p:txBody>
      </p:sp>
      <p:sp>
        <p:nvSpPr>
          <p:cNvPr id="17" name="legend-ROADMAP · BLOC"/>
          <p:cNvSpPr/>
          <p:nvPr/>
        </p:nvSpPr>
        <p:spPr>
          <a:xfrm>
            <a:off x="9969703" y="1883664"/>
            <a:ext cx="1719072" cy="256032"/>
          </a:xfrm>
          <a:prstGeom prst="rect">
            <a:avLst/>
          </a:prstGeom>
          <a:solidFill>
            <a:srgbClr val="FFFFFF"/>
          </a:solidFill>
          <a:ln w="19050">
            <a:solidFill>
              <a:srgbClr val="76B900"/>
            </a:solidFill>
            <a:prstDash val="dash"/>
          </a:ln>
        </p:spPr>
      </p:sp>
      <p:sp>
        <p:nvSpPr>
          <p:cNvPr id="18" name="Text 16"/>
          <p:cNvSpPr txBox="1"/>
          <p:nvPr/>
        </p:nvSpPr>
        <p:spPr>
          <a:xfrm>
            <a:off x="9969703" y="1883664"/>
            <a:ext cx="1719072" cy="256032"/>
          </a:xfrm>
          <a:prstGeom prst="rect">
            <a:avLst/>
          </a:prstGeom>
          <a:noFill/>
          <a:ln/>
        </p:spPr>
        <p:txBody>
          <a:bodyPr wrap="square" lIns="0" tIns="0" rIns="0" bIns="0" rtlCol="0" anchor="ctr"/>
          <a:lstStyle/>
          <a:p>
            <a:pPr algn="ctr" indent="0" marL="0">
              <a:buNone/>
            </a:pPr>
            <a:r>
              <a:rPr lang="en-US" sz="1000" b="1" spc="40" kern="0" dirty="0">
                <a:solidFill>
                  <a:srgbClr val="4A7023"/>
                </a:solidFill>
              </a:rPr>
              <a:t>ROADMAP · BLOCKED</a:t>
            </a:r>
            <a:endParaRPr lang="en-US" sz="1000" dirty="0"/>
          </a:p>
        </p:txBody>
      </p:sp>
      <p:sp>
        <p:nvSpPr>
          <p:cNvPr id="19" name="Shape 17"/>
          <p:cNvSpPr/>
          <p:nvPr/>
        </p:nvSpPr>
        <p:spPr>
          <a:xfrm>
            <a:off x="502920" y="2212848"/>
            <a:ext cx="2212848" cy="201168"/>
          </a:xfrm>
          <a:prstGeom prst="rect">
            <a:avLst/>
          </a:prstGeom>
          <a:solidFill>
            <a:srgbClr val="1E4035"/>
          </a:solidFill>
          <a:ln w="12700">
            <a:solidFill>
              <a:srgbClr val="1E4035"/>
            </a:solidFill>
            <a:prstDash val="solid"/>
          </a:ln>
        </p:spPr>
      </p:sp>
      <p:sp>
        <p:nvSpPr>
          <p:cNvPr id="20" name="Text 18"/>
          <p:cNvSpPr txBox="1"/>
          <p:nvPr/>
        </p:nvSpPr>
        <p:spPr>
          <a:xfrm>
            <a:off x="612648" y="2212848"/>
            <a:ext cx="1993392" cy="201168"/>
          </a:xfrm>
          <a:prstGeom prst="rect">
            <a:avLst/>
          </a:prstGeom>
          <a:noFill/>
          <a:ln/>
        </p:spPr>
        <p:txBody>
          <a:bodyPr wrap="square" lIns="0" tIns="0" rIns="0" bIns="0" rtlCol="0" anchor="ctr"/>
          <a:lstStyle/>
          <a:p>
            <a:pPr algn="l" indent="0" marL="0">
              <a:buNone/>
            </a:pPr>
            <a:r>
              <a:rPr lang="en-US" sz="1000" b="1" spc="60" kern="0" dirty="0">
                <a:solidFill>
                  <a:srgbClr val="FFFFFF"/>
                </a:solidFill>
              </a:rPr>
              <a:t>INPUTS</a:t>
            </a:r>
            <a:endParaRPr lang="en-US" sz="1000" dirty="0"/>
          </a:p>
        </p:txBody>
      </p:sp>
      <p:sp>
        <p:nvSpPr>
          <p:cNvPr id="21" name="card-Spoken update"/>
          <p:cNvSpPr/>
          <p:nvPr/>
        </p:nvSpPr>
        <p:spPr>
          <a:xfrm>
            <a:off x="502920" y="2450592"/>
            <a:ext cx="2212848" cy="356616"/>
          </a:xfrm>
          <a:prstGeom prst="rect">
            <a:avLst/>
          </a:prstGeom>
          <a:solidFill>
            <a:srgbClr val="FFFFFF"/>
          </a:solidFill>
          <a:ln w="12700">
            <a:solidFill>
              <a:srgbClr val="C3CCC0"/>
            </a:solidFill>
            <a:prstDash val="solid"/>
          </a:ln>
        </p:spPr>
      </p:sp>
      <p:sp>
        <p:nvSpPr>
          <p:cNvPr id="22" name="Text 20"/>
          <p:cNvSpPr txBox="1"/>
          <p:nvPr/>
        </p:nvSpPr>
        <p:spPr>
          <a:xfrm>
            <a:off x="566928" y="2487168"/>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Spoken update</a:t>
            </a:r>
            <a:endParaRPr lang="en-US" sz="1100" dirty="0"/>
          </a:p>
        </p:txBody>
      </p:sp>
      <p:sp>
        <p:nvSpPr>
          <p:cNvPr id="23" name="card-Typed update"/>
          <p:cNvSpPr/>
          <p:nvPr/>
        </p:nvSpPr>
        <p:spPr>
          <a:xfrm>
            <a:off x="502920" y="2834640"/>
            <a:ext cx="2212848" cy="356616"/>
          </a:xfrm>
          <a:prstGeom prst="rect">
            <a:avLst/>
          </a:prstGeom>
          <a:solidFill>
            <a:srgbClr val="FFFFFF"/>
          </a:solidFill>
          <a:ln w="12700">
            <a:solidFill>
              <a:srgbClr val="C3CCC0"/>
            </a:solidFill>
            <a:prstDash val="solid"/>
          </a:ln>
        </p:spPr>
      </p:sp>
      <p:sp>
        <p:nvSpPr>
          <p:cNvPr id="24" name="Text 22"/>
          <p:cNvSpPr txBox="1"/>
          <p:nvPr/>
        </p:nvSpPr>
        <p:spPr>
          <a:xfrm>
            <a:off x="566928" y="2871216"/>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Typed update</a:t>
            </a:r>
            <a:endParaRPr lang="en-US" sz="1100" dirty="0"/>
          </a:p>
        </p:txBody>
      </p:sp>
      <p:sp>
        <p:nvSpPr>
          <p:cNvPr id="25" name="card-Manager question"/>
          <p:cNvSpPr/>
          <p:nvPr/>
        </p:nvSpPr>
        <p:spPr>
          <a:xfrm>
            <a:off x="502920" y="3218688"/>
            <a:ext cx="2212848" cy="356616"/>
          </a:xfrm>
          <a:prstGeom prst="rect">
            <a:avLst/>
          </a:prstGeom>
          <a:solidFill>
            <a:srgbClr val="FFFFFF"/>
          </a:solidFill>
          <a:ln w="12700">
            <a:solidFill>
              <a:srgbClr val="C3CCC0"/>
            </a:solidFill>
            <a:prstDash val="solid"/>
          </a:ln>
        </p:spPr>
      </p:sp>
      <p:sp>
        <p:nvSpPr>
          <p:cNvPr id="26" name="Text 24"/>
          <p:cNvSpPr txBox="1"/>
          <p:nvPr/>
        </p:nvSpPr>
        <p:spPr>
          <a:xfrm>
            <a:off x="566928" y="3255264"/>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Manager question</a:t>
            </a:r>
            <a:endParaRPr lang="en-US" sz="1100" dirty="0"/>
          </a:p>
        </p:txBody>
      </p:sp>
      <p:sp>
        <p:nvSpPr>
          <p:cNvPr id="27" name="Shape 25"/>
          <p:cNvSpPr/>
          <p:nvPr/>
        </p:nvSpPr>
        <p:spPr>
          <a:xfrm>
            <a:off x="502920" y="3657600"/>
            <a:ext cx="2212848" cy="201168"/>
          </a:xfrm>
          <a:prstGeom prst="rect">
            <a:avLst/>
          </a:prstGeom>
          <a:solidFill>
            <a:srgbClr val="1E4035"/>
          </a:solidFill>
          <a:ln w="12700">
            <a:solidFill>
              <a:srgbClr val="1E4035"/>
            </a:solidFill>
            <a:prstDash val="solid"/>
          </a:ln>
        </p:spPr>
      </p:sp>
      <p:sp>
        <p:nvSpPr>
          <p:cNvPr id="28" name="Text 26"/>
          <p:cNvSpPr txBox="1"/>
          <p:nvPr/>
        </p:nvSpPr>
        <p:spPr>
          <a:xfrm>
            <a:off x="612648" y="3657600"/>
            <a:ext cx="1993392" cy="201168"/>
          </a:xfrm>
          <a:prstGeom prst="rect">
            <a:avLst/>
          </a:prstGeom>
          <a:noFill/>
          <a:ln/>
        </p:spPr>
        <p:txBody>
          <a:bodyPr wrap="square" lIns="0" tIns="0" rIns="0" bIns="0" rtlCol="0" anchor="ctr"/>
          <a:lstStyle/>
          <a:p>
            <a:pPr algn="l" indent="0" marL="0">
              <a:buNone/>
            </a:pPr>
            <a:r>
              <a:rPr lang="en-US" sz="1000" b="1" spc="60" kern="0" dirty="0">
                <a:solidFill>
                  <a:srgbClr val="FFFFFF"/>
                </a:solidFill>
              </a:rPr>
              <a:t>CORPORA</a:t>
            </a:r>
            <a:endParaRPr lang="en-US" sz="1000" dirty="0"/>
          </a:p>
        </p:txBody>
      </p:sp>
      <p:sp>
        <p:nvSpPr>
          <p:cNvPr id="29" name="card-Repair orders · 40"/>
          <p:cNvSpPr/>
          <p:nvPr/>
        </p:nvSpPr>
        <p:spPr>
          <a:xfrm>
            <a:off x="502920" y="3895344"/>
            <a:ext cx="2212848" cy="356616"/>
          </a:xfrm>
          <a:prstGeom prst="rect">
            <a:avLst/>
          </a:prstGeom>
          <a:solidFill>
            <a:srgbClr val="FFFFFF"/>
          </a:solidFill>
          <a:ln w="12700">
            <a:solidFill>
              <a:srgbClr val="C3CCC0"/>
            </a:solidFill>
            <a:prstDash val="solid"/>
          </a:ln>
        </p:spPr>
      </p:sp>
      <p:sp>
        <p:nvSpPr>
          <p:cNvPr id="30" name="Text 28"/>
          <p:cNvSpPr txBox="1"/>
          <p:nvPr/>
        </p:nvSpPr>
        <p:spPr>
          <a:xfrm>
            <a:off x="566928" y="3931920"/>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Repair orders · 400</a:t>
            </a:r>
            <a:endParaRPr lang="en-US" sz="1100" dirty="0"/>
          </a:p>
        </p:txBody>
      </p:sp>
      <p:sp>
        <p:nvSpPr>
          <p:cNvPr id="31" name="card-Shift updates · 1,"/>
          <p:cNvSpPr/>
          <p:nvPr/>
        </p:nvSpPr>
        <p:spPr>
          <a:xfrm>
            <a:off x="502920" y="4279392"/>
            <a:ext cx="2212848" cy="356616"/>
          </a:xfrm>
          <a:prstGeom prst="rect">
            <a:avLst/>
          </a:prstGeom>
          <a:solidFill>
            <a:srgbClr val="FFFFFF"/>
          </a:solidFill>
          <a:ln w="12700">
            <a:solidFill>
              <a:srgbClr val="C3CCC0"/>
            </a:solidFill>
            <a:prstDash val="solid"/>
          </a:ln>
        </p:spPr>
      </p:sp>
      <p:sp>
        <p:nvSpPr>
          <p:cNvPr id="32" name="Text 30"/>
          <p:cNvSpPr txBox="1"/>
          <p:nvPr/>
        </p:nvSpPr>
        <p:spPr>
          <a:xfrm>
            <a:off x="566928" y="4315968"/>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Shift updates · 1,949</a:t>
            </a:r>
            <a:endParaRPr lang="en-US" sz="1100" dirty="0"/>
          </a:p>
        </p:txBody>
      </p:sp>
      <p:sp>
        <p:nvSpPr>
          <p:cNvPr id="33" name="card-Labour op codes · "/>
          <p:cNvSpPr/>
          <p:nvPr/>
        </p:nvSpPr>
        <p:spPr>
          <a:xfrm>
            <a:off x="502920" y="4663440"/>
            <a:ext cx="2212848" cy="356616"/>
          </a:xfrm>
          <a:prstGeom prst="rect">
            <a:avLst/>
          </a:prstGeom>
          <a:solidFill>
            <a:srgbClr val="FFFFFF"/>
          </a:solidFill>
          <a:ln w="12700">
            <a:solidFill>
              <a:srgbClr val="C3CCC0"/>
            </a:solidFill>
            <a:prstDash val="solid"/>
          </a:ln>
        </p:spPr>
      </p:sp>
      <p:sp>
        <p:nvSpPr>
          <p:cNvPr id="34" name="Text 32"/>
          <p:cNvSpPr txBox="1"/>
          <p:nvPr/>
        </p:nvSpPr>
        <p:spPr>
          <a:xfrm>
            <a:off x="566928" y="4700016"/>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Labour op codes · 104</a:t>
            </a:r>
            <a:endParaRPr lang="en-US" sz="1100" dirty="0"/>
          </a:p>
        </p:txBody>
      </p:sp>
      <p:sp>
        <p:nvSpPr>
          <p:cNvPr id="35" name="card-Staff · 50"/>
          <p:cNvSpPr/>
          <p:nvPr/>
        </p:nvSpPr>
        <p:spPr>
          <a:xfrm>
            <a:off x="502920" y="5047488"/>
            <a:ext cx="2212848" cy="356616"/>
          </a:xfrm>
          <a:prstGeom prst="rect">
            <a:avLst/>
          </a:prstGeom>
          <a:solidFill>
            <a:srgbClr val="FFFFFF"/>
          </a:solidFill>
          <a:ln w="12700">
            <a:solidFill>
              <a:srgbClr val="C3CCC0"/>
            </a:solidFill>
            <a:prstDash val="solid"/>
          </a:ln>
        </p:spPr>
      </p:sp>
      <p:sp>
        <p:nvSpPr>
          <p:cNvPr id="36" name="Text 34"/>
          <p:cNvSpPr txBox="1"/>
          <p:nvPr/>
        </p:nvSpPr>
        <p:spPr>
          <a:xfrm>
            <a:off x="566928" y="5084064"/>
            <a:ext cx="208483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Staff · 50</a:t>
            </a:r>
            <a:endParaRPr lang="en-US" sz="1100" dirty="0"/>
          </a:p>
        </p:txBody>
      </p:sp>
      <p:sp>
        <p:nvSpPr>
          <p:cNvPr id="37" name="Shape 35"/>
          <p:cNvSpPr/>
          <p:nvPr/>
        </p:nvSpPr>
        <p:spPr>
          <a:xfrm>
            <a:off x="2862072" y="2212848"/>
            <a:ext cx="5918911" cy="219456"/>
          </a:xfrm>
          <a:prstGeom prst="rect">
            <a:avLst/>
          </a:prstGeom>
          <a:solidFill>
            <a:srgbClr val="14302A"/>
          </a:solidFill>
          <a:ln w="12700">
            <a:solidFill>
              <a:srgbClr val="14302A"/>
            </a:solidFill>
            <a:prstDash val="solid"/>
          </a:ln>
        </p:spPr>
      </p:sp>
      <p:sp>
        <p:nvSpPr>
          <p:cNvPr id="38" name="Text 36"/>
          <p:cNvSpPr txBox="1"/>
          <p:nvPr/>
        </p:nvSpPr>
        <p:spPr>
          <a:xfrm>
            <a:off x="2971800" y="2212848"/>
            <a:ext cx="5699455" cy="219456"/>
          </a:xfrm>
          <a:prstGeom prst="rect">
            <a:avLst/>
          </a:prstGeom>
          <a:noFill/>
          <a:ln/>
        </p:spPr>
        <p:txBody>
          <a:bodyPr wrap="square" lIns="0" tIns="0" rIns="0" bIns="0" rtlCol="0" anchor="ctr"/>
          <a:lstStyle/>
          <a:p>
            <a:pPr algn="ctr" indent="0" marL="0">
              <a:buNone/>
            </a:pPr>
            <a:r>
              <a:rPr lang="en-US" sz="1050" b="1" spc="60" kern="0" dirty="0">
                <a:solidFill>
                  <a:srgbClr val="FFFFFF"/>
                </a:solidFill>
              </a:rPr>
              <a:t>SERVICE OPERATIONS INTELLIGENCE AGENT</a:t>
            </a:r>
            <a:endParaRPr lang="en-US" sz="1050" dirty="0"/>
          </a:p>
        </p:txBody>
      </p:sp>
      <p:sp>
        <p:nvSpPr>
          <p:cNvPr id="39" name="Shape 37"/>
          <p:cNvSpPr/>
          <p:nvPr/>
        </p:nvSpPr>
        <p:spPr>
          <a:xfrm>
            <a:off x="2862072" y="2468880"/>
            <a:ext cx="5918911" cy="182880"/>
          </a:xfrm>
          <a:prstGeom prst="rect">
            <a:avLst/>
          </a:prstGeom>
          <a:solidFill>
            <a:srgbClr val="1E4035"/>
          </a:solidFill>
          <a:ln w="12700">
            <a:solidFill>
              <a:srgbClr val="1E4035"/>
            </a:solidFill>
            <a:prstDash val="solid"/>
          </a:ln>
        </p:spPr>
      </p:sp>
      <p:sp>
        <p:nvSpPr>
          <p:cNvPr id="40" name="Text 38"/>
          <p:cNvSpPr txBox="1"/>
          <p:nvPr/>
        </p:nvSpPr>
        <p:spPr>
          <a:xfrm>
            <a:off x="2971800" y="246888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1 · CAPTURE &amp; UNDERSTANDING</a:t>
            </a:r>
            <a:endParaRPr lang="en-US" sz="1000" dirty="0"/>
          </a:p>
        </p:txBody>
      </p:sp>
      <p:sp>
        <p:nvSpPr>
          <p:cNvPr id="41" name="lane-Riva ASR"/>
          <p:cNvSpPr/>
          <p:nvPr/>
        </p:nvSpPr>
        <p:spPr>
          <a:xfrm>
            <a:off x="2862072" y="2660904"/>
            <a:ext cx="1431722" cy="310896"/>
          </a:xfrm>
          <a:prstGeom prst="rect">
            <a:avLst/>
          </a:prstGeom>
          <a:solidFill>
            <a:srgbClr val="5B8C3A"/>
          </a:solidFill>
          <a:ln w="19050">
            <a:solidFill>
              <a:srgbClr val="446B29"/>
            </a:solidFill>
            <a:prstDash val="solid"/>
          </a:ln>
        </p:spPr>
      </p:sp>
      <p:sp>
        <p:nvSpPr>
          <p:cNvPr id="42" name="Text 40"/>
          <p:cNvSpPr txBox="1"/>
          <p:nvPr/>
        </p:nvSpPr>
        <p:spPr>
          <a:xfrm>
            <a:off x="2907792" y="26609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FFFFFF"/>
                </a:solidFill>
              </a:rPr>
              <a:t>Riva ASR</a:t>
            </a:r>
            <a:endParaRPr lang="en-US" sz="1100" dirty="0"/>
          </a:p>
        </p:txBody>
      </p:sp>
      <p:sp>
        <p:nvSpPr>
          <p:cNvPr id="43" name="lane-Nemotron 8B"/>
          <p:cNvSpPr/>
          <p:nvPr/>
        </p:nvSpPr>
        <p:spPr>
          <a:xfrm>
            <a:off x="4357802" y="2660904"/>
            <a:ext cx="1431722" cy="310896"/>
          </a:xfrm>
          <a:prstGeom prst="rect">
            <a:avLst/>
          </a:prstGeom>
          <a:solidFill>
            <a:srgbClr val="5B8C3A"/>
          </a:solidFill>
          <a:ln w="19050">
            <a:solidFill>
              <a:srgbClr val="446B29"/>
            </a:solidFill>
            <a:prstDash val="solid"/>
          </a:ln>
        </p:spPr>
      </p:sp>
      <p:sp>
        <p:nvSpPr>
          <p:cNvPr id="44" name="Text 42"/>
          <p:cNvSpPr txBox="1"/>
          <p:nvPr/>
        </p:nvSpPr>
        <p:spPr>
          <a:xfrm>
            <a:off x="4403522" y="26609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FFFFFF"/>
                </a:solidFill>
              </a:rPr>
              <a:t>Nemotron 8B</a:t>
            </a:r>
            <a:endParaRPr lang="en-US" sz="1100" dirty="0"/>
          </a:p>
        </p:txBody>
      </p:sp>
      <p:sp>
        <p:nvSpPr>
          <p:cNvPr id="45" name="lane-Entity resolver"/>
          <p:cNvSpPr/>
          <p:nvPr/>
        </p:nvSpPr>
        <p:spPr>
          <a:xfrm>
            <a:off x="5853532" y="2660904"/>
            <a:ext cx="1431722" cy="310896"/>
          </a:xfrm>
          <a:prstGeom prst="rect">
            <a:avLst/>
          </a:prstGeom>
          <a:solidFill>
            <a:srgbClr val="FFFFFF"/>
          </a:solidFill>
          <a:ln w="12700">
            <a:solidFill>
              <a:srgbClr val="C3CCC0"/>
            </a:solidFill>
            <a:prstDash val="solid"/>
          </a:ln>
        </p:spPr>
      </p:sp>
      <p:sp>
        <p:nvSpPr>
          <p:cNvPr id="46" name="Text 44"/>
          <p:cNvSpPr txBox="1"/>
          <p:nvPr/>
        </p:nvSpPr>
        <p:spPr>
          <a:xfrm>
            <a:off x="5899252" y="26609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Entity resolver</a:t>
            </a:r>
            <a:endParaRPr lang="en-US" sz="1100" dirty="0"/>
          </a:p>
        </p:txBody>
      </p:sp>
      <p:sp>
        <p:nvSpPr>
          <p:cNvPr id="47" name="lane-Reconciler"/>
          <p:cNvSpPr/>
          <p:nvPr/>
        </p:nvSpPr>
        <p:spPr>
          <a:xfrm>
            <a:off x="7349261" y="2660904"/>
            <a:ext cx="1431722" cy="310896"/>
          </a:xfrm>
          <a:prstGeom prst="rect">
            <a:avLst/>
          </a:prstGeom>
          <a:solidFill>
            <a:srgbClr val="FFFFFF"/>
          </a:solidFill>
          <a:ln w="12700">
            <a:solidFill>
              <a:srgbClr val="C3CCC0"/>
            </a:solidFill>
            <a:prstDash val="solid"/>
          </a:ln>
        </p:spPr>
      </p:sp>
      <p:sp>
        <p:nvSpPr>
          <p:cNvPr id="48" name="Text 46"/>
          <p:cNvSpPr txBox="1"/>
          <p:nvPr/>
        </p:nvSpPr>
        <p:spPr>
          <a:xfrm>
            <a:off x="7394981" y="26609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Reconciler</a:t>
            </a:r>
            <a:endParaRPr lang="en-US" sz="1100" dirty="0"/>
          </a:p>
        </p:txBody>
      </p:sp>
      <p:sp>
        <p:nvSpPr>
          <p:cNvPr id="49" name="Shape 47"/>
          <p:cNvSpPr/>
          <p:nvPr/>
        </p:nvSpPr>
        <p:spPr>
          <a:xfrm>
            <a:off x="2862072" y="2971800"/>
            <a:ext cx="5918911" cy="182880"/>
          </a:xfrm>
          <a:prstGeom prst="rect">
            <a:avLst/>
          </a:prstGeom>
          <a:solidFill>
            <a:srgbClr val="1E4035"/>
          </a:solidFill>
          <a:ln w="12700">
            <a:solidFill>
              <a:srgbClr val="1E4035"/>
            </a:solidFill>
            <a:prstDash val="solid"/>
          </a:ln>
        </p:spPr>
      </p:sp>
      <p:sp>
        <p:nvSpPr>
          <p:cNvPr id="50" name="Text 48"/>
          <p:cNvSpPr txBox="1"/>
          <p:nvPr/>
        </p:nvSpPr>
        <p:spPr>
          <a:xfrm>
            <a:off x="2971800" y="297180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2 · EVENT LOG &amp; DERIVED STATE</a:t>
            </a:r>
            <a:endParaRPr lang="en-US" sz="1000" dirty="0"/>
          </a:p>
        </p:txBody>
      </p:sp>
      <p:sp>
        <p:nvSpPr>
          <p:cNvPr id="51" name="lane-Event log"/>
          <p:cNvSpPr/>
          <p:nvPr/>
        </p:nvSpPr>
        <p:spPr>
          <a:xfrm>
            <a:off x="2862072" y="3163824"/>
            <a:ext cx="1431722" cy="310896"/>
          </a:xfrm>
          <a:prstGeom prst="rect">
            <a:avLst/>
          </a:prstGeom>
          <a:solidFill>
            <a:srgbClr val="FFFFFF"/>
          </a:solidFill>
          <a:ln w="12700">
            <a:solidFill>
              <a:srgbClr val="C3CCC0"/>
            </a:solidFill>
            <a:prstDash val="solid"/>
          </a:ln>
        </p:spPr>
      </p:sp>
      <p:sp>
        <p:nvSpPr>
          <p:cNvPr id="52" name="Text 50"/>
          <p:cNvSpPr txBox="1"/>
          <p:nvPr/>
        </p:nvSpPr>
        <p:spPr>
          <a:xfrm>
            <a:off x="2907792" y="316382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Event log</a:t>
            </a:r>
            <a:endParaRPr lang="en-US" sz="1100" dirty="0"/>
          </a:p>
        </p:txBody>
      </p:sp>
      <p:sp>
        <p:nvSpPr>
          <p:cNvPr id="53" name="lane-Fold engine"/>
          <p:cNvSpPr/>
          <p:nvPr/>
        </p:nvSpPr>
        <p:spPr>
          <a:xfrm>
            <a:off x="4357802" y="3163824"/>
            <a:ext cx="1431722" cy="310896"/>
          </a:xfrm>
          <a:prstGeom prst="rect">
            <a:avLst/>
          </a:prstGeom>
          <a:solidFill>
            <a:srgbClr val="FFFFFF"/>
          </a:solidFill>
          <a:ln w="12700">
            <a:solidFill>
              <a:srgbClr val="C3CCC0"/>
            </a:solidFill>
            <a:prstDash val="solid"/>
          </a:ln>
        </p:spPr>
      </p:sp>
      <p:sp>
        <p:nvSpPr>
          <p:cNvPr id="54" name="Text 52"/>
          <p:cNvSpPr txBox="1"/>
          <p:nvPr/>
        </p:nvSpPr>
        <p:spPr>
          <a:xfrm>
            <a:off x="4403522" y="316382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Fold engine</a:t>
            </a:r>
            <a:endParaRPr lang="en-US" sz="1100" dirty="0"/>
          </a:p>
        </p:txBody>
      </p:sp>
      <p:sp>
        <p:nvSpPr>
          <p:cNvPr id="55" name="lane-Lifecycle gate"/>
          <p:cNvSpPr/>
          <p:nvPr/>
        </p:nvSpPr>
        <p:spPr>
          <a:xfrm>
            <a:off x="5853532" y="3163824"/>
            <a:ext cx="1431722" cy="310896"/>
          </a:xfrm>
          <a:prstGeom prst="rect">
            <a:avLst/>
          </a:prstGeom>
          <a:solidFill>
            <a:srgbClr val="FFFFFF"/>
          </a:solidFill>
          <a:ln w="12700">
            <a:solidFill>
              <a:srgbClr val="C3CCC0"/>
            </a:solidFill>
            <a:prstDash val="solid"/>
          </a:ln>
        </p:spPr>
      </p:sp>
      <p:sp>
        <p:nvSpPr>
          <p:cNvPr id="56" name="Text 54"/>
          <p:cNvSpPr txBox="1"/>
          <p:nvPr/>
        </p:nvSpPr>
        <p:spPr>
          <a:xfrm>
            <a:off x="5899252" y="316382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Lifecycle gate</a:t>
            </a:r>
            <a:endParaRPr lang="en-US" sz="1100" dirty="0"/>
          </a:p>
        </p:txBody>
      </p:sp>
      <p:sp>
        <p:nvSpPr>
          <p:cNvPr id="57" name="lane-Diff card"/>
          <p:cNvSpPr/>
          <p:nvPr/>
        </p:nvSpPr>
        <p:spPr>
          <a:xfrm>
            <a:off x="7349261" y="3163824"/>
            <a:ext cx="1431722" cy="310896"/>
          </a:xfrm>
          <a:prstGeom prst="rect">
            <a:avLst/>
          </a:prstGeom>
          <a:solidFill>
            <a:srgbClr val="FFFFFF"/>
          </a:solidFill>
          <a:ln w="12700">
            <a:solidFill>
              <a:srgbClr val="C3CCC0"/>
            </a:solidFill>
            <a:prstDash val="solid"/>
          </a:ln>
        </p:spPr>
      </p:sp>
      <p:sp>
        <p:nvSpPr>
          <p:cNvPr id="58" name="Text 56"/>
          <p:cNvSpPr txBox="1"/>
          <p:nvPr/>
        </p:nvSpPr>
        <p:spPr>
          <a:xfrm>
            <a:off x="7394981" y="316382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Diff card</a:t>
            </a:r>
            <a:endParaRPr lang="en-US" sz="1100" dirty="0"/>
          </a:p>
        </p:txBody>
      </p:sp>
      <p:sp>
        <p:nvSpPr>
          <p:cNvPr id="59" name="Shape 57"/>
          <p:cNvSpPr/>
          <p:nvPr/>
        </p:nvSpPr>
        <p:spPr>
          <a:xfrm>
            <a:off x="2862072" y="3474720"/>
            <a:ext cx="5918911" cy="182880"/>
          </a:xfrm>
          <a:prstGeom prst="rect">
            <a:avLst/>
          </a:prstGeom>
          <a:solidFill>
            <a:srgbClr val="1E4035"/>
          </a:solidFill>
          <a:ln w="12700">
            <a:solidFill>
              <a:srgbClr val="1E4035"/>
            </a:solidFill>
            <a:prstDash val="solid"/>
          </a:ln>
        </p:spPr>
      </p:sp>
      <p:sp>
        <p:nvSpPr>
          <p:cNvPr id="60" name="Text 58"/>
          <p:cNvSpPr txBox="1"/>
          <p:nvPr/>
        </p:nvSpPr>
        <p:spPr>
          <a:xfrm>
            <a:off x="2971800" y="347472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3 · PREPARATION &amp; INDEXING</a:t>
            </a:r>
            <a:endParaRPr lang="en-US" sz="1000" dirty="0"/>
          </a:p>
        </p:txBody>
      </p:sp>
      <p:sp>
        <p:nvSpPr>
          <p:cNvPr id="61" name="lane-NeMo Curator"/>
          <p:cNvSpPr/>
          <p:nvPr/>
        </p:nvSpPr>
        <p:spPr>
          <a:xfrm>
            <a:off x="2862072" y="3666744"/>
            <a:ext cx="1431722" cy="310896"/>
          </a:xfrm>
          <a:prstGeom prst="rect">
            <a:avLst/>
          </a:prstGeom>
          <a:solidFill>
            <a:srgbClr val="FFFFFF"/>
          </a:solidFill>
          <a:ln w="22225">
            <a:solidFill>
              <a:srgbClr val="76B900"/>
            </a:solidFill>
            <a:prstDash val="solid"/>
          </a:ln>
        </p:spPr>
      </p:sp>
      <p:sp>
        <p:nvSpPr>
          <p:cNvPr id="62" name="Text 60"/>
          <p:cNvSpPr txBox="1"/>
          <p:nvPr/>
        </p:nvSpPr>
        <p:spPr>
          <a:xfrm>
            <a:off x="2907792" y="366674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NeMo Curator</a:t>
            </a:r>
            <a:endParaRPr lang="en-US" sz="1100" dirty="0"/>
          </a:p>
        </p:txBody>
      </p:sp>
      <p:sp>
        <p:nvSpPr>
          <p:cNvPr id="63" name="lane-NV-EmbedQA E5"/>
          <p:cNvSpPr/>
          <p:nvPr/>
        </p:nvSpPr>
        <p:spPr>
          <a:xfrm>
            <a:off x="4357802" y="3666744"/>
            <a:ext cx="1431722" cy="310896"/>
          </a:xfrm>
          <a:prstGeom prst="rect">
            <a:avLst/>
          </a:prstGeom>
          <a:solidFill>
            <a:srgbClr val="5B8C3A"/>
          </a:solidFill>
          <a:ln w="19050">
            <a:solidFill>
              <a:srgbClr val="446B29"/>
            </a:solidFill>
            <a:prstDash val="solid"/>
          </a:ln>
        </p:spPr>
      </p:sp>
      <p:sp>
        <p:nvSpPr>
          <p:cNvPr id="64" name="Text 62"/>
          <p:cNvSpPr txBox="1"/>
          <p:nvPr/>
        </p:nvSpPr>
        <p:spPr>
          <a:xfrm>
            <a:off x="4403522" y="366674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FFFFFF"/>
                </a:solidFill>
              </a:rPr>
              <a:t>NV-EmbedQA E5</a:t>
            </a:r>
            <a:endParaRPr lang="en-US" sz="1100" dirty="0"/>
          </a:p>
        </p:txBody>
      </p:sp>
      <p:sp>
        <p:nvSpPr>
          <p:cNvPr id="65" name="lane-Milvus upsert"/>
          <p:cNvSpPr/>
          <p:nvPr/>
        </p:nvSpPr>
        <p:spPr>
          <a:xfrm>
            <a:off x="5853532" y="3666744"/>
            <a:ext cx="1431722" cy="310896"/>
          </a:xfrm>
          <a:prstGeom prst="rect">
            <a:avLst/>
          </a:prstGeom>
          <a:solidFill>
            <a:srgbClr val="FFFFFF"/>
          </a:solidFill>
          <a:ln w="12700">
            <a:solidFill>
              <a:srgbClr val="C3CCC0"/>
            </a:solidFill>
            <a:prstDash val="solid"/>
          </a:ln>
        </p:spPr>
      </p:sp>
      <p:sp>
        <p:nvSpPr>
          <p:cNvPr id="66" name="Text 64"/>
          <p:cNvSpPr txBox="1"/>
          <p:nvPr/>
        </p:nvSpPr>
        <p:spPr>
          <a:xfrm>
            <a:off x="5899252" y="366674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Milvus upsert</a:t>
            </a:r>
            <a:endParaRPr lang="en-US" sz="1100" dirty="0"/>
          </a:p>
        </p:txBody>
      </p:sp>
      <p:sp>
        <p:nvSpPr>
          <p:cNvPr id="67" name="lane-Index audit"/>
          <p:cNvSpPr/>
          <p:nvPr/>
        </p:nvSpPr>
        <p:spPr>
          <a:xfrm>
            <a:off x="7349261" y="3666744"/>
            <a:ext cx="1431722" cy="310896"/>
          </a:xfrm>
          <a:prstGeom prst="rect">
            <a:avLst/>
          </a:prstGeom>
          <a:solidFill>
            <a:srgbClr val="FFFFFF"/>
          </a:solidFill>
          <a:ln w="12700">
            <a:solidFill>
              <a:srgbClr val="C3CCC0"/>
            </a:solidFill>
            <a:prstDash val="solid"/>
          </a:ln>
        </p:spPr>
      </p:sp>
      <p:sp>
        <p:nvSpPr>
          <p:cNvPr id="68" name="Text 66"/>
          <p:cNvSpPr txBox="1"/>
          <p:nvPr/>
        </p:nvSpPr>
        <p:spPr>
          <a:xfrm>
            <a:off x="7394981" y="366674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Index audit</a:t>
            </a:r>
            <a:endParaRPr lang="en-US" sz="1100" dirty="0"/>
          </a:p>
        </p:txBody>
      </p:sp>
      <p:sp>
        <p:nvSpPr>
          <p:cNvPr id="69" name="Shape 67"/>
          <p:cNvSpPr/>
          <p:nvPr/>
        </p:nvSpPr>
        <p:spPr>
          <a:xfrm>
            <a:off x="2862072" y="3977640"/>
            <a:ext cx="5918911" cy="182880"/>
          </a:xfrm>
          <a:prstGeom prst="rect">
            <a:avLst/>
          </a:prstGeom>
          <a:solidFill>
            <a:srgbClr val="1E4035"/>
          </a:solidFill>
          <a:ln w="12700">
            <a:solidFill>
              <a:srgbClr val="1E4035"/>
            </a:solidFill>
            <a:prstDash val="solid"/>
          </a:ln>
        </p:spPr>
      </p:sp>
      <p:sp>
        <p:nvSpPr>
          <p:cNvPr id="70" name="Text 68"/>
          <p:cNvSpPr txBox="1"/>
          <p:nvPr/>
        </p:nvSpPr>
        <p:spPr>
          <a:xfrm>
            <a:off x="2971800" y="397764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4 · RETRIEVAL &amp; GROUNDING</a:t>
            </a:r>
            <a:endParaRPr lang="en-US" sz="1000" dirty="0"/>
          </a:p>
        </p:txBody>
      </p:sp>
      <p:sp>
        <p:nvSpPr>
          <p:cNvPr id="71" name="lane-Vector search"/>
          <p:cNvSpPr/>
          <p:nvPr/>
        </p:nvSpPr>
        <p:spPr>
          <a:xfrm>
            <a:off x="2862072" y="4169664"/>
            <a:ext cx="1431722" cy="310896"/>
          </a:xfrm>
          <a:prstGeom prst="rect">
            <a:avLst/>
          </a:prstGeom>
          <a:solidFill>
            <a:srgbClr val="FFFFFF"/>
          </a:solidFill>
          <a:ln w="12700">
            <a:solidFill>
              <a:srgbClr val="C3CCC0"/>
            </a:solidFill>
            <a:prstDash val="solid"/>
          </a:ln>
        </p:spPr>
      </p:sp>
      <p:sp>
        <p:nvSpPr>
          <p:cNvPr id="72" name="Text 70"/>
          <p:cNvSpPr txBox="1"/>
          <p:nvPr/>
        </p:nvSpPr>
        <p:spPr>
          <a:xfrm>
            <a:off x="2907792" y="416966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Vector search</a:t>
            </a:r>
            <a:endParaRPr lang="en-US" sz="1100" dirty="0"/>
          </a:p>
        </p:txBody>
      </p:sp>
      <p:sp>
        <p:nvSpPr>
          <p:cNvPr id="73" name="lane-NV-RerankQA 4B"/>
          <p:cNvSpPr/>
          <p:nvPr/>
        </p:nvSpPr>
        <p:spPr>
          <a:xfrm>
            <a:off x="4357802" y="4169664"/>
            <a:ext cx="1431722" cy="310896"/>
          </a:xfrm>
          <a:prstGeom prst="rect">
            <a:avLst/>
          </a:prstGeom>
          <a:solidFill>
            <a:srgbClr val="5B8C3A"/>
          </a:solidFill>
          <a:ln w="19050">
            <a:solidFill>
              <a:srgbClr val="446B29"/>
            </a:solidFill>
            <a:prstDash val="solid"/>
          </a:ln>
        </p:spPr>
      </p:sp>
      <p:sp>
        <p:nvSpPr>
          <p:cNvPr id="74" name="Text 72"/>
          <p:cNvSpPr txBox="1"/>
          <p:nvPr/>
        </p:nvSpPr>
        <p:spPr>
          <a:xfrm>
            <a:off x="4403522" y="416966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FFFFFF"/>
                </a:solidFill>
              </a:rPr>
              <a:t>NV-RerankQA 4B</a:t>
            </a:r>
            <a:endParaRPr lang="en-US" sz="1100" dirty="0"/>
          </a:p>
        </p:txBody>
      </p:sp>
      <p:sp>
        <p:nvSpPr>
          <p:cNvPr id="75" name="lane-Context assembly"/>
          <p:cNvSpPr/>
          <p:nvPr/>
        </p:nvSpPr>
        <p:spPr>
          <a:xfrm>
            <a:off x="5853532" y="4169664"/>
            <a:ext cx="1431722" cy="310896"/>
          </a:xfrm>
          <a:prstGeom prst="rect">
            <a:avLst/>
          </a:prstGeom>
          <a:solidFill>
            <a:srgbClr val="FFFFFF"/>
          </a:solidFill>
          <a:ln w="12700">
            <a:solidFill>
              <a:srgbClr val="C3CCC0"/>
            </a:solidFill>
            <a:prstDash val="solid"/>
          </a:ln>
        </p:spPr>
      </p:sp>
      <p:sp>
        <p:nvSpPr>
          <p:cNvPr id="76" name="Text 74"/>
          <p:cNvSpPr txBox="1"/>
          <p:nvPr/>
        </p:nvSpPr>
        <p:spPr>
          <a:xfrm>
            <a:off x="5899252" y="416966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Context assembly</a:t>
            </a:r>
            <a:endParaRPr lang="en-US" sz="1100" dirty="0"/>
          </a:p>
        </p:txBody>
      </p:sp>
      <p:sp>
        <p:nvSpPr>
          <p:cNvPr id="77" name="lane-Citations"/>
          <p:cNvSpPr/>
          <p:nvPr/>
        </p:nvSpPr>
        <p:spPr>
          <a:xfrm>
            <a:off x="7349261" y="4169664"/>
            <a:ext cx="1431722" cy="310896"/>
          </a:xfrm>
          <a:prstGeom prst="rect">
            <a:avLst/>
          </a:prstGeom>
          <a:solidFill>
            <a:srgbClr val="FFFFFF"/>
          </a:solidFill>
          <a:ln w="12700">
            <a:solidFill>
              <a:srgbClr val="C3CCC0"/>
            </a:solidFill>
            <a:prstDash val="solid"/>
          </a:ln>
        </p:spPr>
      </p:sp>
      <p:sp>
        <p:nvSpPr>
          <p:cNvPr id="78" name="Text 76"/>
          <p:cNvSpPr txBox="1"/>
          <p:nvPr/>
        </p:nvSpPr>
        <p:spPr>
          <a:xfrm>
            <a:off x="7394981" y="416966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Citations</a:t>
            </a:r>
            <a:endParaRPr lang="en-US" sz="1100" dirty="0"/>
          </a:p>
        </p:txBody>
      </p:sp>
      <p:sp>
        <p:nvSpPr>
          <p:cNvPr id="79" name="Shape 77"/>
          <p:cNvSpPr/>
          <p:nvPr/>
        </p:nvSpPr>
        <p:spPr>
          <a:xfrm>
            <a:off x="2862072" y="4480560"/>
            <a:ext cx="5918911" cy="182880"/>
          </a:xfrm>
          <a:prstGeom prst="rect">
            <a:avLst/>
          </a:prstGeom>
          <a:solidFill>
            <a:srgbClr val="1E4035"/>
          </a:solidFill>
          <a:ln w="12700">
            <a:solidFill>
              <a:srgbClr val="1E4035"/>
            </a:solidFill>
            <a:prstDash val="solid"/>
          </a:ln>
        </p:spPr>
      </p:sp>
      <p:sp>
        <p:nvSpPr>
          <p:cNvPr id="80" name="Text 78"/>
          <p:cNvSpPr txBox="1"/>
          <p:nvPr/>
        </p:nvSpPr>
        <p:spPr>
          <a:xfrm>
            <a:off x="2971800" y="448056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5 · REASONING &amp; ANSWERING</a:t>
            </a:r>
            <a:endParaRPr lang="en-US" sz="1000" dirty="0"/>
          </a:p>
        </p:txBody>
      </p:sp>
      <p:sp>
        <p:nvSpPr>
          <p:cNvPr id="81" name="lane-Query planner"/>
          <p:cNvSpPr/>
          <p:nvPr/>
        </p:nvSpPr>
        <p:spPr>
          <a:xfrm>
            <a:off x="2862072" y="4672584"/>
            <a:ext cx="1431722" cy="310896"/>
          </a:xfrm>
          <a:prstGeom prst="rect">
            <a:avLst/>
          </a:prstGeom>
          <a:solidFill>
            <a:srgbClr val="FFFFFF"/>
          </a:solidFill>
          <a:ln w="12700">
            <a:solidFill>
              <a:srgbClr val="C3CCC0"/>
            </a:solidFill>
            <a:prstDash val="solid"/>
          </a:ln>
        </p:spPr>
      </p:sp>
      <p:sp>
        <p:nvSpPr>
          <p:cNvPr id="82" name="Text 80"/>
          <p:cNvSpPr txBox="1"/>
          <p:nvPr/>
        </p:nvSpPr>
        <p:spPr>
          <a:xfrm>
            <a:off x="2907792" y="467258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Query planner</a:t>
            </a:r>
            <a:endParaRPr lang="en-US" sz="1100" dirty="0"/>
          </a:p>
        </p:txBody>
      </p:sp>
      <p:sp>
        <p:nvSpPr>
          <p:cNvPr id="83" name="lane-Switchyard"/>
          <p:cNvSpPr/>
          <p:nvPr/>
        </p:nvSpPr>
        <p:spPr>
          <a:xfrm>
            <a:off x="4357802" y="4672584"/>
            <a:ext cx="1431722" cy="310896"/>
          </a:xfrm>
          <a:prstGeom prst="rect">
            <a:avLst/>
          </a:prstGeom>
          <a:solidFill>
            <a:srgbClr val="FFFFFF"/>
          </a:solidFill>
          <a:ln w="22225">
            <a:solidFill>
              <a:srgbClr val="76B900"/>
            </a:solidFill>
            <a:prstDash val="solid"/>
          </a:ln>
        </p:spPr>
      </p:sp>
      <p:sp>
        <p:nvSpPr>
          <p:cNvPr id="84" name="Text 82"/>
          <p:cNvSpPr txBox="1"/>
          <p:nvPr/>
        </p:nvSpPr>
        <p:spPr>
          <a:xfrm>
            <a:off x="4403522" y="467258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Switchyard</a:t>
            </a:r>
            <a:endParaRPr lang="en-US" sz="1100" dirty="0"/>
          </a:p>
        </p:txBody>
      </p:sp>
      <p:sp>
        <p:nvSpPr>
          <p:cNvPr id="85" name="lane-11 typed tools"/>
          <p:cNvSpPr/>
          <p:nvPr/>
        </p:nvSpPr>
        <p:spPr>
          <a:xfrm>
            <a:off x="5853532" y="4672584"/>
            <a:ext cx="1431722" cy="310896"/>
          </a:xfrm>
          <a:prstGeom prst="rect">
            <a:avLst/>
          </a:prstGeom>
          <a:solidFill>
            <a:srgbClr val="FFFFFF"/>
          </a:solidFill>
          <a:ln w="12700">
            <a:solidFill>
              <a:srgbClr val="C3CCC0"/>
            </a:solidFill>
            <a:prstDash val="solid"/>
          </a:ln>
        </p:spPr>
      </p:sp>
      <p:sp>
        <p:nvSpPr>
          <p:cNvPr id="86" name="Text 84"/>
          <p:cNvSpPr txBox="1"/>
          <p:nvPr/>
        </p:nvSpPr>
        <p:spPr>
          <a:xfrm>
            <a:off x="5899252" y="467258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11 typed tools</a:t>
            </a:r>
            <a:endParaRPr lang="en-US" sz="1100" dirty="0"/>
          </a:p>
        </p:txBody>
      </p:sp>
      <p:sp>
        <p:nvSpPr>
          <p:cNvPr id="87" name="lane-Narration"/>
          <p:cNvSpPr/>
          <p:nvPr/>
        </p:nvSpPr>
        <p:spPr>
          <a:xfrm>
            <a:off x="7349261" y="4672584"/>
            <a:ext cx="1431722" cy="310896"/>
          </a:xfrm>
          <a:prstGeom prst="rect">
            <a:avLst/>
          </a:prstGeom>
          <a:solidFill>
            <a:srgbClr val="5B8C3A"/>
          </a:solidFill>
          <a:ln w="19050">
            <a:solidFill>
              <a:srgbClr val="446B29"/>
            </a:solidFill>
            <a:prstDash val="solid"/>
          </a:ln>
        </p:spPr>
      </p:sp>
      <p:sp>
        <p:nvSpPr>
          <p:cNvPr id="88" name="Text 86"/>
          <p:cNvSpPr txBox="1"/>
          <p:nvPr/>
        </p:nvSpPr>
        <p:spPr>
          <a:xfrm>
            <a:off x="7394981" y="467258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FFFFFF"/>
                </a:solidFill>
              </a:rPr>
              <a:t>Narration</a:t>
            </a:r>
            <a:endParaRPr lang="en-US" sz="1100" dirty="0"/>
          </a:p>
        </p:txBody>
      </p:sp>
      <p:sp>
        <p:nvSpPr>
          <p:cNvPr id="89" name="Shape 87"/>
          <p:cNvSpPr/>
          <p:nvPr/>
        </p:nvSpPr>
        <p:spPr>
          <a:xfrm>
            <a:off x="2862072" y="4983480"/>
            <a:ext cx="5918911" cy="182880"/>
          </a:xfrm>
          <a:prstGeom prst="rect">
            <a:avLst/>
          </a:prstGeom>
          <a:solidFill>
            <a:srgbClr val="1E4035"/>
          </a:solidFill>
          <a:ln w="12700">
            <a:solidFill>
              <a:srgbClr val="1E4035"/>
            </a:solidFill>
            <a:prstDash val="solid"/>
          </a:ln>
        </p:spPr>
      </p:sp>
      <p:sp>
        <p:nvSpPr>
          <p:cNvPr id="90" name="Text 88"/>
          <p:cNvSpPr txBox="1"/>
          <p:nvPr/>
        </p:nvSpPr>
        <p:spPr>
          <a:xfrm>
            <a:off x="2971800" y="4983480"/>
            <a:ext cx="5699455" cy="182880"/>
          </a:xfrm>
          <a:prstGeom prst="rect">
            <a:avLst/>
          </a:prstGeom>
          <a:noFill/>
          <a:ln/>
        </p:spPr>
        <p:txBody>
          <a:bodyPr wrap="square" lIns="0" tIns="0" rIns="0" bIns="0" rtlCol="0" anchor="ctr"/>
          <a:lstStyle/>
          <a:p>
            <a:pPr algn="l" indent="0" marL="0">
              <a:buNone/>
            </a:pPr>
            <a:r>
              <a:rPr lang="en-US" sz="1000" b="1" spc="60" kern="0" dirty="0">
                <a:solidFill>
                  <a:srgbClr val="FFFFFF"/>
                </a:solidFill>
              </a:rPr>
              <a:t>6 · GUARDRAILS &amp; VERIFICATION</a:t>
            </a:r>
            <a:endParaRPr lang="en-US" sz="1000" dirty="0"/>
          </a:p>
        </p:txBody>
      </p:sp>
      <p:sp>
        <p:nvSpPr>
          <p:cNvPr id="91" name="lane-NeMo Guardrails"/>
          <p:cNvSpPr/>
          <p:nvPr/>
        </p:nvSpPr>
        <p:spPr>
          <a:xfrm>
            <a:off x="2862072" y="5175504"/>
            <a:ext cx="1431722" cy="310896"/>
          </a:xfrm>
          <a:prstGeom prst="rect">
            <a:avLst/>
          </a:prstGeom>
          <a:solidFill>
            <a:srgbClr val="FFFFFF"/>
          </a:solidFill>
          <a:ln w="22225">
            <a:solidFill>
              <a:srgbClr val="76B900"/>
            </a:solidFill>
            <a:prstDash val="solid"/>
          </a:ln>
        </p:spPr>
      </p:sp>
      <p:sp>
        <p:nvSpPr>
          <p:cNvPr id="92" name="Text 90"/>
          <p:cNvSpPr txBox="1"/>
          <p:nvPr/>
        </p:nvSpPr>
        <p:spPr>
          <a:xfrm>
            <a:off x="2907792" y="51755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NeMo Guardrails</a:t>
            </a:r>
            <a:endParaRPr lang="en-US" sz="1100" dirty="0"/>
          </a:p>
        </p:txBody>
      </p:sp>
      <p:sp>
        <p:nvSpPr>
          <p:cNvPr id="93" name="lane-Injection rail"/>
          <p:cNvSpPr/>
          <p:nvPr/>
        </p:nvSpPr>
        <p:spPr>
          <a:xfrm>
            <a:off x="4357802" y="5175504"/>
            <a:ext cx="1431722" cy="310896"/>
          </a:xfrm>
          <a:prstGeom prst="rect">
            <a:avLst/>
          </a:prstGeom>
          <a:solidFill>
            <a:srgbClr val="FFFFFF"/>
          </a:solidFill>
          <a:ln w="12700">
            <a:solidFill>
              <a:srgbClr val="C3CCC0"/>
            </a:solidFill>
            <a:prstDash val="solid"/>
          </a:ln>
        </p:spPr>
      </p:sp>
      <p:sp>
        <p:nvSpPr>
          <p:cNvPr id="94" name="Text 92"/>
          <p:cNvSpPr txBox="1"/>
          <p:nvPr/>
        </p:nvSpPr>
        <p:spPr>
          <a:xfrm>
            <a:off x="4403522" y="51755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Injection rail</a:t>
            </a:r>
            <a:endParaRPr lang="en-US" sz="1100" dirty="0"/>
          </a:p>
        </p:txBody>
      </p:sp>
      <p:sp>
        <p:nvSpPr>
          <p:cNvPr id="95" name="lane-Grounding rail"/>
          <p:cNvSpPr/>
          <p:nvPr/>
        </p:nvSpPr>
        <p:spPr>
          <a:xfrm>
            <a:off x="5853532" y="5175504"/>
            <a:ext cx="1431722" cy="310896"/>
          </a:xfrm>
          <a:prstGeom prst="rect">
            <a:avLst/>
          </a:prstGeom>
          <a:solidFill>
            <a:srgbClr val="FFFFFF"/>
          </a:solidFill>
          <a:ln w="12700">
            <a:solidFill>
              <a:srgbClr val="C3CCC0"/>
            </a:solidFill>
            <a:prstDash val="solid"/>
          </a:ln>
        </p:spPr>
      </p:sp>
      <p:sp>
        <p:nvSpPr>
          <p:cNvPr id="96" name="Text 94"/>
          <p:cNvSpPr txBox="1"/>
          <p:nvPr/>
        </p:nvSpPr>
        <p:spPr>
          <a:xfrm>
            <a:off x="5899252" y="51755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Grounding rail</a:t>
            </a:r>
            <a:endParaRPr lang="en-US" sz="1100" dirty="0"/>
          </a:p>
        </p:txBody>
      </p:sp>
      <p:sp>
        <p:nvSpPr>
          <p:cNvPr id="97" name="lane-Release claim"/>
          <p:cNvSpPr/>
          <p:nvPr/>
        </p:nvSpPr>
        <p:spPr>
          <a:xfrm>
            <a:off x="7349261" y="5175504"/>
            <a:ext cx="1431722" cy="310896"/>
          </a:xfrm>
          <a:prstGeom prst="rect">
            <a:avLst/>
          </a:prstGeom>
          <a:solidFill>
            <a:srgbClr val="FFFFFF"/>
          </a:solidFill>
          <a:ln w="12700">
            <a:solidFill>
              <a:srgbClr val="C3CCC0"/>
            </a:solidFill>
            <a:prstDash val="solid"/>
          </a:ln>
        </p:spPr>
      </p:sp>
      <p:sp>
        <p:nvSpPr>
          <p:cNvPr id="98" name="Text 96"/>
          <p:cNvSpPr txBox="1"/>
          <p:nvPr/>
        </p:nvSpPr>
        <p:spPr>
          <a:xfrm>
            <a:off x="7394981" y="5175504"/>
            <a:ext cx="1340282" cy="310896"/>
          </a:xfrm>
          <a:prstGeom prst="rect">
            <a:avLst/>
          </a:prstGeom>
          <a:noFill/>
          <a:ln/>
        </p:spPr>
        <p:txBody>
          <a:bodyPr wrap="square" lIns="0" tIns="0" rIns="0" bIns="0" rtlCol="0" anchor="ctr"/>
          <a:lstStyle/>
          <a:p>
            <a:pPr algn="ctr" indent="0" marL="0">
              <a:lnSpc>
                <a:spcPct val="88000"/>
              </a:lnSpc>
              <a:buNone/>
            </a:pPr>
            <a:r>
              <a:rPr lang="en-US" sz="1100" b="1" dirty="0">
                <a:solidFill>
                  <a:srgbClr val="14302A"/>
                </a:solidFill>
              </a:rPr>
              <a:t>Release claim</a:t>
            </a:r>
            <a:endParaRPr lang="en-US" sz="1100" dirty="0"/>
          </a:p>
        </p:txBody>
      </p:sp>
      <p:sp>
        <p:nvSpPr>
          <p:cNvPr id="99" name="Shape 97"/>
          <p:cNvSpPr/>
          <p:nvPr/>
        </p:nvSpPr>
        <p:spPr>
          <a:xfrm>
            <a:off x="2734056" y="3364992"/>
            <a:ext cx="109728" cy="146304"/>
          </a:xfrm>
          <a:prstGeom prst="rightArrow">
            <a:avLst/>
          </a:prstGeom>
          <a:solidFill>
            <a:srgbClr val="76B900"/>
          </a:solidFill>
          <a:ln w="12700">
            <a:solidFill>
              <a:srgbClr val="76B900"/>
            </a:solidFill>
            <a:prstDash val="solid"/>
          </a:ln>
        </p:spPr>
      </p:sp>
      <p:sp>
        <p:nvSpPr>
          <p:cNvPr id="100" name="Shape 98"/>
          <p:cNvSpPr/>
          <p:nvPr/>
        </p:nvSpPr>
        <p:spPr>
          <a:xfrm>
            <a:off x="8799271" y="3364992"/>
            <a:ext cx="109728" cy="146304"/>
          </a:xfrm>
          <a:prstGeom prst="rightArrow">
            <a:avLst/>
          </a:prstGeom>
          <a:solidFill>
            <a:srgbClr val="76B900"/>
          </a:solidFill>
          <a:ln w="12700">
            <a:solidFill>
              <a:srgbClr val="76B900"/>
            </a:solidFill>
            <a:prstDash val="solid"/>
          </a:ln>
        </p:spPr>
      </p:sp>
      <p:sp>
        <p:nvSpPr>
          <p:cNvPr id="101" name="Shape 99"/>
          <p:cNvSpPr/>
          <p:nvPr/>
        </p:nvSpPr>
        <p:spPr>
          <a:xfrm>
            <a:off x="8927287" y="2212848"/>
            <a:ext cx="2761488" cy="201168"/>
          </a:xfrm>
          <a:prstGeom prst="rect">
            <a:avLst/>
          </a:prstGeom>
          <a:solidFill>
            <a:srgbClr val="1E4035"/>
          </a:solidFill>
          <a:ln w="12700">
            <a:solidFill>
              <a:srgbClr val="1E4035"/>
            </a:solidFill>
            <a:prstDash val="solid"/>
          </a:ln>
        </p:spPr>
      </p:sp>
      <p:sp>
        <p:nvSpPr>
          <p:cNvPr id="102" name="Text 100"/>
          <p:cNvSpPr txBox="1"/>
          <p:nvPr/>
        </p:nvSpPr>
        <p:spPr>
          <a:xfrm>
            <a:off x="9037015" y="2212848"/>
            <a:ext cx="2542032" cy="201168"/>
          </a:xfrm>
          <a:prstGeom prst="rect">
            <a:avLst/>
          </a:prstGeom>
          <a:noFill/>
          <a:ln/>
        </p:spPr>
        <p:txBody>
          <a:bodyPr wrap="square" lIns="0" tIns="0" rIns="0" bIns="0" rtlCol="0" anchor="ctr"/>
          <a:lstStyle/>
          <a:p>
            <a:pPr algn="l" indent="0" marL="0">
              <a:buNone/>
            </a:pPr>
            <a:r>
              <a:rPr lang="en-US" sz="1000" b="1" spc="60" kern="0" dirty="0">
                <a:solidFill>
                  <a:srgbClr val="FFFFFF"/>
                </a:solidFill>
              </a:rPr>
              <a:t>EXPERIENCE</a:t>
            </a:r>
            <a:endParaRPr lang="en-US" sz="1000" dirty="0"/>
          </a:p>
        </p:txBody>
      </p:sp>
      <p:sp>
        <p:nvSpPr>
          <p:cNvPr id="103" name="card-Operations console"/>
          <p:cNvSpPr/>
          <p:nvPr/>
        </p:nvSpPr>
        <p:spPr>
          <a:xfrm>
            <a:off x="8927287" y="2450592"/>
            <a:ext cx="2761488" cy="356616"/>
          </a:xfrm>
          <a:prstGeom prst="rect">
            <a:avLst/>
          </a:prstGeom>
          <a:solidFill>
            <a:srgbClr val="FFFFFF"/>
          </a:solidFill>
          <a:ln w="12700">
            <a:solidFill>
              <a:srgbClr val="C3CCC0"/>
            </a:solidFill>
            <a:prstDash val="solid"/>
          </a:ln>
        </p:spPr>
      </p:sp>
      <p:sp>
        <p:nvSpPr>
          <p:cNvPr id="104" name="Text 102"/>
          <p:cNvSpPr txBox="1"/>
          <p:nvPr/>
        </p:nvSpPr>
        <p:spPr>
          <a:xfrm>
            <a:off x="8991295" y="2487168"/>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Operations console · 6 tabs</a:t>
            </a:r>
            <a:endParaRPr lang="en-US" sz="1100" dirty="0"/>
          </a:p>
        </p:txBody>
      </p:sp>
      <p:sp>
        <p:nvSpPr>
          <p:cNvPr id="105" name="card-Review workbench ·"/>
          <p:cNvSpPr/>
          <p:nvPr/>
        </p:nvSpPr>
        <p:spPr>
          <a:xfrm>
            <a:off x="8927287" y="2834640"/>
            <a:ext cx="2761488" cy="356616"/>
          </a:xfrm>
          <a:prstGeom prst="rect">
            <a:avLst/>
          </a:prstGeom>
          <a:solidFill>
            <a:srgbClr val="FFFFFF"/>
          </a:solidFill>
          <a:ln w="12700">
            <a:solidFill>
              <a:srgbClr val="C3CCC0"/>
            </a:solidFill>
            <a:prstDash val="solid"/>
          </a:ln>
        </p:spPr>
      </p:sp>
      <p:sp>
        <p:nvSpPr>
          <p:cNvPr id="106" name="Text 104"/>
          <p:cNvSpPr txBox="1"/>
          <p:nvPr/>
        </p:nvSpPr>
        <p:spPr>
          <a:xfrm>
            <a:off x="8991295" y="2871216"/>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Review workbench · 7 panes</a:t>
            </a:r>
            <a:endParaRPr lang="en-US" sz="1100" dirty="0"/>
          </a:p>
        </p:txBody>
      </p:sp>
      <p:sp>
        <p:nvSpPr>
          <p:cNvPr id="107" name="card-HTTP API · 27 rout"/>
          <p:cNvSpPr/>
          <p:nvPr/>
        </p:nvSpPr>
        <p:spPr>
          <a:xfrm>
            <a:off x="8927287" y="3218688"/>
            <a:ext cx="2761488" cy="356616"/>
          </a:xfrm>
          <a:prstGeom prst="rect">
            <a:avLst/>
          </a:prstGeom>
          <a:solidFill>
            <a:srgbClr val="FFFFFF"/>
          </a:solidFill>
          <a:ln w="12700">
            <a:solidFill>
              <a:srgbClr val="C3CCC0"/>
            </a:solidFill>
            <a:prstDash val="solid"/>
          </a:ln>
        </p:spPr>
      </p:sp>
      <p:sp>
        <p:nvSpPr>
          <p:cNvPr id="108" name="Text 106"/>
          <p:cNvSpPr txBox="1"/>
          <p:nvPr/>
        </p:nvSpPr>
        <p:spPr>
          <a:xfrm>
            <a:off x="8991295" y="3255264"/>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HTTP API · 27 routes</a:t>
            </a:r>
            <a:endParaRPr lang="en-US" sz="1100" dirty="0"/>
          </a:p>
        </p:txBody>
      </p:sp>
      <p:sp>
        <p:nvSpPr>
          <p:cNvPr id="109" name="Shape 107"/>
          <p:cNvSpPr/>
          <p:nvPr/>
        </p:nvSpPr>
        <p:spPr>
          <a:xfrm>
            <a:off x="8927287" y="3657600"/>
            <a:ext cx="2761488" cy="201168"/>
          </a:xfrm>
          <a:prstGeom prst="rect">
            <a:avLst/>
          </a:prstGeom>
          <a:solidFill>
            <a:srgbClr val="1E4035"/>
          </a:solidFill>
          <a:ln w="12700">
            <a:solidFill>
              <a:srgbClr val="1E4035"/>
            </a:solidFill>
            <a:prstDash val="solid"/>
          </a:ln>
        </p:spPr>
      </p:sp>
      <p:sp>
        <p:nvSpPr>
          <p:cNvPr id="110" name="Text 108"/>
          <p:cNvSpPr txBox="1"/>
          <p:nvPr/>
        </p:nvSpPr>
        <p:spPr>
          <a:xfrm>
            <a:off x="9037015" y="3657600"/>
            <a:ext cx="2542032" cy="201168"/>
          </a:xfrm>
          <a:prstGeom prst="rect">
            <a:avLst/>
          </a:prstGeom>
          <a:noFill/>
          <a:ln/>
        </p:spPr>
        <p:txBody>
          <a:bodyPr wrap="square" lIns="0" tIns="0" rIns="0" bIns="0" rtlCol="0" anchor="ctr"/>
          <a:lstStyle/>
          <a:p>
            <a:pPr algn="l" indent="0" marL="0">
              <a:buNone/>
            </a:pPr>
            <a:r>
              <a:rPr lang="en-US" sz="1000" b="1" spc="60" kern="0" dirty="0">
                <a:solidFill>
                  <a:srgbClr val="FFFFFF"/>
                </a:solidFill>
              </a:rPr>
              <a:t>OBSERVABILITY</a:t>
            </a:r>
            <a:endParaRPr lang="en-US" sz="1000" dirty="0"/>
          </a:p>
        </p:txBody>
      </p:sp>
      <p:sp>
        <p:nvSpPr>
          <p:cNvPr id="111" name="card-NVIDIA DCGM · 19 s"/>
          <p:cNvSpPr/>
          <p:nvPr/>
        </p:nvSpPr>
        <p:spPr>
          <a:xfrm>
            <a:off x="8927287" y="3895344"/>
            <a:ext cx="2761488" cy="356616"/>
          </a:xfrm>
          <a:prstGeom prst="rect">
            <a:avLst/>
          </a:prstGeom>
          <a:solidFill>
            <a:srgbClr val="5B8C3A"/>
          </a:solidFill>
          <a:ln w="19050">
            <a:solidFill>
              <a:srgbClr val="446B29"/>
            </a:solidFill>
            <a:prstDash val="solid"/>
          </a:ln>
        </p:spPr>
      </p:sp>
      <p:sp>
        <p:nvSpPr>
          <p:cNvPr id="112" name="Text 110"/>
          <p:cNvSpPr txBox="1"/>
          <p:nvPr/>
        </p:nvSpPr>
        <p:spPr>
          <a:xfrm>
            <a:off x="8991295" y="3931920"/>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rPr>
              <a:t>NVIDIA DCGM · 19 series</a:t>
            </a:r>
            <a:endParaRPr lang="en-US" sz="1100" dirty="0"/>
          </a:p>
        </p:txBody>
      </p:sp>
      <p:sp>
        <p:nvSpPr>
          <p:cNvPr id="113" name="card-Prometheus · 13 se"/>
          <p:cNvSpPr/>
          <p:nvPr/>
        </p:nvSpPr>
        <p:spPr>
          <a:xfrm>
            <a:off x="8927287" y="4279392"/>
            <a:ext cx="2761488" cy="356616"/>
          </a:xfrm>
          <a:prstGeom prst="rect">
            <a:avLst/>
          </a:prstGeom>
          <a:solidFill>
            <a:srgbClr val="FFFFFF"/>
          </a:solidFill>
          <a:ln w="12700">
            <a:solidFill>
              <a:srgbClr val="C3CCC0"/>
            </a:solidFill>
            <a:prstDash val="solid"/>
          </a:ln>
        </p:spPr>
      </p:sp>
      <p:sp>
        <p:nvSpPr>
          <p:cNvPr id="114" name="Text 112"/>
          <p:cNvSpPr txBox="1"/>
          <p:nvPr/>
        </p:nvSpPr>
        <p:spPr>
          <a:xfrm>
            <a:off x="8991295" y="4315968"/>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Prometheus · 13 series</a:t>
            </a:r>
            <a:endParaRPr lang="en-US" sz="1100" dirty="0"/>
          </a:p>
        </p:txBody>
      </p:sp>
      <p:sp>
        <p:nvSpPr>
          <p:cNvPr id="115" name="card-Grafana · 11 panel"/>
          <p:cNvSpPr/>
          <p:nvPr/>
        </p:nvSpPr>
        <p:spPr>
          <a:xfrm>
            <a:off x="8927287" y="4663440"/>
            <a:ext cx="2761488" cy="356616"/>
          </a:xfrm>
          <a:prstGeom prst="rect">
            <a:avLst/>
          </a:prstGeom>
          <a:solidFill>
            <a:srgbClr val="FFFFFF"/>
          </a:solidFill>
          <a:ln w="12700">
            <a:solidFill>
              <a:srgbClr val="C3CCC0"/>
            </a:solidFill>
            <a:prstDash val="solid"/>
          </a:ln>
        </p:spPr>
      </p:sp>
      <p:sp>
        <p:nvSpPr>
          <p:cNvPr id="116" name="Text 114"/>
          <p:cNvSpPr txBox="1"/>
          <p:nvPr/>
        </p:nvSpPr>
        <p:spPr>
          <a:xfrm>
            <a:off x="8991295" y="4700016"/>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Grafana · 11 panels</a:t>
            </a:r>
            <a:endParaRPr lang="en-US" sz="1100" dirty="0"/>
          </a:p>
        </p:txBody>
      </p:sp>
      <p:sp>
        <p:nvSpPr>
          <p:cNvPr id="117" name="card-Attu and sqlite-we"/>
          <p:cNvSpPr/>
          <p:nvPr/>
        </p:nvSpPr>
        <p:spPr>
          <a:xfrm>
            <a:off x="8927287" y="5047488"/>
            <a:ext cx="2761488" cy="356616"/>
          </a:xfrm>
          <a:prstGeom prst="rect">
            <a:avLst/>
          </a:prstGeom>
          <a:solidFill>
            <a:srgbClr val="FFFFFF"/>
          </a:solidFill>
          <a:ln w="12700">
            <a:solidFill>
              <a:srgbClr val="C3CCC0"/>
            </a:solidFill>
            <a:prstDash val="solid"/>
          </a:ln>
        </p:spPr>
      </p:sp>
      <p:sp>
        <p:nvSpPr>
          <p:cNvPr id="118" name="Text 116"/>
          <p:cNvSpPr txBox="1"/>
          <p:nvPr/>
        </p:nvSpPr>
        <p:spPr>
          <a:xfrm>
            <a:off x="8991295" y="5084064"/>
            <a:ext cx="2633472" cy="283464"/>
          </a:xfrm>
          <a:prstGeom prst="rect">
            <a:avLst/>
          </a:prstGeom>
          <a:noFill/>
          <a:ln/>
        </p:spPr>
        <p:txBody>
          <a:bodyPr wrap="square" lIns="0" tIns="0" rIns="0" bIns="0" rtlCol="0" anchor="ctr"/>
          <a:lstStyle/>
          <a:p>
            <a:pPr algn="l" indent="0" marL="0">
              <a:lnSpc>
                <a:spcPct val="92000"/>
              </a:lnSpc>
              <a:buNone/>
            </a:pPr>
            <a:r>
              <a:rPr lang="en-US" sz="1100" b="1" dirty="0">
                <a:solidFill>
                  <a:srgbClr val="14302A"/>
                </a:solidFill>
              </a:rPr>
              <a:t>Attu and sqlite-web</a:t>
            </a:r>
            <a:endParaRPr lang="en-US" sz="1100" dirty="0"/>
          </a:p>
        </p:txBody>
      </p:sp>
      <p:sp>
        <p:nvSpPr>
          <p:cNvPr id="119" name="Shape 117"/>
          <p:cNvSpPr/>
          <p:nvPr/>
        </p:nvSpPr>
        <p:spPr>
          <a:xfrm>
            <a:off x="502920" y="5541264"/>
            <a:ext cx="11185855" cy="201168"/>
          </a:xfrm>
          <a:prstGeom prst="rect">
            <a:avLst/>
          </a:prstGeom>
          <a:solidFill>
            <a:srgbClr val="14302A"/>
          </a:solidFill>
          <a:ln w="12700">
            <a:solidFill>
              <a:srgbClr val="14302A"/>
            </a:solidFill>
            <a:prstDash val="solid"/>
          </a:ln>
        </p:spPr>
      </p:sp>
      <p:sp>
        <p:nvSpPr>
          <p:cNvPr id="120" name="Text 118"/>
          <p:cNvSpPr txBox="1"/>
          <p:nvPr/>
        </p:nvSpPr>
        <p:spPr>
          <a:xfrm>
            <a:off x="612648" y="5541264"/>
            <a:ext cx="10966399" cy="201168"/>
          </a:xfrm>
          <a:prstGeom prst="rect">
            <a:avLst/>
          </a:prstGeom>
          <a:noFill/>
          <a:ln/>
        </p:spPr>
        <p:txBody>
          <a:bodyPr wrap="square" lIns="0" tIns="0" rIns="0" bIns="0" rtlCol="0" anchor="ctr"/>
          <a:lstStyle/>
          <a:p>
            <a:pPr algn="ctr" indent="0" marL="0">
              <a:buNone/>
            </a:pPr>
            <a:r>
              <a:rPr lang="en-US" sz="1050" b="1" spc="60" kern="0" dirty="0">
                <a:solidFill>
                  <a:srgbClr val="FFFFFF"/>
                </a:solidFill>
              </a:rPr>
              <a:t>TRACEABILITY, ASSURANCE &amp; GOVERNANCE</a:t>
            </a:r>
            <a:endParaRPr lang="en-US" sz="1050" dirty="0"/>
          </a:p>
        </p:txBody>
      </p:sp>
      <p:sp>
        <p:nvSpPr>
          <p:cNvPr id="121" name="gov-Answer log"/>
          <p:cNvSpPr/>
          <p:nvPr/>
        </p:nvSpPr>
        <p:spPr>
          <a:xfrm>
            <a:off x="502920" y="5760720"/>
            <a:ext cx="1788109" cy="384048"/>
          </a:xfrm>
          <a:prstGeom prst="rect">
            <a:avLst/>
          </a:prstGeom>
          <a:solidFill>
            <a:srgbClr val="FFFFFF"/>
          </a:solidFill>
          <a:ln w="12700">
            <a:solidFill>
              <a:srgbClr val="C3CCC0"/>
            </a:solidFill>
            <a:prstDash val="solid"/>
          </a:ln>
        </p:spPr>
      </p:sp>
      <p:sp>
        <p:nvSpPr>
          <p:cNvPr id="122" name="Text 120"/>
          <p:cNvSpPr txBox="1"/>
          <p:nvPr/>
        </p:nvSpPr>
        <p:spPr>
          <a:xfrm>
            <a:off x="576072"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14302A"/>
                </a:solidFill>
              </a:rPr>
              <a:t>Answer log</a:t>
            </a:r>
            <a:endParaRPr lang="en-US" sz="1050" dirty="0"/>
          </a:p>
          <a:p>
            <a:pPr indent="0" marL="0">
              <a:lnSpc>
                <a:spcPct val="86000"/>
              </a:lnSpc>
              <a:buNone/>
            </a:pPr>
            <a:r>
              <a:rPr lang="en-US" sz="1000" dirty="0">
                <a:solidFill>
                  <a:srgbClr val="5C6B64"/>
                </a:solidFill>
              </a:rPr>
              <a:t>706 logged</a:t>
            </a:r>
            <a:endParaRPr lang="en-US" sz="1050" dirty="0"/>
          </a:p>
        </p:txBody>
      </p:sp>
      <p:sp>
        <p:nvSpPr>
          <p:cNvPr id="123" name="gov-NeMo Relay"/>
          <p:cNvSpPr/>
          <p:nvPr/>
        </p:nvSpPr>
        <p:spPr>
          <a:xfrm>
            <a:off x="2382469" y="5760720"/>
            <a:ext cx="1788109" cy="384048"/>
          </a:xfrm>
          <a:prstGeom prst="rect">
            <a:avLst/>
          </a:prstGeom>
          <a:solidFill>
            <a:srgbClr val="FFFFFF"/>
          </a:solidFill>
          <a:ln w="22225">
            <a:solidFill>
              <a:srgbClr val="76B900"/>
            </a:solidFill>
            <a:prstDash val="solid"/>
          </a:ln>
        </p:spPr>
      </p:sp>
      <p:sp>
        <p:nvSpPr>
          <p:cNvPr id="124" name="Text 122"/>
          <p:cNvSpPr txBox="1"/>
          <p:nvPr/>
        </p:nvSpPr>
        <p:spPr>
          <a:xfrm>
            <a:off x="2455621"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14302A"/>
                </a:solidFill>
              </a:rPr>
              <a:t>NeMo Relay</a:t>
            </a:r>
            <a:endParaRPr lang="en-US" sz="1050" dirty="0"/>
          </a:p>
          <a:p>
            <a:pPr indent="0" marL="0">
              <a:lnSpc>
                <a:spcPct val="86000"/>
              </a:lnSpc>
              <a:buNone/>
            </a:pPr>
            <a:r>
              <a:rPr lang="en-US" sz="1000" dirty="0">
                <a:solidFill>
                  <a:srgbClr val="5C6B64"/>
                </a:solidFill>
              </a:rPr>
              <a:t>trace spans</a:t>
            </a:r>
            <a:endParaRPr lang="en-US" sz="1050" dirty="0"/>
          </a:p>
        </p:txBody>
      </p:sp>
      <p:sp>
        <p:nvSpPr>
          <p:cNvPr id="125" name="gov-NeMo Evaluator"/>
          <p:cNvSpPr/>
          <p:nvPr/>
        </p:nvSpPr>
        <p:spPr>
          <a:xfrm>
            <a:off x="4262018" y="5760720"/>
            <a:ext cx="1788109" cy="384048"/>
          </a:xfrm>
          <a:prstGeom prst="rect">
            <a:avLst/>
          </a:prstGeom>
          <a:solidFill>
            <a:srgbClr val="FFFFFF"/>
          </a:solidFill>
          <a:ln w="22225">
            <a:solidFill>
              <a:srgbClr val="76B900"/>
            </a:solidFill>
            <a:prstDash val="solid"/>
          </a:ln>
        </p:spPr>
      </p:sp>
      <p:sp>
        <p:nvSpPr>
          <p:cNvPr id="126" name="Text 124"/>
          <p:cNvSpPr txBox="1"/>
          <p:nvPr/>
        </p:nvSpPr>
        <p:spPr>
          <a:xfrm>
            <a:off x="4335170"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14302A"/>
                </a:solidFill>
              </a:rPr>
              <a:t>NeMo Evaluator</a:t>
            </a:r>
            <a:endParaRPr lang="en-US" sz="1050" dirty="0"/>
          </a:p>
          <a:p>
            <a:pPr indent="0" marL="0">
              <a:lnSpc>
                <a:spcPct val="86000"/>
              </a:lnSpc>
              <a:buNone/>
            </a:pPr>
            <a:r>
              <a:rPr lang="en-US" sz="1000" dirty="0">
                <a:solidFill>
                  <a:srgbClr val="5C6B64"/>
                </a:solidFill>
              </a:rPr>
              <a:t>run over run</a:t>
            </a:r>
            <a:endParaRPr lang="en-US" sz="1050" dirty="0"/>
          </a:p>
        </p:txBody>
      </p:sp>
      <p:sp>
        <p:nvSpPr>
          <p:cNvPr id="127" name="gov-Riva Magpie TTS"/>
          <p:cNvSpPr/>
          <p:nvPr/>
        </p:nvSpPr>
        <p:spPr>
          <a:xfrm>
            <a:off x="6141568" y="5760720"/>
            <a:ext cx="1788109" cy="384048"/>
          </a:xfrm>
          <a:prstGeom prst="rect">
            <a:avLst/>
          </a:prstGeom>
          <a:solidFill>
            <a:srgbClr val="5B8C3A"/>
          </a:solidFill>
          <a:ln w="12700">
            <a:solidFill>
              <a:srgbClr val="C3CCC0"/>
            </a:solidFill>
            <a:prstDash val="solid"/>
          </a:ln>
        </p:spPr>
      </p:sp>
      <p:sp>
        <p:nvSpPr>
          <p:cNvPr id="128" name="Text 126"/>
          <p:cNvSpPr txBox="1"/>
          <p:nvPr/>
        </p:nvSpPr>
        <p:spPr>
          <a:xfrm>
            <a:off x="6214720"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FFFFFF"/>
                </a:solidFill>
              </a:rPr>
              <a:t>Riva Magpie TTS</a:t>
            </a:r>
            <a:endParaRPr lang="en-US" sz="1050" dirty="0"/>
          </a:p>
          <a:p>
            <a:pPr indent="0" marL="0">
              <a:lnSpc>
                <a:spcPct val="86000"/>
              </a:lnSpc>
              <a:buNone/>
            </a:pPr>
            <a:r>
              <a:rPr lang="en-US" sz="1000" dirty="0">
                <a:solidFill>
                  <a:srgbClr val="DCE8CF"/>
                </a:solidFill>
              </a:rPr>
              <a:t>speech harness</a:t>
            </a:r>
            <a:endParaRPr lang="en-US" sz="1050" dirty="0"/>
          </a:p>
        </p:txBody>
      </p:sp>
      <p:sp>
        <p:nvSpPr>
          <p:cNvPr id="129" name="gov-Acceptance gates"/>
          <p:cNvSpPr/>
          <p:nvPr/>
        </p:nvSpPr>
        <p:spPr>
          <a:xfrm>
            <a:off x="8021117" y="5760720"/>
            <a:ext cx="1788109" cy="384048"/>
          </a:xfrm>
          <a:prstGeom prst="rect">
            <a:avLst/>
          </a:prstGeom>
          <a:solidFill>
            <a:srgbClr val="FFFFFF"/>
          </a:solidFill>
          <a:ln w="12700">
            <a:solidFill>
              <a:srgbClr val="C3CCC0"/>
            </a:solidFill>
            <a:prstDash val="solid"/>
          </a:ln>
        </p:spPr>
      </p:sp>
      <p:sp>
        <p:nvSpPr>
          <p:cNvPr id="130" name="Text 128"/>
          <p:cNvSpPr txBox="1"/>
          <p:nvPr/>
        </p:nvSpPr>
        <p:spPr>
          <a:xfrm>
            <a:off x="8094269"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14302A"/>
                </a:solidFill>
              </a:rPr>
              <a:t>Acceptance gates</a:t>
            </a:r>
            <a:endParaRPr lang="en-US" sz="1050" dirty="0"/>
          </a:p>
          <a:p>
            <a:pPr indent="0" marL="0">
              <a:lnSpc>
                <a:spcPct val="86000"/>
              </a:lnSpc>
              <a:buNone/>
            </a:pPr>
            <a:r>
              <a:rPr lang="en-US" sz="1000" dirty="0">
                <a:solidFill>
                  <a:srgbClr val="5C6B64"/>
                </a:solidFill>
              </a:rPr>
              <a:t>six floors</a:t>
            </a:r>
            <a:endParaRPr lang="en-US" sz="1050" dirty="0"/>
          </a:p>
        </p:txBody>
      </p:sp>
      <p:sp>
        <p:nvSpPr>
          <p:cNvPr id="131" name="gov-NemoClaw"/>
          <p:cNvSpPr/>
          <p:nvPr/>
        </p:nvSpPr>
        <p:spPr>
          <a:xfrm>
            <a:off x="9900666" y="5760720"/>
            <a:ext cx="1788109" cy="384048"/>
          </a:xfrm>
          <a:prstGeom prst="rect">
            <a:avLst/>
          </a:prstGeom>
          <a:solidFill>
            <a:srgbClr val="FFFFFF"/>
          </a:solidFill>
          <a:ln w="19050">
            <a:solidFill>
              <a:srgbClr val="76B900"/>
            </a:solidFill>
            <a:prstDash val="dash"/>
          </a:ln>
        </p:spPr>
      </p:sp>
      <p:sp>
        <p:nvSpPr>
          <p:cNvPr id="132" name="Text 130"/>
          <p:cNvSpPr txBox="1"/>
          <p:nvPr/>
        </p:nvSpPr>
        <p:spPr>
          <a:xfrm>
            <a:off x="9973818" y="5788152"/>
            <a:ext cx="1641805" cy="310896"/>
          </a:xfrm>
          <a:prstGeom prst="rect">
            <a:avLst/>
          </a:prstGeom>
          <a:noFill/>
          <a:ln/>
        </p:spPr>
        <p:txBody>
          <a:bodyPr wrap="square" lIns="0" tIns="0" rIns="0" bIns="0" rtlCol="0" anchor="t"/>
          <a:lstStyle/>
          <a:p>
            <a:pPr indent="0" marL="0">
              <a:lnSpc>
                <a:spcPct val="86000"/>
              </a:lnSpc>
              <a:buNone/>
            </a:pPr>
            <a:r>
              <a:rPr lang="en-US" sz="1050" b="1" dirty="0">
                <a:solidFill>
                  <a:srgbClr val="4A7023"/>
                </a:solidFill>
              </a:rPr>
              <a:t>NemoClaw</a:t>
            </a:r>
            <a:endParaRPr lang="en-US" sz="1050" dirty="0"/>
          </a:p>
          <a:p>
            <a:pPr indent="0" marL="0">
              <a:lnSpc>
                <a:spcPct val="86000"/>
              </a:lnSpc>
              <a:buNone/>
            </a:pPr>
            <a:r>
              <a:rPr lang="en-US" sz="1000" dirty="0">
                <a:solidFill>
                  <a:srgbClr val="5C6B64"/>
                </a:solidFill>
              </a:rPr>
              <a:t>blocked</a:t>
            </a:r>
            <a:endParaRPr lang="en-US" sz="1050" dirty="0"/>
          </a:p>
        </p:txBody>
      </p:sp>
      <p:sp>
        <p:nvSpPr>
          <p:cNvPr id="133" name="Shape 131"/>
          <p:cNvSpPr/>
          <p:nvPr/>
        </p:nvSpPr>
        <p:spPr>
          <a:xfrm>
            <a:off x="502920" y="6181344"/>
            <a:ext cx="1554480" cy="219456"/>
          </a:xfrm>
          <a:prstGeom prst="rect">
            <a:avLst/>
          </a:prstGeom>
          <a:solidFill>
            <a:srgbClr val="1E4035"/>
          </a:solidFill>
          <a:ln w="12700">
            <a:solidFill>
              <a:srgbClr val="1E4035"/>
            </a:solidFill>
            <a:prstDash val="solid"/>
          </a:ln>
        </p:spPr>
      </p:sp>
      <p:sp>
        <p:nvSpPr>
          <p:cNvPr id="134" name="Text 132"/>
          <p:cNvSpPr txBox="1"/>
          <p:nvPr/>
        </p:nvSpPr>
        <p:spPr>
          <a:xfrm>
            <a:off x="612648" y="6181344"/>
            <a:ext cx="1335024" cy="219456"/>
          </a:xfrm>
          <a:prstGeom prst="rect">
            <a:avLst/>
          </a:prstGeom>
          <a:noFill/>
          <a:ln/>
        </p:spPr>
        <p:txBody>
          <a:bodyPr wrap="square" lIns="0" tIns="0" rIns="0" bIns="0" rtlCol="0" anchor="ctr"/>
          <a:lstStyle/>
          <a:p>
            <a:pPr algn="ctr" indent="0" marL="0">
              <a:buNone/>
            </a:pPr>
            <a:r>
              <a:rPr lang="en-US" sz="1000" b="1" spc="60" kern="0" dirty="0">
                <a:solidFill>
                  <a:srgbClr val="FFFFFF"/>
                </a:solidFill>
              </a:rPr>
              <a:t>Infrastructure</a:t>
            </a:r>
            <a:endParaRPr lang="en-US" sz="1000" dirty="0"/>
          </a:p>
        </p:txBody>
      </p:sp>
      <p:sp>
        <p:nvSpPr>
          <p:cNvPr id="135" name="infra-NVIDIA Brev "/>
          <p:cNvSpPr/>
          <p:nvPr/>
        </p:nvSpPr>
        <p:spPr>
          <a:xfrm>
            <a:off x="2130552" y="6181344"/>
            <a:ext cx="2194560" cy="219456"/>
          </a:xfrm>
          <a:prstGeom prst="rect">
            <a:avLst/>
          </a:prstGeom>
          <a:solidFill>
            <a:srgbClr val="5B8C3A"/>
          </a:solidFill>
          <a:ln w="12700">
            <a:solidFill>
              <a:srgbClr val="446B29"/>
            </a:solidFill>
            <a:prstDash val="solid"/>
          </a:ln>
        </p:spPr>
      </p:sp>
      <p:sp>
        <p:nvSpPr>
          <p:cNvPr id="136" name="Text 134"/>
          <p:cNvSpPr txBox="1"/>
          <p:nvPr/>
        </p:nvSpPr>
        <p:spPr>
          <a:xfrm>
            <a:off x="2130552" y="6181344"/>
            <a:ext cx="2194560" cy="219456"/>
          </a:xfrm>
          <a:prstGeom prst="rect">
            <a:avLst/>
          </a:prstGeom>
          <a:noFill/>
          <a:ln/>
        </p:spPr>
        <p:txBody>
          <a:bodyPr wrap="square" lIns="0" tIns="0" rIns="0" bIns="0" rtlCol="0" anchor="ctr"/>
          <a:lstStyle/>
          <a:p>
            <a:pPr algn="ctr" indent="0" marL="0">
              <a:buNone/>
            </a:pPr>
            <a:r>
              <a:rPr lang="en-US" sz="1000" b="1" dirty="0">
                <a:solidFill>
                  <a:srgbClr val="FFFFFF"/>
                </a:solidFill>
              </a:rPr>
              <a:t>NVIDIA Brev · L40S 48 GB</a:t>
            </a:r>
            <a:endParaRPr lang="en-US" sz="1000" dirty="0"/>
          </a:p>
        </p:txBody>
      </p:sp>
      <p:sp>
        <p:nvSpPr>
          <p:cNvPr id="137" name="infra-NVIDIA NIM ·"/>
          <p:cNvSpPr/>
          <p:nvPr/>
        </p:nvSpPr>
        <p:spPr>
          <a:xfrm>
            <a:off x="4398264" y="6181344"/>
            <a:ext cx="2606040" cy="219456"/>
          </a:xfrm>
          <a:prstGeom prst="rect">
            <a:avLst/>
          </a:prstGeom>
          <a:solidFill>
            <a:srgbClr val="5B8C3A"/>
          </a:solidFill>
          <a:ln w="12700">
            <a:solidFill>
              <a:srgbClr val="446B29"/>
            </a:solidFill>
            <a:prstDash val="solid"/>
          </a:ln>
        </p:spPr>
      </p:sp>
      <p:sp>
        <p:nvSpPr>
          <p:cNvPr id="138" name="Text 136"/>
          <p:cNvSpPr txBox="1"/>
          <p:nvPr/>
        </p:nvSpPr>
        <p:spPr>
          <a:xfrm>
            <a:off x="4398264" y="6181344"/>
            <a:ext cx="2606040" cy="219456"/>
          </a:xfrm>
          <a:prstGeom prst="rect">
            <a:avLst/>
          </a:prstGeom>
          <a:noFill/>
          <a:ln/>
        </p:spPr>
        <p:txBody>
          <a:bodyPr wrap="square" lIns="0" tIns="0" rIns="0" bIns="0" rtlCol="0" anchor="ctr"/>
          <a:lstStyle/>
          <a:p>
            <a:pPr algn="ctr" indent="0" marL="0">
              <a:buNone/>
            </a:pPr>
            <a:r>
              <a:rPr lang="en-US" sz="1000" b="1" dirty="0">
                <a:solidFill>
                  <a:srgbClr val="FFFFFF"/>
                </a:solidFill>
              </a:rPr>
              <a:t>NVIDIA NIM · 3 served models</a:t>
            </a:r>
            <a:endParaRPr lang="en-US" sz="1000" dirty="0"/>
          </a:p>
        </p:txBody>
      </p:sp>
      <p:sp>
        <p:nvSpPr>
          <p:cNvPr id="139" name="Text 137"/>
          <p:cNvSpPr txBox="1"/>
          <p:nvPr/>
        </p:nvSpPr>
        <p:spPr>
          <a:xfrm>
            <a:off x="7095744" y="6181344"/>
            <a:ext cx="4593031" cy="219456"/>
          </a:xfrm>
          <a:prstGeom prst="rect">
            <a:avLst/>
          </a:prstGeom>
          <a:noFill/>
          <a:ln/>
        </p:spPr>
        <p:txBody>
          <a:bodyPr wrap="square" lIns="0" tIns="0" rIns="0" bIns="0" rtlCol="0" anchor="ctr"/>
          <a:lstStyle/>
          <a:p>
            <a:pPr indent="0" marL="0">
              <a:buNone/>
            </a:pPr>
            <a:r>
              <a:rPr lang="en-US" sz="1000" dirty="0">
                <a:solidFill>
                  <a:srgbClr val="5C6B64"/>
                </a:solidFill>
              </a:rPr>
              <a:t>Milvus · SQLite · Gradio · FastAPI · Prometheus · Grafana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Application flow</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One loop, not two paths: what a technician says becomes the state and the corpus a manager's question is then answered from</a:t>
            </a:r>
            <a:endParaRPr lang="en-US" sz="1150" dirty="0"/>
          </a:p>
        </p:txBody>
      </p:sp>
      <p:sp>
        <p:nvSpPr>
          <p:cNvPr id="4" name="Shape 2"/>
          <p:cNvSpPr/>
          <p:nvPr/>
        </p:nvSpPr>
        <p:spPr>
          <a:xfrm>
            <a:off x="502920" y="1078992"/>
            <a:ext cx="11185855" cy="237744"/>
          </a:xfrm>
          <a:prstGeom prst="rect">
            <a:avLst/>
          </a:prstGeom>
          <a:solidFill>
            <a:srgbClr val="14302A"/>
          </a:solidFill>
          <a:ln w="12700">
            <a:solidFill>
              <a:srgbClr val="14302A"/>
            </a:solidFill>
            <a:prstDash val="solid"/>
          </a:ln>
        </p:spPr>
      </p:sp>
      <p:sp>
        <p:nvSpPr>
          <p:cNvPr id="5" name="Text 3"/>
          <p:cNvSpPr txBox="1"/>
          <p:nvPr/>
        </p:nvSpPr>
        <p:spPr>
          <a:xfrm>
            <a:off x="612648" y="1078992"/>
            <a:ext cx="10966399" cy="237744"/>
          </a:xfrm>
          <a:prstGeom prst="rect">
            <a:avLst/>
          </a:prstGeom>
          <a:noFill/>
          <a:ln/>
        </p:spPr>
        <p:txBody>
          <a:bodyPr wrap="square" lIns="0" tIns="0" rIns="0" bIns="0" rtlCol="0" anchor="ctr"/>
          <a:lstStyle/>
          <a:p>
            <a:pPr algn="l" indent="0" marL="0">
              <a:buNone/>
            </a:pPr>
            <a:r>
              <a:rPr lang="en-US" sz="1050" b="1" spc="60" kern="0" dirty="0">
                <a:solidFill>
                  <a:srgbClr val="FFFFFF"/>
                </a:solidFill>
              </a:rPr>
              <a:t>CAPTURE  →  STATE   ·   what a technician says, becoming the record</a:t>
            </a:r>
            <a:endParaRPr lang="en-US" sz="1050" dirty="0"/>
          </a:p>
        </p:txBody>
      </p:sp>
      <p:sp>
        <p:nvSpPr>
          <p:cNvPr id="6" name="step-Capture"/>
          <p:cNvSpPr/>
          <p:nvPr/>
        </p:nvSpPr>
        <p:spPr>
          <a:xfrm>
            <a:off x="502920" y="1389888"/>
            <a:ext cx="1988454" cy="822960"/>
          </a:xfrm>
          <a:prstGeom prst="rect">
            <a:avLst/>
          </a:prstGeom>
          <a:solidFill>
            <a:srgbClr val="FFFFFF"/>
          </a:solidFill>
          <a:ln w="12700">
            <a:solidFill>
              <a:srgbClr val="C3CCC0"/>
            </a:solidFill>
            <a:prstDash val="solid"/>
          </a:ln>
        </p:spPr>
      </p:sp>
      <p:sp>
        <p:nvSpPr>
          <p:cNvPr id="7" name="Text 5"/>
          <p:cNvSpPr txBox="1"/>
          <p:nvPr/>
        </p:nvSpPr>
        <p:spPr>
          <a:xfrm>
            <a:off x="612648" y="146304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Capture</a:t>
            </a:r>
            <a:endParaRPr lang="en-US" sz="1200" dirty="0"/>
          </a:p>
          <a:p>
            <a:pPr indent="0" marL="0">
              <a:lnSpc>
                <a:spcPct val="94000"/>
              </a:lnSpc>
              <a:buNone/>
            </a:pPr>
            <a:r>
              <a:rPr lang="en-US" sz="1050" dirty="0">
                <a:solidFill>
                  <a:srgbClr val="5C6B64"/>
                </a:solidFill>
              </a:rPr>
              <a:t>spoken at the bay, or typed</a:t>
            </a:r>
            <a:endParaRPr lang="en-US" sz="1200" dirty="0"/>
          </a:p>
        </p:txBody>
      </p:sp>
      <p:sp>
        <p:nvSpPr>
          <p:cNvPr id="8" name="step-Riva ASR"/>
          <p:cNvSpPr/>
          <p:nvPr/>
        </p:nvSpPr>
        <p:spPr>
          <a:xfrm>
            <a:off x="2802270" y="1389888"/>
            <a:ext cx="1988454" cy="822960"/>
          </a:xfrm>
          <a:prstGeom prst="rect">
            <a:avLst/>
          </a:prstGeom>
          <a:solidFill>
            <a:srgbClr val="5B8C3A"/>
          </a:solidFill>
          <a:ln w="19050">
            <a:solidFill>
              <a:srgbClr val="446B29"/>
            </a:solidFill>
            <a:prstDash val="solid"/>
          </a:ln>
        </p:spPr>
      </p:sp>
      <p:sp>
        <p:nvSpPr>
          <p:cNvPr id="9" name="Text 7"/>
          <p:cNvSpPr txBox="1"/>
          <p:nvPr/>
        </p:nvSpPr>
        <p:spPr>
          <a:xfrm>
            <a:off x="2911998" y="146304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FFFFFF"/>
                </a:solidFill>
              </a:rPr>
              <a:t>Riva ASR</a:t>
            </a:r>
            <a:endParaRPr lang="en-US" sz="1200" dirty="0"/>
          </a:p>
          <a:p>
            <a:pPr indent="0" marL="0">
              <a:lnSpc>
                <a:spcPct val="94000"/>
              </a:lnSpc>
              <a:buNone/>
            </a:pPr>
            <a:r>
              <a:rPr lang="en-US" sz="1050" dirty="0">
                <a:solidFill>
                  <a:srgbClr val="DCE8CF"/>
                </a:solidFill>
              </a:rPr>
              <a:t>speech to text, on the GPU</a:t>
            </a:r>
            <a:endParaRPr lang="en-US" sz="1200" dirty="0"/>
          </a:p>
        </p:txBody>
      </p:sp>
      <p:sp>
        <p:nvSpPr>
          <p:cNvPr id="10" name="Shape 8"/>
          <p:cNvSpPr/>
          <p:nvPr/>
        </p:nvSpPr>
        <p:spPr>
          <a:xfrm>
            <a:off x="2573670" y="1728216"/>
            <a:ext cx="146304" cy="146304"/>
          </a:xfrm>
          <a:prstGeom prst="rightArrow">
            <a:avLst/>
          </a:prstGeom>
          <a:solidFill>
            <a:srgbClr val="76B900"/>
          </a:solidFill>
          <a:ln w="12700">
            <a:solidFill>
              <a:srgbClr val="76B900"/>
            </a:solidFill>
            <a:prstDash val="solid"/>
          </a:ln>
        </p:spPr>
      </p:sp>
      <p:sp>
        <p:nvSpPr>
          <p:cNvPr id="11" name="step-Nemotron 8B"/>
          <p:cNvSpPr/>
          <p:nvPr/>
        </p:nvSpPr>
        <p:spPr>
          <a:xfrm>
            <a:off x="5101620" y="1389888"/>
            <a:ext cx="1988454" cy="822960"/>
          </a:xfrm>
          <a:prstGeom prst="rect">
            <a:avLst/>
          </a:prstGeom>
          <a:solidFill>
            <a:srgbClr val="5B8C3A"/>
          </a:solidFill>
          <a:ln w="19050">
            <a:solidFill>
              <a:srgbClr val="446B29"/>
            </a:solidFill>
            <a:prstDash val="solid"/>
          </a:ln>
        </p:spPr>
      </p:sp>
      <p:sp>
        <p:nvSpPr>
          <p:cNvPr id="12" name="Text 10"/>
          <p:cNvSpPr txBox="1"/>
          <p:nvPr/>
        </p:nvSpPr>
        <p:spPr>
          <a:xfrm>
            <a:off x="5211348" y="146304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FFFFFF"/>
                </a:solidFill>
              </a:rPr>
              <a:t>Nemotron 8B</a:t>
            </a:r>
            <a:endParaRPr lang="en-US" sz="1200" dirty="0"/>
          </a:p>
          <a:p>
            <a:pPr indent="0" marL="0">
              <a:lnSpc>
                <a:spcPct val="94000"/>
              </a:lnSpc>
              <a:buNone/>
            </a:pPr>
            <a:r>
              <a:rPr lang="en-US" sz="1050" dirty="0">
                <a:solidFill>
                  <a:srgbClr val="DCE8CF"/>
                </a:solidFill>
              </a:rPr>
              <a:t>free prose → strict JSON</a:t>
            </a:r>
            <a:endParaRPr lang="en-US" sz="1200" dirty="0"/>
          </a:p>
        </p:txBody>
      </p:sp>
      <p:sp>
        <p:nvSpPr>
          <p:cNvPr id="13" name="Shape 11"/>
          <p:cNvSpPr/>
          <p:nvPr/>
        </p:nvSpPr>
        <p:spPr>
          <a:xfrm>
            <a:off x="4873020" y="1728216"/>
            <a:ext cx="146304" cy="146304"/>
          </a:xfrm>
          <a:prstGeom prst="rightArrow">
            <a:avLst/>
          </a:prstGeom>
          <a:solidFill>
            <a:srgbClr val="76B900"/>
          </a:solidFill>
          <a:ln w="12700">
            <a:solidFill>
              <a:srgbClr val="76B900"/>
            </a:solidFill>
            <a:prstDash val="solid"/>
          </a:ln>
        </p:spPr>
      </p:sp>
      <p:sp>
        <p:nvSpPr>
          <p:cNvPr id="14" name="step-Resolve &amp; reconc"/>
          <p:cNvSpPr/>
          <p:nvPr/>
        </p:nvSpPr>
        <p:spPr>
          <a:xfrm>
            <a:off x="7400971" y="1389888"/>
            <a:ext cx="1988454" cy="822960"/>
          </a:xfrm>
          <a:prstGeom prst="rect">
            <a:avLst/>
          </a:prstGeom>
          <a:solidFill>
            <a:srgbClr val="FFFFFF"/>
          </a:solidFill>
          <a:ln w="12700">
            <a:solidFill>
              <a:srgbClr val="C3CCC0"/>
            </a:solidFill>
            <a:prstDash val="solid"/>
          </a:ln>
        </p:spPr>
      </p:sp>
      <p:sp>
        <p:nvSpPr>
          <p:cNvPr id="15" name="Text 13"/>
          <p:cNvSpPr txBox="1"/>
          <p:nvPr/>
        </p:nvSpPr>
        <p:spPr>
          <a:xfrm>
            <a:off x="7510699" y="146304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Resolve &amp; reconcile</a:t>
            </a:r>
            <a:endParaRPr lang="en-US" sz="1200" dirty="0"/>
          </a:p>
          <a:p>
            <a:pPr indent="0" marL="0">
              <a:lnSpc>
                <a:spcPct val="94000"/>
              </a:lnSpc>
              <a:buNone/>
            </a:pPr>
            <a:r>
              <a:rPr lang="en-US" sz="1050" dirty="0">
                <a:solidFill>
                  <a:srgbClr val="5C6B64"/>
                </a:solidFill>
              </a:rPr>
              <a:t>orders matched; conflicts surfaced</a:t>
            </a:r>
            <a:endParaRPr lang="en-US" sz="1200" dirty="0"/>
          </a:p>
        </p:txBody>
      </p:sp>
      <p:sp>
        <p:nvSpPr>
          <p:cNvPr id="16" name="Shape 14"/>
          <p:cNvSpPr/>
          <p:nvPr/>
        </p:nvSpPr>
        <p:spPr>
          <a:xfrm>
            <a:off x="7172371" y="1728216"/>
            <a:ext cx="146304" cy="146304"/>
          </a:xfrm>
          <a:prstGeom prst="rightArrow">
            <a:avLst/>
          </a:prstGeom>
          <a:solidFill>
            <a:srgbClr val="76B900"/>
          </a:solidFill>
          <a:ln w="12700">
            <a:solidFill>
              <a:srgbClr val="76B900"/>
            </a:solidFill>
            <a:prstDash val="solid"/>
          </a:ln>
        </p:spPr>
      </p:sp>
      <p:sp>
        <p:nvSpPr>
          <p:cNvPr id="17" name="step-Curate &amp; embed"/>
          <p:cNvSpPr/>
          <p:nvPr/>
        </p:nvSpPr>
        <p:spPr>
          <a:xfrm>
            <a:off x="9700321" y="1389888"/>
            <a:ext cx="1988454" cy="822960"/>
          </a:xfrm>
          <a:prstGeom prst="rect">
            <a:avLst/>
          </a:prstGeom>
          <a:solidFill>
            <a:srgbClr val="FFFFFF"/>
          </a:solidFill>
          <a:ln w="22225">
            <a:solidFill>
              <a:srgbClr val="76B900"/>
            </a:solidFill>
            <a:prstDash val="solid"/>
          </a:ln>
        </p:spPr>
      </p:sp>
      <p:sp>
        <p:nvSpPr>
          <p:cNvPr id="18" name="Text 16"/>
          <p:cNvSpPr txBox="1"/>
          <p:nvPr/>
        </p:nvSpPr>
        <p:spPr>
          <a:xfrm>
            <a:off x="9810049" y="146304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Curate &amp; embed</a:t>
            </a:r>
            <a:endParaRPr lang="en-US" sz="1200" dirty="0"/>
          </a:p>
          <a:p>
            <a:pPr indent="0" marL="0">
              <a:lnSpc>
                <a:spcPct val="94000"/>
              </a:lnSpc>
              <a:buNone/>
            </a:pPr>
            <a:r>
              <a:rPr lang="en-US" sz="1050" dirty="0">
                <a:solidFill>
                  <a:srgbClr val="5C6B64"/>
                </a:solidFill>
              </a:rPr>
              <a:t>six Curator stages, then indexed</a:t>
            </a:r>
            <a:endParaRPr lang="en-US" sz="1200" dirty="0"/>
          </a:p>
        </p:txBody>
      </p:sp>
      <p:sp>
        <p:nvSpPr>
          <p:cNvPr id="19" name="Shape 17"/>
          <p:cNvSpPr/>
          <p:nvPr/>
        </p:nvSpPr>
        <p:spPr>
          <a:xfrm>
            <a:off x="9471721" y="1728216"/>
            <a:ext cx="146304" cy="146304"/>
          </a:xfrm>
          <a:prstGeom prst="rightArrow">
            <a:avLst/>
          </a:prstGeom>
          <a:solidFill>
            <a:srgbClr val="76B900"/>
          </a:solidFill>
          <a:ln w="12700">
            <a:solidFill>
              <a:srgbClr val="76B900"/>
            </a:solidFill>
            <a:prstDash val="solid"/>
          </a:ln>
        </p:spPr>
      </p:sp>
      <p:sp>
        <p:nvSpPr>
          <p:cNvPr id="20" name="Shape 18"/>
          <p:cNvSpPr/>
          <p:nvPr/>
        </p:nvSpPr>
        <p:spPr>
          <a:xfrm>
            <a:off x="5958688" y="2286000"/>
            <a:ext cx="274320" cy="274320"/>
          </a:xfrm>
          <a:prstGeom prst="downArrow">
            <a:avLst/>
          </a:prstGeom>
          <a:solidFill>
            <a:srgbClr val="76B900"/>
          </a:solidFill>
          <a:ln w="12700">
            <a:solidFill>
              <a:srgbClr val="76B900"/>
            </a:solidFill>
            <a:prstDash val="solid"/>
          </a:ln>
        </p:spPr>
      </p:sp>
      <p:sp>
        <p:nvSpPr>
          <p:cNvPr id="21" name="Shape 19"/>
          <p:cNvSpPr/>
          <p:nvPr/>
        </p:nvSpPr>
        <p:spPr>
          <a:xfrm>
            <a:off x="502920" y="2633472"/>
            <a:ext cx="11185855" cy="237744"/>
          </a:xfrm>
          <a:prstGeom prst="rect">
            <a:avLst/>
          </a:prstGeom>
          <a:solidFill>
            <a:srgbClr val="1E4035"/>
          </a:solidFill>
          <a:ln w="12700">
            <a:solidFill>
              <a:srgbClr val="1E4035"/>
            </a:solidFill>
            <a:prstDash val="solid"/>
          </a:ln>
        </p:spPr>
      </p:sp>
      <p:sp>
        <p:nvSpPr>
          <p:cNvPr id="22" name="Text 20"/>
          <p:cNvSpPr txBox="1"/>
          <p:nvPr/>
        </p:nvSpPr>
        <p:spPr>
          <a:xfrm>
            <a:off x="612648" y="2633472"/>
            <a:ext cx="10966399" cy="237744"/>
          </a:xfrm>
          <a:prstGeom prst="rect">
            <a:avLst/>
          </a:prstGeom>
          <a:noFill/>
          <a:ln/>
        </p:spPr>
        <p:txBody>
          <a:bodyPr wrap="square" lIns="0" tIns="0" rIns="0" bIns="0" rtlCol="0" anchor="ctr"/>
          <a:lstStyle/>
          <a:p>
            <a:pPr algn="ctr" indent="0" marL="0">
              <a:buNone/>
            </a:pPr>
            <a:r>
              <a:rPr lang="en-US" sz="1050" b="1" spc="60" kern="0" dirty="0">
                <a:solidFill>
                  <a:srgbClr val="FFFFFF"/>
                </a:solidFill>
              </a:rPr>
              <a:t>SYSTEM OF RECORD   ·   the only thing both halves share</a:t>
            </a:r>
            <a:endParaRPr lang="en-US" sz="1050" dirty="0"/>
          </a:p>
        </p:txBody>
      </p:sp>
      <p:sp>
        <p:nvSpPr>
          <p:cNvPr id="23" name="card-Event log — 10,927"/>
          <p:cNvSpPr/>
          <p:nvPr/>
        </p:nvSpPr>
        <p:spPr>
          <a:xfrm>
            <a:off x="502920" y="2944368"/>
            <a:ext cx="5501488" cy="548640"/>
          </a:xfrm>
          <a:prstGeom prst="rect">
            <a:avLst/>
          </a:prstGeom>
          <a:solidFill>
            <a:srgbClr val="FFFFFF"/>
          </a:solidFill>
          <a:ln w="12700">
            <a:solidFill>
              <a:srgbClr val="C3CCC0"/>
            </a:solidFill>
            <a:prstDash val="solid"/>
          </a:ln>
        </p:spPr>
      </p:sp>
      <p:sp>
        <p:nvSpPr>
          <p:cNvPr id="24" name="Text 22"/>
          <p:cNvSpPr txBox="1"/>
          <p:nvPr/>
        </p:nvSpPr>
        <p:spPr>
          <a:xfrm>
            <a:off x="566928" y="2980944"/>
            <a:ext cx="5373472" cy="475488"/>
          </a:xfrm>
          <a:prstGeom prst="rect">
            <a:avLst/>
          </a:prstGeom>
          <a:noFill/>
          <a:ln/>
        </p:spPr>
        <p:txBody>
          <a:bodyPr wrap="square" lIns="0" tIns="0" rIns="0" bIns="0" rtlCol="0" anchor="t"/>
          <a:lstStyle/>
          <a:p>
            <a:pPr algn="l" indent="0" marL="0">
              <a:lnSpc>
                <a:spcPct val="92000"/>
              </a:lnSpc>
              <a:buNone/>
            </a:pPr>
            <a:r>
              <a:rPr lang="en-US" sz="1200" b="1" dirty="0">
                <a:solidFill>
                  <a:srgbClr val="14302A"/>
                </a:solidFill>
              </a:rPr>
              <a:t>Event log — 10,927 events</a:t>
            </a:r>
            <a:endParaRPr lang="en-US" sz="1200" dirty="0"/>
          </a:p>
          <a:p>
            <a:pPr algn="l" indent="0" marL="0">
              <a:lnSpc>
                <a:spcPct val="92000"/>
              </a:lnSpc>
              <a:buNone/>
            </a:pPr>
            <a:r>
              <a:rPr lang="en-US" sz="1050" dirty="0">
                <a:solidFill>
                  <a:srgbClr val="5C6B64"/>
                </a:solidFill>
              </a:rPr>
              <a:t>Append-only. Every order's state is folded from it on each read.</a:t>
            </a:r>
            <a:endParaRPr lang="en-US" sz="1200" dirty="0"/>
          </a:p>
        </p:txBody>
      </p:sp>
      <p:sp>
        <p:nvSpPr>
          <p:cNvPr id="25" name="card-Vector index — 1,9"/>
          <p:cNvSpPr/>
          <p:nvPr/>
        </p:nvSpPr>
        <p:spPr>
          <a:xfrm>
            <a:off x="6187288" y="2944368"/>
            <a:ext cx="5501488" cy="548640"/>
          </a:xfrm>
          <a:prstGeom prst="rect">
            <a:avLst/>
          </a:prstGeom>
          <a:solidFill>
            <a:srgbClr val="FFFFFF"/>
          </a:solidFill>
          <a:ln w="12700">
            <a:solidFill>
              <a:srgbClr val="C3CCC0"/>
            </a:solidFill>
            <a:prstDash val="solid"/>
          </a:ln>
        </p:spPr>
      </p:sp>
      <p:sp>
        <p:nvSpPr>
          <p:cNvPr id="26" name="Text 24"/>
          <p:cNvSpPr txBox="1"/>
          <p:nvPr/>
        </p:nvSpPr>
        <p:spPr>
          <a:xfrm>
            <a:off x="6251296" y="2980944"/>
            <a:ext cx="5373472" cy="475488"/>
          </a:xfrm>
          <a:prstGeom prst="rect">
            <a:avLst/>
          </a:prstGeom>
          <a:noFill/>
          <a:ln/>
        </p:spPr>
        <p:txBody>
          <a:bodyPr wrap="square" lIns="0" tIns="0" rIns="0" bIns="0" rtlCol="0" anchor="t"/>
          <a:lstStyle/>
          <a:p>
            <a:pPr algn="l" indent="0" marL="0">
              <a:lnSpc>
                <a:spcPct val="92000"/>
              </a:lnSpc>
              <a:buNone/>
            </a:pPr>
            <a:r>
              <a:rPr lang="en-US" sz="1200" b="1" dirty="0">
                <a:solidFill>
                  <a:srgbClr val="14302A"/>
                </a:solidFill>
              </a:rPr>
              <a:t>Vector index — 1,949 @ 1024d</a:t>
            </a:r>
            <a:endParaRPr lang="en-US" sz="1200" dirty="0"/>
          </a:p>
          <a:p>
            <a:pPr algn="l" indent="0" marL="0">
              <a:lnSpc>
                <a:spcPct val="92000"/>
              </a:lnSpc>
              <a:buNone/>
            </a:pPr>
            <a:r>
              <a:rPr lang="en-US" sz="1050" dirty="0">
                <a:solidFill>
                  <a:srgbClr val="5C6B64"/>
                </a:solidFill>
              </a:rPr>
              <a:t>Derived, and rebuildable. Holds no fact the record does not.</a:t>
            </a:r>
            <a:endParaRPr lang="en-US" sz="1200" dirty="0"/>
          </a:p>
        </p:txBody>
      </p:sp>
      <p:sp>
        <p:nvSpPr>
          <p:cNvPr id="27" name="Shape 25"/>
          <p:cNvSpPr/>
          <p:nvPr/>
        </p:nvSpPr>
        <p:spPr>
          <a:xfrm>
            <a:off x="5958688" y="3566160"/>
            <a:ext cx="274320" cy="274320"/>
          </a:xfrm>
          <a:prstGeom prst="downArrow">
            <a:avLst/>
          </a:prstGeom>
          <a:solidFill>
            <a:srgbClr val="76B900"/>
          </a:solidFill>
          <a:ln w="12700">
            <a:solidFill>
              <a:srgbClr val="76B900"/>
            </a:solidFill>
            <a:prstDash val="solid"/>
          </a:ln>
        </p:spPr>
      </p:sp>
      <p:sp>
        <p:nvSpPr>
          <p:cNvPr id="28" name="Shape 26"/>
          <p:cNvSpPr/>
          <p:nvPr/>
        </p:nvSpPr>
        <p:spPr>
          <a:xfrm>
            <a:off x="502920" y="3913632"/>
            <a:ext cx="11185855" cy="237744"/>
          </a:xfrm>
          <a:prstGeom prst="rect">
            <a:avLst/>
          </a:prstGeom>
          <a:solidFill>
            <a:srgbClr val="14302A"/>
          </a:solidFill>
          <a:ln w="12700">
            <a:solidFill>
              <a:srgbClr val="14302A"/>
            </a:solidFill>
            <a:prstDash val="solid"/>
          </a:ln>
        </p:spPr>
      </p:sp>
      <p:sp>
        <p:nvSpPr>
          <p:cNvPr id="29" name="Text 27"/>
          <p:cNvSpPr txBox="1"/>
          <p:nvPr/>
        </p:nvSpPr>
        <p:spPr>
          <a:xfrm>
            <a:off x="612648" y="3913632"/>
            <a:ext cx="10966399" cy="237744"/>
          </a:xfrm>
          <a:prstGeom prst="rect">
            <a:avLst/>
          </a:prstGeom>
          <a:noFill/>
          <a:ln/>
        </p:spPr>
        <p:txBody>
          <a:bodyPr wrap="square" lIns="0" tIns="0" rIns="0" bIns="0" rtlCol="0" anchor="ctr"/>
          <a:lstStyle/>
          <a:p>
            <a:pPr algn="l" indent="0" marL="0">
              <a:buNone/>
            </a:pPr>
            <a:r>
              <a:rPr lang="en-US" sz="1050" b="1" spc="60" kern="0" dirty="0">
                <a:solidFill>
                  <a:srgbClr val="FFFFFF"/>
                </a:solidFill>
              </a:rPr>
              <a:t>QUESTION  →  CITED ANSWER   ·   and what a manager can then ask of it</a:t>
            </a:r>
            <a:endParaRPr lang="en-US" sz="1050" dirty="0"/>
          </a:p>
        </p:txBody>
      </p:sp>
      <p:sp>
        <p:nvSpPr>
          <p:cNvPr id="30" name="step-Question"/>
          <p:cNvSpPr/>
          <p:nvPr/>
        </p:nvSpPr>
        <p:spPr>
          <a:xfrm>
            <a:off x="502920" y="4224528"/>
            <a:ext cx="1988454" cy="822960"/>
          </a:xfrm>
          <a:prstGeom prst="rect">
            <a:avLst/>
          </a:prstGeom>
          <a:solidFill>
            <a:srgbClr val="FFFFFF"/>
          </a:solidFill>
          <a:ln w="12700">
            <a:solidFill>
              <a:srgbClr val="C3CCC0"/>
            </a:solidFill>
            <a:prstDash val="solid"/>
          </a:ln>
        </p:spPr>
      </p:sp>
      <p:sp>
        <p:nvSpPr>
          <p:cNvPr id="31" name="Text 29"/>
          <p:cNvSpPr txBox="1"/>
          <p:nvPr/>
        </p:nvSpPr>
        <p:spPr>
          <a:xfrm>
            <a:off x="612648" y="429768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Question</a:t>
            </a:r>
            <a:endParaRPr lang="en-US" sz="1200" dirty="0"/>
          </a:p>
          <a:p>
            <a:pPr indent="0" marL="0">
              <a:lnSpc>
                <a:spcPct val="94000"/>
              </a:lnSpc>
              <a:buNone/>
            </a:pPr>
            <a:r>
              <a:rPr lang="en-US" sz="1050" dirty="0">
                <a:solidFill>
                  <a:srgbClr val="5C6B64"/>
                </a:solidFill>
              </a:rPr>
              <a:t>console or HTTP API</a:t>
            </a:r>
            <a:endParaRPr lang="en-US" sz="1200" dirty="0"/>
          </a:p>
        </p:txBody>
      </p:sp>
      <p:sp>
        <p:nvSpPr>
          <p:cNvPr id="32" name="step-Rails"/>
          <p:cNvSpPr/>
          <p:nvPr/>
        </p:nvSpPr>
        <p:spPr>
          <a:xfrm>
            <a:off x="2802270" y="4224528"/>
            <a:ext cx="1988454" cy="822960"/>
          </a:xfrm>
          <a:prstGeom prst="rect">
            <a:avLst/>
          </a:prstGeom>
          <a:solidFill>
            <a:srgbClr val="FFFFFF"/>
          </a:solidFill>
          <a:ln w="22225">
            <a:solidFill>
              <a:srgbClr val="76B900"/>
            </a:solidFill>
            <a:prstDash val="solid"/>
          </a:ln>
        </p:spPr>
      </p:sp>
      <p:sp>
        <p:nvSpPr>
          <p:cNvPr id="33" name="Text 31"/>
          <p:cNvSpPr txBox="1"/>
          <p:nvPr/>
        </p:nvSpPr>
        <p:spPr>
          <a:xfrm>
            <a:off x="2911998" y="429768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Rails</a:t>
            </a:r>
            <a:endParaRPr lang="en-US" sz="1200" dirty="0"/>
          </a:p>
          <a:p>
            <a:pPr indent="0" marL="0">
              <a:lnSpc>
                <a:spcPct val="94000"/>
              </a:lnSpc>
              <a:buNone/>
            </a:pPr>
            <a:r>
              <a:rPr lang="en-US" sz="1050" dirty="0">
                <a:solidFill>
                  <a:srgbClr val="5C6B64"/>
                </a:solidFill>
              </a:rPr>
              <a:t>injection, scope, NeMo self-check</a:t>
            </a:r>
            <a:endParaRPr lang="en-US" sz="1200" dirty="0"/>
          </a:p>
        </p:txBody>
      </p:sp>
      <p:sp>
        <p:nvSpPr>
          <p:cNvPr id="34" name="Shape 32"/>
          <p:cNvSpPr/>
          <p:nvPr/>
        </p:nvSpPr>
        <p:spPr>
          <a:xfrm>
            <a:off x="2573670" y="4562856"/>
            <a:ext cx="146304" cy="146304"/>
          </a:xfrm>
          <a:prstGeom prst="rightArrow">
            <a:avLst/>
          </a:prstGeom>
          <a:solidFill>
            <a:srgbClr val="76B900"/>
          </a:solidFill>
          <a:ln w="12700">
            <a:solidFill>
              <a:srgbClr val="76B900"/>
            </a:solidFill>
            <a:prstDash val="solid"/>
          </a:ln>
        </p:spPr>
      </p:sp>
      <p:sp>
        <p:nvSpPr>
          <p:cNvPr id="35" name="step-Plan → tool call"/>
          <p:cNvSpPr/>
          <p:nvPr/>
        </p:nvSpPr>
        <p:spPr>
          <a:xfrm>
            <a:off x="5101620" y="4224528"/>
            <a:ext cx="1988454" cy="822960"/>
          </a:xfrm>
          <a:prstGeom prst="rect">
            <a:avLst/>
          </a:prstGeom>
          <a:solidFill>
            <a:srgbClr val="FFFFFF"/>
          </a:solidFill>
          <a:ln w="12700">
            <a:solidFill>
              <a:srgbClr val="C3CCC0"/>
            </a:solidFill>
            <a:prstDash val="solid"/>
          </a:ln>
        </p:spPr>
      </p:sp>
      <p:sp>
        <p:nvSpPr>
          <p:cNvPr id="36" name="Text 34"/>
          <p:cNvSpPr txBox="1"/>
          <p:nvPr/>
        </p:nvSpPr>
        <p:spPr>
          <a:xfrm>
            <a:off x="5211348" y="429768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14302A"/>
                </a:solidFill>
              </a:rPr>
              <a:t>Plan → tool call</a:t>
            </a:r>
            <a:endParaRPr lang="en-US" sz="1200" dirty="0"/>
          </a:p>
          <a:p>
            <a:pPr indent="0" marL="0">
              <a:lnSpc>
                <a:spcPct val="94000"/>
              </a:lnSpc>
              <a:buNone/>
            </a:pPr>
            <a:r>
              <a:rPr lang="en-US" sz="1050" dirty="0">
                <a:solidFill>
                  <a:srgbClr val="5C6B64"/>
                </a:solidFill>
              </a:rPr>
              <a:t>routes 37 of 37 with no model</a:t>
            </a:r>
            <a:endParaRPr lang="en-US" sz="1200" dirty="0"/>
          </a:p>
        </p:txBody>
      </p:sp>
      <p:sp>
        <p:nvSpPr>
          <p:cNvPr id="37" name="Shape 35"/>
          <p:cNvSpPr/>
          <p:nvPr/>
        </p:nvSpPr>
        <p:spPr>
          <a:xfrm>
            <a:off x="4873020" y="4562856"/>
            <a:ext cx="146304" cy="146304"/>
          </a:xfrm>
          <a:prstGeom prst="rightArrow">
            <a:avLst/>
          </a:prstGeom>
          <a:solidFill>
            <a:srgbClr val="76B900"/>
          </a:solidFill>
          <a:ln w="12700">
            <a:solidFill>
              <a:srgbClr val="76B900"/>
            </a:solidFill>
            <a:prstDash val="solid"/>
          </a:ln>
        </p:spPr>
      </p:sp>
      <p:sp>
        <p:nvSpPr>
          <p:cNvPr id="38" name="step-Retrieve + reran"/>
          <p:cNvSpPr/>
          <p:nvPr/>
        </p:nvSpPr>
        <p:spPr>
          <a:xfrm>
            <a:off x="7400971" y="4224528"/>
            <a:ext cx="1988454" cy="822960"/>
          </a:xfrm>
          <a:prstGeom prst="rect">
            <a:avLst/>
          </a:prstGeom>
          <a:solidFill>
            <a:srgbClr val="5B8C3A"/>
          </a:solidFill>
          <a:ln w="19050">
            <a:solidFill>
              <a:srgbClr val="446B29"/>
            </a:solidFill>
            <a:prstDash val="solid"/>
          </a:ln>
        </p:spPr>
      </p:sp>
      <p:sp>
        <p:nvSpPr>
          <p:cNvPr id="39" name="Text 37"/>
          <p:cNvSpPr txBox="1"/>
          <p:nvPr/>
        </p:nvSpPr>
        <p:spPr>
          <a:xfrm>
            <a:off x="7510699" y="429768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FFFFFF"/>
                </a:solidFill>
              </a:rPr>
              <a:t>Retrieve + rerank</a:t>
            </a:r>
            <a:endParaRPr lang="en-US" sz="1200" dirty="0"/>
          </a:p>
          <a:p>
            <a:pPr indent="0" marL="0">
              <a:lnSpc>
                <a:spcPct val="94000"/>
              </a:lnSpc>
              <a:buNone/>
            </a:pPr>
            <a:r>
              <a:rPr lang="en-US" sz="1050" dirty="0">
                <a:solidFill>
                  <a:srgbClr val="DCE8CF"/>
                </a:solidFill>
              </a:rPr>
              <a:t>free-text search only</a:t>
            </a:r>
            <a:endParaRPr lang="en-US" sz="1200" dirty="0"/>
          </a:p>
        </p:txBody>
      </p:sp>
      <p:sp>
        <p:nvSpPr>
          <p:cNvPr id="40" name="Shape 38"/>
          <p:cNvSpPr/>
          <p:nvPr/>
        </p:nvSpPr>
        <p:spPr>
          <a:xfrm>
            <a:off x="7172371" y="4562856"/>
            <a:ext cx="146304" cy="146304"/>
          </a:xfrm>
          <a:prstGeom prst="rightArrow">
            <a:avLst/>
          </a:prstGeom>
          <a:solidFill>
            <a:srgbClr val="76B900"/>
          </a:solidFill>
          <a:ln w="12700">
            <a:solidFill>
              <a:srgbClr val="76B900"/>
            </a:solidFill>
            <a:prstDash val="solid"/>
          </a:ln>
        </p:spPr>
      </p:sp>
      <p:sp>
        <p:nvSpPr>
          <p:cNvPr id="41" name="step-Compose or narra"/>
          <p:cNvSpPr/>
          <p:nvPr/>
        </p:nvSpPr>
        <p:spPr>
          <a:xfrm>
            <a:off x="9700321" y="4224528"/>
            <a:ext cx="1988454" cy="822960"/>
          </a:xfrm>
          <a:prstGeom prst="rect">
            <a:avLst/>
          </a:prstGeom>
          <a:solidFill>
            <a:srgbClr val="5B8C3A"/>
          </a:solidFill>
          <a:ln w="19050">
            <a:solidFill>
              <a:srgbClr val="446B29"/>
            </a:solidFill>
            <a:prstDash val="solid"/>
          </a:ln>
        </p:spPr>
      </p:sp>
      <p:sp>
        <p:nvSpPr>
          <p:cNvPr id="42" name="Text 40"/>
          <p:cNvSpPr txBox="1"/>
          <p:nvPr/>
        </p:nvSpPr>
        <p:spPr>
          <a:xfrm>
            <a:off x="9810049" y="4297680"/>
            <a:ext cx="1768998" cy="694944"/>
          </a:xfrm>
          <a:prstGeom prst="rect">
            <a:avLst/>
          </a:prstGeom>
          <a:noFill/>
          <a:ln/>
        </p:spPr>
        <p:txBody>
          <a:bodyPr wrap="square" lIns="0" tIns="0" rIns="0" bIns="0" rtlCol="0" anchor="t"/>
          <a:lstStyle/>
          <a:p>
            <a:pPr indent="0" marL="0">
              <a:lnSpc>
                <a:spcPct val="94000"/>
              </a:lnSpc>
              <a:buNone/>
            </a:pPr>
            <a:r>
              <a:rPr lang="en-US" sz="1200" b="1" dirty="0">
                <a:solidFill>
                  <a:srgbClr val="FFFFFF"/>
                </a:solidFill>
              </a:rPr>
              <a:t>Compose or narrate</a:t>
            </a:r>
            <a:endParaRPr lang="en-US" sz="1200" dirty="0"/>
          </a:p>
          <a:p>
            <a:pPr indent="0" marL="0">
              <a:lnSpc>
                <a:spcPct val="94000"/>
              </a:lnSpc>
              <a:buNone/>
            </a:pPr>
            <a:r>
              <a:rPr lang="en-US" sz="1050" dirty="0">
                <a:solidFill>
                  <a:srgbClr val="DCE8CF"/>
                </a:solidFill>
              </a:rPr>
              <a:t>figures computed, then prose</a:t>
            </a:r>
            <a:endParaRPr lang="en-US" sz="1200" dirty="0"/>
          </a:p>
        </p:txBody>
      </p:sp>
      <p:sp>
        <p:nvSpPr>
          <p:cNvPr id="43" name="Shape 41"/>
          <p:cNvSpPr/>
          <p:nvPr/>
        </p:nvSpPr>
        <p:spPr>
          <a:xfrm>
            <a:off x="9471721" y="4562856"/>
            <a:ext cx="146304" cy="146304"/>
          </a:xfrm>
          <a:prstGeom prst="rightArrow">
            <a:avLst/>
          </a:prstGeom>
          <a:solidFill>
            <a:srgbClr val="76B900"/>
          </a:solidFill>
          <a:ln w="12700">
            <a:solidFill>
              <a:srgbClr val="76B900"/>
            </a:solidFill>
            <a:prstDash val="solid"/>
          </a:ln>
        </p:spPr>
      </p:sp>
      <p:sp>
        <p:nvSpPr>
          <p:cNvPr id="44" name="card-Grounding check"/>
          <p:cNvSpPr/>
          <p:nvPr/>
        </p:nvSpPr>
        <p:spPr>
          <a:xfrm>
            <a:off x="502920" y="5175504"/>
            <a:ext cx="2727884" cy="548640"/>
          </a:xfrm>
          <a:prstGeom prst="rect">
            <a:avLst/>
          </a:prstGeom>
          <a:solidFill>
            <a:srgbClr val="FFFFFF"/>
          </a:solidFill>
          <a:ln w="12700">
            <a:solidFill>
              <a:srgbClr val="C3CCC0"/>
            </a:solidFill>
            <a:prstDash val="solid"/>
          </a:ln>
        </p:spPr>
      </p:sp>
      <p:sp>
        <p:nvSpPr>
          <p:cNvPr id="45" name="Text 43"/>
          <p:cNvSpPr txBox="1"/>
          <p:nvPr/>
        </p:nvSpPr>
        <p:spPr>
          <a:xfrm>
            <a:off x="566928" y="5212080"/>
            <a:ext cx="2599868" cy="47548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Grounding check</a:t>
            </a:r>
            <a:endParaRPr lang="en-US" sz="1100" dirty="0"/>
          </a:p>
          <a:p>
            <a:pPr algn="l" indent="0" marL="0">
              <a:lnSpc>
                <a:spcPct val="92000"/>
              </a:lnSpc>
              <a:buNone/>
            </a:pPr>
            <a:r>
              <a:rPr lang="en-US" sz="1000" dirty="0">
                <a:solidFill>
                  <a:srgbClr val="5C6B64"/>
                </a:solidFill>
              </a:rPr>
              <a:t>every digit must be in the payload</a:t>
            </a:r>
            <a:endParaRPr lang="en-US" sz="1100" dirty="0"/>
          </a:p>
        </p:txBody>
      </p:sp>
      <p:sp>
        <p:nvSpPr>
          <p:cNvPr id="46" name="card-Negation check"/>
          <p:cNvSpPr/>
          <p:nvPr/>
        </p:nvSpPr>
        <p:spPr>
          <a:xfrm>
            <a:off x="3322244" y="5175504"/>
            <a:ext cx="2727884" cy="548640"/>
          </a:xfrm>
          <a:prstGeom prst="rect">
            <a:avLst/>
          </a:prstGeom>
          <a:solidFill>
            <a:srgbClr val="FFFFFF"/>
          </a:solidFill>
          <a:ln w="12700">
            <a:solidFill>
              <a:srgbClr val="C3CCC0"/>
            </a:solidFill>
            <a:prstDash val="solid"/>
          </a:ln>
        </p:spPr>
      </p:sp>
      <p:sp>
        <p:nvSpPr>
          <p:cNvPr id="47" name="Text 45"/>
          <p:cNvSpPr txBox="1"/>
          <p:nvPr/>
        </p:nvSpPr>
        <p:spPr>
          <a:xfrm>
            <a:off x="3386252" y="5212080"/>
            <a:ext cx="2599868" cy="47548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Negation check</a:t>
            </a:r>
            <a:endParaRPr lang="en-US" sz="1100" dirty="0"/>
          </a:p>
          <a:p>
            <a:pPr algn="l" indent="0" marL="0">
              <a:lnSpc>
                <a:spcPct val="92000"/>
              </a:lnSpc>
              <a:buNone/>
            </a:pPr>
            <a:r>
              <a:rPr lang="en-US" sz="1000" dirty="0">
                <a:solidFill>
                  <a:srgbClr val="5C6B64"/>
                </a:solidFill>
              </a:rPr>
              <a:t>a flipped "not" inverts a safety answer</a:t>
            </a:r>
            <a:endParaRPr lang="en-US" sz="1100" dirty="0"/>
          </a:p>
        </p:txBody>
      </p:sp>
      <p:sp>
        <p:nvSpPr>
          <p:cNvPr id="48" name="card-Release-claim rail"/>
          <p:cNvSpPr/>
          <p:nvPr/>
        </p:nvSpPr>
        <p:spPr>
          <a:xfrm>
            <a:off x="6141568" y="5175504"/>
            <a:ext cx="2727884" cy="548640"/>
          </a:xfrm>
          <a:prstGeom prst="rect">
            <a:avLst/>
          </a:prstGeom>
          <a:solidFill>
            <a:srgbClr val="FFFFFF"/>
          </a:solidFill>
          <a:ln w="12700">
            <a:solidFill>
              <a:srgbClr val="C3CCC0"/>
            </a:solidFill>
            <a:prstDash val="solid"/>
          </a:ln>
        </p:spPr>
      </p:sp>
      <p:sp>
        <p:nvSpPr>
          <p:cNvPr id="49" name="Text 47"/>
          <p:cNvSpPr txBox="1"/>
          <p:nvPr/>
        </p:nvSpPr>
        <p:spPr>
          <a:xfrm>
            <a:off x="6205576" y="5212080"/>
            <a:ext cx="2599868" cy="47548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Release-claim rail</a:t>
            </a:r>
            <a:endParaRPr lang="en-US" sz="1100" dirty="0"/>
          </a:p>
          <a:p>
            <a:pPr algn="l" indent="0" marL="0">
              <a:lnSpc>
                <a:spcPct val="92000"/>
              </a:lnSpc>
              <a:buNone/>
            </a:pPr>
            <a:r>
              <a:rPr lang="en-US" sz="1000" dirty="0">
                <a:solidFill>
                  <a:srgbClr val="5C6B64"/>
                </a:solidFill>
              </a:rPr>
              <a:t>authorisation needs evidence</a:t>
            </a:r>
            <a:endParaRPr lang="en-US" sz="1100" dirty="0"/>
          </a:p>
        </p:txBody>
      </p:sp>
      <p:sp>
        <p:nvSpPr>
          <p:cNvPr id="50" name="card-Answer log"/>
          <p:cNvSpPr/>
          <p:nvPr/>
        </p:nvSpPr>
        <p:spPr>
          <a:xfrm>
            <a:off x="8960891" y="5175504"/>
            <a:ext cx="2727884" cy="548640"/>
          </a:xfrm>
          <a:prstGeom prst="rect">
            <a:avLst/>
          </a:prstGeom>
          <a:solidFill>
            <a:srgbClr val="FFFFFF"/>
          </a:solidFill>
          <a:ln w="12700">
            <a:solidFill>
              <a:srgbClr val="C3CCC0"/>
            </a:solidFill>
            <a:prstDash val="solid"/>
          </a:ln>
        </p:spPr>
      </p:sp>
      <p:sp>
        <p:nvSpPr>
          <p:cNvPr id="51" name="Text 49"/>
          <p:cNvSpPr txBox="1"/>
          <p:nvPr/>
        </p:nvSpPr>
        <p:spPr>
          <a:xfrm>
            <a:off x="9024899" y="5212080"/>
            <a:ext cx="2599868" cy="47548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Answer log</a:t>
            </a:r>
            <a:endParaRPr lang="en-US" sz="1100" dirty="0"/>
          </a:p>
          <a:p>
            <a:pPr algn="l" indent="0" marL="0">
              <a:lnSpc>
                <a:spcPct val="92000"/>
              </a:lnSpc>
              <a:buNone/>
            </a:pPr>
            <a:r>
              <a:rPr lang="en-US" sz="1000" dirty="0">
                <a:solidFill>
                  <a:srgbClr val="5C6B64"/>
                </a:solidFill>
              </a:rPr>
              <a:t>route, tools, citations, seconds</a:t>
            </a:r>
            <a:endParaRPr lang="en-US" sz="1100" dirty="0"/>
          </a:p>
        </p:txBody>
      </p:sp>
      <p:sp>
        <p:nvSpPr>
          <p:cNvPr id="52" name="answer"/>
          <p:cNvSpPr/>
          <p:nvPr/>
        </p:nvSpPr>
        <p:spPr>
          <a:xfrm>
            <a:off x="502920" y="5833872"/>
            <a:ext cx="11185855" cy="530352"/>
          </a:xfrm>
          <a:prstGeom prst="rect">
            <a:avLst/>
          </a:prstGeom>
          <a:solidFill>
            <a:srgbClr val="5B8C3A"/>
          </a:solidFill>
          <a:ln w="12700">
            <a:solidFill>
              <a:srgbClr val="446B29"/>
            </a:solidFill>
            <a:prstDash val="solid"/>
          </a:ln>
        </p:spPr>
      </p:sp>
      <p:sp>
        <p:nvSpPr>
          <p:cNvPr id="53" name="Text 51"/>
          <p:cNvSpPr txBox="1"/>
          <p:nvPr/>
        </p:nvSpPr>
        <p:spPr>
          <a:xfrm>
            <a:off x="630936" y="5833872"/>
            <a:ext cx="10929823" cy="530352"/>
          </a:xfrm>
          <a:prstGeom prst="rect">
            <a:avLst/>
          </a:prstGeom>
          <a:noFill/>
          <a:ln/>
        </p:spPr>
        <p:txBody>
          <a:bodyPr wrap="square" lIns="0" tIns="0" rIns="0" bIns="0" rtlCol="0" anchor="ctr"/>
          <a:lstStyle/>
          <a:p>
            <a:pPr indent="0" marL="0">
              <a:buNone/>
            </a:pPr>
            <a:r>
              <a:rPr lang="en-US" sz="1200" b="1" dirty="0">
                <a:solidFill>
                  <a:srgbClr val="FFFFFF"/>
                </a:solidFill>
              </a:rPr>
              <a:t>Cited answer   —   </a:t>
            </a:r>
            <a:pPr indent="0" marL="0">
              <a:buNone/>
            </a:pPr>
            <a:r>
              <a:rPr lang="en-US" sz="1100" dirty="0">
                <a:solidFill>
                  <a:srgbClr val="DCE8CF"/>
                </a:solidFill>
              </a:rPr>
              <a:t>every claim tied to a repair order and an update id, and logged — which is what the evaluator scores the next release against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NVIDIA components</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Thirteen running, one blocked — every status here measured by running the thing, not by importing it</a:t>
            </a:r>
            <a:endParaRPr lang="en-US" sz="1150" dirty="0"/>
          </a:p>
        </p:txBody>
      </p:sp>
      <p:sp>
        <p:nvSpPr>
          <p:cNvPr id="4" name="comp0"/>
          <p:cNvSpPr/>
          <p:nvPr/>
        </p:nvSpPr>
        <p:spPr>
          <a:xfrm>
            <a:off x="502920" y="1115568"/>
            <a:ext cx="5455768" cy="640080"/>
          </a:xfrm>
          <a:prstGeom prst="rect">
            <a:avLst/>
          </a:prstGeom>
          <a:solidFill>
            <a:srgbClr val="5B8C3A"/>
          </a:solidFill>
          <a:ln w="12700">
            <a:solidFill>
              <a:srgbClr val="C3CCC0"/>
            </a:solidFill>
            <a:prstDash val="solid"/>
          </a:ln>
        </p:spPr>
      </p:sp>
      <p:sp>
        <p:nvSpPr>
          <p:cNvPr id="5" name="Text 3"/>
          <p:cNvSpPr txBox="1"/>
          <p:nvPr/>
        </p:nvSpPr>
        <p:spPr>
          <a:xfrm>
            <a:off x="612648" y="116128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NIM — LLM</a:t>
            </a:r>
            <a:endParaRPr lang="en-US" sz="1100" dirty="0"/>
          </a:p>
          <a:p>
            <a:pPr indent="0" marL="0">
              <a:lnSpc>
                <a:spcPct val="92000"/>
              </a:lnSpc>
              <a:buNone/>
            </a:pPr>
            <a:r>
              <a:rPr lang="en-US" sz="1000" dirty="0">
                <a:solidFill>
                  <a:srgbClr val="DCE8CF"/>
                </a:solidFill>
              </a:rPr>
              <a:t>Prose → JSON in, tool payload → prose out. Nothing else.</a:t>
            </a:r>
            <a:endParaRPr lang="en-US" sz="1100" dirty="0"/>
          </a:p>
        </p:txBody>
      </p:sp>
      <p:sp>
        <p:nvSpPr>
          <p:cNvPr id="6" name="Text 4"/>
          <p:cNvSpPr txBox="1"/>
          <p:nvPr/>
        </p:nvSpPr>
        <p:spPr>
          <a:xfrm>
            <a:off x="4038448" y="116128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Nemotron Nano 8B · :8000</a:t>
            </a:r>
            <a:endParaRPr lang="en-US" sz="1000" dirty="0"/>
          </a:p>
        </p:txBody>
      </p:sp>
      <p:sp>
        <p:nvSpPr>
          <p:cNvPr id="7" name="comp1"/>
          <p:cNvSpPr/>
          <p:nvPr/>
        </p:nvSpPr>
        <p:spPr>
          <a:xfrm>
            <a:off x="502920" y="1847088"/>
            <a:ext cx="5455768" cy="640080"/>
          </a:xfrm>
          <a:prstGeom prst="rect">
            <a:avLst/>
          </a:prstGeom>
          <a:solidFill>
            <a:srgbClr val="5B8C3A"/>
          </a:solidFill>
          <a:ln w="12700">
            <a:solidFill>
              <a:srgbClr val="C3CCC0"/>
            </a:solidFill>
            <a:prstDash val="solid"/>
          </a:ln>
        </p:spPr>
      </p:sp>
      <p:sp>
        <p:nvSpPr>
          <p:cNvPr id="8" name="Text 6"/>
          <p:cNvSpPr txBox="1"/>
          <p:nvPr/>
        </p:nvSpPr>
        <p:spPr>
          <a:xfrm>
            <a:off x="612648" y="189280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NIM — Embedding</a:t>
            </a:r>
            <a:endParaRPr lang="en-US" sz="1100" dirty="0"/>
          </a:p>
          <a:p>
            <a:pPr indent="0" marL="0">
              <a:lnSpc>
                <a:spcPct val="92000"/>
              </a:lnSpc>
              <a:buNone/>
            </a:pPr>
            <a:r>
              <a:rPr lang="en-US" sz="1000" dirty="0">
                <a:solidFill>
                  <a:srgbClr val="DCE8CF"/>
                </a:solidFill>
              </a:rPr>
              <a:t>Vectors for 1,949 updates and for op-code matching.</a:t>
            </a:r>
            <a:endParaRPr lang="en-US" sz="1100" dirty="0"/>
          </a:p>
        </p:txBody>
      </p:sp>
      <p:sp>
        <p:nvSpPr>
          <p:cNvPr id="9" name="Text 7"/>
          <p:cNvSpPr txBox="1"/>
          <p:nvPr/>
        </p:nvSpPr>
        <p:spPr>
          <a:xfrm>
            <a:off x="4038448" y="189280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NV-EmbedQA E5 v5 · :8001</a:t>
            </a:r>
            <a:endParaRPr lang="en-US" sz="1000" dirty="0"/>
          </a:p>
        </p:txBody>
      </p:sp>
      <p:sp>
        <p:nvSpPr>
          <p:cNvPr id="10" name="comp2"/>
          <p:cNvSpPr/>
          <p:nvPr/>
        </p:nvSpPr>
        <p:spPr>
          <a:xfrm>
            <a:off x="502920" y="2578608"/>
            <a:ext cx="5455768" cy="640080"/>
          </a:xfrm>
          <a:prstGeom prst="rect">
            <a:avLst/>
          </a:prstGeom>
          <a:solidFill>
            <a:srgbClr val="5B8C3A"/>
          </a:solidFill>
          <a:ln w="12700">
            <a:solidFill>
              <a:srgbClr val="C3CCC0"/>
            </a:solidFill>
            <a:prstDash val="solid"/>
          </a:ln>
        </p:spPr>
      </p:sp>
      <p:sp>
        <p:nvSpPr>
          <p:cNvPr id="11" name="Text 9"/>
          <p:cNvSpPr txBox="1"/>
          <p:nvPr/>
        </p:nvSpPr>
        <p:spPr>
          <a:xfrm>
            <a:off x="612648" y="262432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NIM — Reranking</a:t>
            </a:r>
            <a:endParaRPr lang="en-US" sz="1100" dirty="0"/>
          </a:p>
          <a:p>
            <a:pPr indent="0" marL="0">
              <a:lnSpc>
                <a:spcPct val="92000"/>
              </a:lnSpc>
              <a:buNone/>
            </a:pPr>
            <a:r>
              <a:rPr lang="en-US" sz="1000" dirty="0">
                <a:solidFill>
                  <a:srgbClr val="DCE8CF"/>
                </a:solidFill>
              </a:rPr>
              <a:t>Reorders candidates to the passages actually cited.</a:t>
            </a:r>
            <a:endParaRPr lang="en-US" sz="1100" dirty="0"/>
          </a:p>
        </p:txBody>
      </p:sp>
      <p:sp>
        <p:nvSpPr>
          <p:cNvPr id="12" name="Text 10"/>
          <p:cNvSpPr txBox="1"/>
          <p:nvPr/>
        </p:nvSpPr>
        <p:spPr>
          <a:xfrm>
            <a:off x="4038448" y="262432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NV-RerankQA 4B · :8002</a:t>
            </a:r>
            <a:endParaRPr lang="en-US" sz="1000" dirty="0"/>
          </a:p>
        </p:txBody>
      </p:sp>
      <p:sp>
        <p:nvSpPr>
          <p:cNvPr id="13" name="comp3"/>
          <p:cNvSpPr/>
          <p:nvPr/>
        </p:nvSpPr>
        <p:spPr>
          <a:xfrm>
            <a:off x="502920" y="3310128"/>
            <a:ext cx="5455768" cy="640080"/>
          </a:xfrm>
          <a:prstGeom prst="rect">
            <a:avLst/>
          </a:prstGeom>
          <a:solidFill>
            <a:srgbClr val="5B8C3A"/>
          </a:solidFill>
          <a:ln w="12700">
            <a:solidFill>
              <a:srgbClr val="C3CCC0"/>
            </a:solidFill>
            <a:prstDash val="solid"/>
          </a:ln>
        </p:spPr>
      </p:sp>
      <p:sp>
        <p:nvSpPr>
          <p:cNvPr id="14" name="Text 12"/>
          <p:cNvSpPr txBox="1"/>
          <p:nvPr/>
        </p:nvSpPr>
        <p:spPr>
          <a:xfrm>
            <a:off x="612648" y="335584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Riva — ASR</a:t>
            </a:r>
            <a:endParaRPr lang="en-US" sz="1100" dirty="0"/>
          </a:p>
          <a:p>
            <a:pPr indent="0" marL="0">
              <a:lnSpc>
                <a:spcPct val="92000"/>
              </a:lnSpc>
              <a:buNone/>
            </a:pPr>
            <a:r>
              <a:rPr lang="en-US" sz="1000" dirty="0">
                <a:solidFill>
                  <a:srgbClr val="DCE8CF"/>
                </a:solidFill>
              </a:rPr>
              <a:t>Speech to text for spoken shift updates.</a:t>
            </a:r>
            <a:endParaRPr lang="en-US" sz="1100" dirty="0"/>
          </a:p>
        </p:txBody>
      </p:sp>
      <p:sp>
        <p:nvSpPr>
          <p:cNvPr id="15" name="Text 13"/>
          <p:cNvSpPr txBox="1"/>
          <p:nvPr/>
        </p:nvSpPr>
        <p:spPr>
          <a:xfrm>
            <a:off x="4038448" y="335584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Parakeet CTC 0.6B · gRPC</a:t>
            </a:r>
            <a:endParaRPr lang="en-US" sz="1000" dirty="0"/>
          </a:p>
        </p:txBody>
      </p:sp>
      <p:sp>
        <p:nvSpPr>
          <p:cNvPr id="16" name="comp4"/>
          <p:cNvSpPr/>
          <p:nvPr/>
        </p:nvSpPr>
        <p:spPr>
          <a:xfrm>
            <a:off x="502920" y="4041648"/>
            <a:ext cx="5455768" cy="640080"/>
          </a:xfrm>
          <a:prstGeom prst="rect">
            <a:avLst/>
          </a:prstGeom>
          <a:solidFill>
            <a:srgbClr val="5B8C3A"/>
          </a:solidFill>
          <a:ln w="12700">
            <a:solidFill>
              <a:srgbClr val="C3CCC0"/>
            </a:solidFill>
            <a:prstDash val="solid"/>
          </a:ln>
        </p:spPr>
      </p:sp>
      <p:sp>
        <p:nvSpPr>
          <p:cNvPr id="17" name="Text 15"/>
          <p:cNvSpPr txBox="1"/>
          <p:nvPr/>
        </p:nvSpPr>
        <p:spPr>
          <a:xfrm>
            <a:off x="612648" y="408736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Riva — TTS</a:t>
            </a:r>
            <a:endParaRPr lang="en-US" sz="1100" dirty="0"/>
          </a:p>
          <a:p>
            <a:pPr indent="0" marL="0">
              <a:lnSpc>
                <a:spcPct val="92000"/>
              </a:lnSpc>
              <a:buNone/>
            </a:pPr>
            <a:r>
              <a:rPr lang="en-US" sz="1000" dirty="0">
                <a:solidFill>
                  <a:srgbClr val="DCE8CF"/>
                </a:solidFill>
              </a:rPr>
              <a:t>Synthesises the speech the ASR leg is tested with.</a:t>
            </a:r>
            <a:endParaRPr lang="en-US" sz="1100" dirty="0"/>
          </a:p>
        </p:txBody>
      </p:sp>
      <p:sp>
        <p:nvSpPr>
          <p:cNvPr id="18" name="Text 16"/>
          <p:cNvSpPr txBox="1"/>
          <p:nvPr/>
        </p:nvSpPr>
        <p:spPr>
          <a:xfrm>
            <a:off x="4038448" y="408736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Magpie TTS · gRPC</a:t>
            </a:r>
            <a:endParaRPr lang="en-US" sz="1000" dirty="0"/>
          </a:p>
        </p:txBody>
      </p:sp>
      <p:sp>
        <p:nvSpPr>
          <p:cNvPr id="19" name="comp5"/>
          <p:cNvSpPr/>
          <p:nvPr/>
        </p:nvSpPr>
        <p:spPr>
          <a:xfrm>
            <a:off x="502920" y="4773168"/>
            <a:ext cx="5455768" cy="640080"/>
          </a:xfrm>
          <a:prstGeom prst="rect">
            <a:avLst/>
          </a:prstGeom>
          <a:solidFill>
            <a:srgbClr val="5B8C3A"/>
          </a:solidFill>
          <a:ln w="12700">
            <a:solidFill>
              <a:srgbClr val="C3CCC0"/>
            </a:solidFill>
            <a:prstDash val="solid"/>
          </a:ln>
        </p:spPr>
      </p:sp>
      <p:sp>
        <p:nvSpPr>
          <p:cNvPr id="20" name="Text 18"/>
          <p:cNvSpPr txBox="1"/>
          <p:nvPr/>
        </p:nvSpPr>
        <p:spPr>
          <a:xfrm>
            <a:off x="612648" y="481888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NVIDIA DCGM</a:t>
            </a:r>
            <a:endParaRPr lang="en-US" sz="1100" dirty="0"/>
          </a:p>
          <a:p>
            <a:pPr indent="0" marL="0">
              <a:lnSpc>
                <a:spcPct val="92000"/>
              </a:lnSpc>
              <a:buNone/>
            </a:pPr>
            <a:r>
              <a:rPr lang="en-US" sz="1000" dirty="0">
                <a:solidFill>
                  <a:srgbClr val="DCE8CF"/>
                </a:solidFill>
              </a:rPr>
              <a:t>GPU utilisation, framebuffer, power, temperature.</a:t>
            </a:r>
            <a:endParaRPr lang="en-US" sz="1100" dirty="0"/>
          </a:p>
        </p:txBody>
      </p:sp>
      <p:sp>
        <p:nvSpPr>
          <p:cNvPr id="21" name="Text 19"/>
          <p:cNvSpPr txBox="1"/>
          <p:nvPr/>
        </p:nvSpPr>
        <p:spPr>
          <a:xfrm>
            <a:off x="4038448" y="481888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19 series · :9401</a:t>
            </a:r>
            <a:endParaRPr lang="en-US" sz="1000" dirty="0"/>
          </a:p>
        </p:txBody>
      </p:sp>
      <p:sp>
        <p:nvSpPr>
          <p:cNvPr id="22" name="comp6"/>
          <p:cNvSpPr/>
          <p:nvPr/>
        </p:nvSpPr>
        <p:spPr>
          <a:xfrm>
            <a:off x="502920" y="5504688"/>
            <a:ext cx="5455768" cy="640080"/>
          </a:xfrm>
          <a:prstGeom prst="rect">
            <a:avLst/>
          </a:prstGeom>
          <a:solidFill>
            <a:srgbClr val="5B8C3A"/>
          </a:solidFill>
          <a:ln w="12700">
            <a:solidFill>
              <a:srgbClr val="C3CCC0"/>
            </a:solidFill>
            <a:prstDash val="solid"/>
          </a:ln>
        </p:spPr>
      </p:sp>
      <p:sp>
        <p:nvSpPr>
          <p:cNvPr id="23" name="Text 21"/>
          <p:cNvSpPr txBox="1"/>
          <p:nvPr/>
        </p:nvSpPr>
        <p:spPr>
          <a:xfrm>
            <a:off x="612648" y="555040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FFFFFF"/>
                </a:solidFill>
              </a:rPr>
              <a:t>NVIDIA Brev</a:t>
            </a:r>
            <a:endParaRPr lang="en-US" sz="1100" dirty="0"/>
          </a:p>
          <a:p>
            <a:pPr indent="0" marL="0">
              <a:lnSpc>
                <a:spcPct val="92000"/>
              </a:lnSpc>
              <a:buNone/>
            </a:pPr>
            <a:r>
              <a:rPr lang="en-US" sz="1000" dirty="0">
                <a:solidFill>
                  <a:srgbClr val="DCE8CF"/>
                </a:solidFill>
              </a:rPr>
              <a:t>The deployment target carrying all three NIMs.</a:t>
            </a:r>
            <a:endParaRPr lang="en-US" sz="1100" dirty="0"/>
          </a:p>
        </p:txBody>
      </p:sp>
      <p:sp>
        <p:nvSpPr>
          <p:cNvPr id="24" name="Text 22"/>
          <p:cNvSpPr txBox="1"/>
          <p:nvPr/>
        </p:nvSpPr>
        <p:spPr>
          <a:xfrm>
            <a:off x="4038448" y="5550408"/>
            <a:ext cx="1810512" cy="548640"/>
          </a:xfrm>
          <a:prstGeom prst="rect">
            <a:avLst/>
          </a:prstGeom>
          <a:noFill/>
          <a:ln/>
        </p:spPr>
        <p:txBody>
          <a:bodyPr wrap="square" lIns="0" tIns="0" rIns="0" bIns="0" rtlCol="0" anchor="ctr"/>
          <a:lstStyle/>
          <a:p>
            <a:pPr algn="r" indent="0" marL="0">
              <a:buNone/>
            </a:pPr>
            <a:r>
              <a:rPr lang="en-US" sz="1000" dirty="0">
                <a:solidFill>
                  <a:srgbClr val="DCE8CF"/>
                </a:solidFill>
              </a:rPr>
              <a:t>L40S 48 GB</a:t>
            </a:r>
            <a:endParaRPr lang="en-US" sz="1000" dirty="0"/>
          </a:p>
        </p:txBody>
      </p:sp>
      <p:sp>
        <p:nvSpPr>
          <p:cNvPr id="25" name="comp7"/>
          <p:cNvSpPr/>
          <p:nvPr/>
        </p:nvSpPr>
        <p:spPr>
          <a:xfrm>
            <a:off x="6233008" y="1115568"/>
            <a:ext cx="5455768" cy="640080"/>
          </a:xfrm>
          <a:prstGeom prst="rect">
            <a:avLst/>
          </a:prstGeom>
          <a:solidFill>
            <a:srgbClr val="FFFFFF"/>
          </a:solidFill>
          <a:ln w="22225">
            <a:solidFill>
              <a:srgbClr val="76B900"/>
            </a:solidFill>
            <a:prstDash val="solid"/>
          </a:ln>
        </p:spPr>
      </p:sp>
      <p:sp>
        <p:nvSpPr>
          <p:cNvPr id="26" name="Text 24"/>
          <p:cNvSpPr txBox="1"/>
          <p:nvPr/>
        </p:nvSpPr>
        <p:spPr>
          <a:xfrm>
            <a:off x="6342736" y="116128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Agent Toolkit</a:t>
            </a:r>
            <a:endParaRPr lang="en-US" sz="1100" dirty="0"/>
          </a:p>
          <a:p>
            <a:pPr indent="0" marL="0">
              <a:lnSpc>
                <a:spcPct val="92000"/>
              </a:lnSpc>
              <a:buNone/>
            </a:pPr>
            <a:r>
              <a:rPr lang="en-US" sz="1000" dirty="0">
                <a:solidFill>
                  <a:srgbClr val="5C6B64"/>
                </a:solidFill>
              </a:rPr>
              <a:t>A second front end onto the same eleven tools; its calls arrive as text.</a:t>
            </a:r>
            <a:endParaRPr lang="en-US" sz="1100" dirty="0"/>
          </a:p>
        </p:txBody>
      </p:sp>
      <p:sp>
        <p:nvSpPr>
          <p:cNvPr id="27" name="Text 25"/>
          <p:cNvSpPr txBox="1"/>
          <p:nvPr/>
        </p:nvSpPr>
        <p:spPr>
          <a:xfrm>
            <a:off x="9768535" y="116128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tools run 18/18 · answers 3/18</a:t>
            </a:r>
            <a:endParaRPr lang="en-US" sz="1000" dirty="0"/>
          </a:p>
        </p:txBody>
      </p:sp>
      <p:sp>
        <p:nvSpPr>
          <p:cNvPr id="28" name="comp8"/>
          <p:cNvSpPr/>
          <p:nvPr/>
        </p:nvSpPr>
        <p:spPr>
          <a:xfrm>
            <a:off x="6233008" y="1847088"/>
            <a:ext cx="5455768" cy="640080"/>
          </a:xfrm>
          <a:prstGeom prst="rect">
            <a:avLst/>
          </a:prstGeom>
          <a:solidFill>
            <a:srgbClr val="FFFFFF"/>
          </a:solidFill>
          <a:ln w="22225">
            <a:solidFill>
              <a:srgbClr val="76B900"/>
            </a:solidFill>
            <a:prstDash val="solid"/>
          </a:ln>
        </p:spPr>
      </p:sp>
      <p:sp>
        <p:nvSpPr>
          <p:cNvPr id="29" name="Text 27"/>
          <p:cNvSpPr txBox="1"/>
          <p:nvPr/>
        </p:nvSpPr>
        <p:spPr>
          <a:xfrm>
            <a:off x="6342736" y="189280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Guardrails</a:t>
            </a:r>
            <a:endParaRPr lang="en-US" sz="1100" dirty="0"/>
          </a:p>
          <a:p>
            <a:pPr indent="0" marL="0">
              <a:lnSpc>
                <a:spcPct val="92000"/>
              </a:lnSpc>
              <a:buNone/>
            </a:pPr>
            <a:r>
              <a:rPr lang="en-US" sz="1000" dirty="0">
                <a:solidFill>
                  <a:srgbClr val="5C6B64"/>
                </a:solidFill>
              </a:rPr>
              <a:t>Input rail judged by the local model.</a:t>
            </a:r>
            <a:endParaRPr lang="en-US" sz="1100" dirty="0"/>
          </a:p>
        </p:txBody>
      </p:sp>
      <p:sp>
        <p:nvSpPr>
          <p:cNvPr id="30" name="Text 28"/>
          <p:cNvSpPr txBox="1"/>
          <p:nvPr/>
        </p:nvSpPr>
        <p:spPr>
          <a:xfrm>
            <a:off x="9768535" y="189280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self check input</a:t>
            </a:r>
            <a:endParaRPr lang="en-US" sz="1000" dirty="0"/>
          </a:p>
        </p:txBody>
      </p:sp>
      <p:sp>
        <p:nvSpPr>
          <p:cNvPr id="31" name="comp9"/>
          <p:cNvSpPr/>
          <p:nvPr/>
        </p:nvSpPr>
        <p:spPr>
          <a:xfrm>
            <a:off x="6233008" y="2578608"/>
            <a:ext cx="5455768" cy="640080"/>
          </a:xfrm>
          <a:prstGeom prst="rect">
            <a:avLst/>
          </a:prstGeom>
          <a:solidFill>
            <a:srgbClr val="FFFFFF"/>
          </a:solidFill>
          <a:ln w="22225">
            <a:solidFill>
              <a:srgbClr val="76B900"/>
            </a:solidFill>
            <a:prstDash val="solid"/>
          </a:ln>
        </p:spPr>
      </p:sp>
      <p:sp>
        <p:nvSpPr>
          <p:cNvPr id="32" name="Text 30"/>
          <p:cNvSpPr txBox="1"/>
          <p:nvPr/>
        </p:nvSpPr>
        <p:spPr>
          <a:xfrm>
            <a:off x="6342736" y="262432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Curator</a:t>
            </a:r>
            <a:endParaRPr lang="en-US" sz="1100" dirty="0"/>
          </a:p>
          <a:p>
            <a:pPr indent="0" marL="0">
              <a:lnSpc>
                <a:spcPct val="92000"/>
              </a:lnSpc>
              <a:buNone/>
            </a:pPr>
            <a:r>
              <a:rPr lang="en-US" sz="1000" dirty="0">
                <a:solidFill>
                  <a:srgbClr val="5C6B64"/>
                </a:solidFill>
              </a:rPr>
              <a:t>Six stages; the sixth quarantines injection.</a:t>
            </a:r>
            <a:endParaRPr lang="en-US" sz="1100" dirty="0"/>
          </a:p>
        </p:txBody>
      </p:sp>
      <p:sp>
        <p:nvSpPr>
          <p:cNvPr id="33" name="Text 31"/>
          <p:cNvSpPr txBox="1"/>
          <p:nvPr/>
        </p:nvSpPr>
        <p:spPr>
          <a:xfrm>
            <a:off x="9768535" y="262432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run before indexing</a:t>
            </a:r>
            <a:endParaRPr lang="en-US" sz="1000" dirty="0"/>
          </a:p>
        </p:txBody>
      </p:sp>
      <p:sp>
        <p:nvSpPr>
          <p:cNvPr id="34" name="comp10"/>
          <p:cNvSpPr/>
          <p:nvPr/>
        </p:nvSpPr>
        <p:spPr>
          <a:xfrm>
            <a:off x="6233008" y="3310128"/>
            <a:ext cx="5455768" cy="640080"/>
          </a:xfrm>
          <a:prstGeom prst="rect">
            <a:avLst/>
          </a:prstGeom>
          <a:solidFill>
            <a:srgbClr val="FFFFFF"/>
          </a:solidFill>
          <a:ln w="22225">
            <a:solidFill>
              <a:srgbClr val="76B900"/>
            </a:solidFill>
            <a:prstDash val="solid"/>
          </a:ln>
        </p:spPr>
      </p:sp>
      <p:sp>
        <p:nvSpPr>
          <p:cNvPr id="35" name="Text 33"/>
          <p:cNvSpPr txBox="1"/>
          <p:nvPr/>
        </p:nvSpPr>
        <p:spPr>
          <a:xfrm>
            <a:off x="6342736" y="335584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Evaluator</a:t>
            </a:r>
            <a:endParaRPr lang="en-US" sz="1100" dirty="0"/>
          </a:p>
          <a:p>
            <a:pPr indent="0" marL="0">
              <a:lnSpc>
                <a:spcPct val="92000"/>
              </a:lnSpc>
              <a:buNone/>
            </a:pPr>
            <a:r>
              <a:rPr lang="en-US" sz="1000" dirty="0">
                <a:solidFill>
                  <a:srgbClr val="5C6B64"/>
                </a:solidFill>
              </a:rPr>
              <a:t>Seven BYOB benchmarks, run over run.</a:t>
            </a:r>
            <a:endParaRPr lang="en-US" sz="1100" dirty="0"/>
          </a:p>
        </p:txBody>
      </p:sp>
      <p:sp>
        <p:nvSpPr>
          <p:cNvPr id="36" name="Text 34"/>
          <p:cNvSpPr txBox="1"/>
          <p:nvPr/>
        </p:nvSpPr>
        <p:spPr>
          <a:xfrm>
            <a:off x="9768535" y="335584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Evaluator result schema</a:t>
            </a:r>
            <a:endParaRPr lang="en-US" sz="1000" dirty="0"/>
          </a:p>
        </p:txBody>
      </p:sp>
      <p:sp>
        <p:nvSpPr>
          <p:cNvPr id="37" name="comp11"/>
          <p:cNvSpPr/>
          <p:nvPr/>
        </p:nvSpPr>
        <p:spPr>
          <a:xfrm>
            <a:off x="6233008" y="4041648"/>
            <a:ext cx="5455768" cy="640080"/>
          </a:xfrm>
          <a:prstGeom prst="rect">
            <a:avLst/>
          </a:prstGeom>
          <a:solidFill>
            <a:srgbClr val="FFFFFF"/>
          </a:solidFill>
          <a:ln w="22225">
            <a:solidFill>
              <a:srgbClr val="76B900"/>
            </a:solidFill>
            <a:prstDash val="solid"/>
          </a:ln>
        </p:spPr>
      </p:sp>
      <p:sp>
        <p:nvSpPr>
          <p:cNvPr id="38" name="Text 36"/>
          <p:cNvSpPr txBox="1"/>
          <p:nvPr/>
        </p:nvSpPr>
        <p:spPr>
          <a:xfrm>
            <a:off x="6342736" y="408736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Relay</a:t>
            </a:r>
            <a:endParaRPr lang="en-US" sz="1100" dirty="0"/>
          </a:p>
          <a:p>
            <a:pPr indent="0" marL="0">
              <a:lnSpc>
                <a:spcPct val="92000"/>
              </a:lnSpc>
              <a:buNone/>
            </a:pPr>
            <a:r>
              <a:rPr lang="en-US" sz="1000" dirty="0">
                <a:solidFill>
                  <a:srgbClr val="5C6B64"/>
                </a:solidFill>
              </a:rPr>
              <a:t>How an answer was produced, not just what it said.</a:t>
            </a:r>
            <a:endParaRPr lang="en-US" sz="1100" dirty="0"/>
          </a:p>
        </p:txBody>
      </p:sp>
      <p:sp>
        <p:nvSpPr>
          <p:cNvPr id="39" name="Text 37"/>
          <p:cNvSpPr txBox="1"/>
          <p:nvPr/>
        </p:nvSpPr>
        <p:spPr>
          <a:xfrm>
            <a:off x="9768535" y="408736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per-stage trace spans</a:t>
            </a:r>
            <a:endParaRPr lang="en-US" sz="1000" dirty="0"/>
          </a:p>
        </p:txBody>
      </p:sp>
      <p:sp>
        <p:nvSpPr>
          <p:cNvPr id="40" name="comp12"/>
          <p:cNvSpPr/>
          <p:nvPr/>
        </p:nvSpPr>
        <p:spPr>
          <a:xfrm>
            <a:off x="6233008" y="4773168"/>
            <a:ext cx="5455768" cy="640080"/>
          </a:xfrm>
          <a:prstGeom prst="rect">
            <a:avLst/>
          </a:prstGeom>
          <a:solidFill>
            <a:srgbClr val="FFFFFF"/>
          </a:solidFill>
          <a:ln w="22225">
            <a:solidFill>
              <a:srgbClr val="76B900"/>
            </a:solidFill>
            <a:prstDash val="solid"/>
          </a:ln>
        </p:spPr>
      </p:sp>
      <p:sp>
        <p:nvSpPr>
          <p:cNvPr id="41" name="Text 39"/>
          <p:cNvSpPr txBox="1"/>
          <p:nvPr/>
        </p:nvSpPr>
        <p:spPr>
          <a:xfrm>
            <a:off x="6342736" y="481888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NeMo Switchyard</a:t>
            </a:r>
            <a:endParaRPr lang="en-US" sz="1100" dirty="0"/>
          </a:p>
          <a:p>
            <a:pPr indent="0" marL="0">
              <a:lnSpc>
                <a:spcPct val="92000"/>
              </a:lnSpc>
              <a:buNone/>
            </a:pPr>
            <a:r>
              <a:rPr lang="en-US" sz="1000" dirty="0">
                <a:solidFill>
                  <a:srgbClr val="5C6B64"/>
                </a:solidFill>
              </a:rPr>
              <a:t>Efficient model local, capable one hosted.</a:t>
            </a:r>
            <a:endParaRPr lang="en-US" sz="1100" dirty="0"/>
          </a:p>
        </p:txBody>
      </p:sp>
      <p:sp>
        <p:nvSpPr>
          <p:cNvPr id="42" name="Text 40"/>
          <p:cNvSpPr txBox="1"/>
          <p:nvPr/>
        </p:nvSpPr>
        <p:spPr>
          <a:xfrm>
            <a:off x="9768535" y="4818888"/>
            <a:ext cx="1810512" cy="548640"/>
          </a:xfrm>
          <a:prstGeom prst="rect">
            <a:avLst/>
          </a:prstGeom>
          <a:noFill/>
          <a:ln/>
        </p:spPr>
        <p:txBody>
          <a:bodyPr wrap="square" lIns="0" tIns="0" rIns="0" bIns="0" rtlCol="0" anchor="ctr"/>
          <a:lstStyle/>
          <a:p>
            <a:pPr algn="r" indent="0" marL="0">
              <a:buNone/>
            </a:pPr>
            <a:r>
              <a:rPr lang="en-US" sz="1000" dirty="0">
                <a:solidFill>
                  <a:srgbClr val="5C6B64"/>
                </a:solidFill>
              </a:rPr>
              <a:t>off unless enabled</a:t>
            </a:r>
            <a:endParaRPr lang="en-US" sz="1000" dirty="0"/>
          </a:p>
        </p:txBody>
      </p:sp>
      <p:sp>
        <p:nvSpPr>
          <p:cNvPr id="43" name="comp13"/>
          <p:cNvSpPr/>
          <p:nvPr/>
        </p:nvSpPr>
        <p:spPr>
          <a:xfrm>
            <a:off x="6233008" y="5504688"/>
            <a:ext cx="5455768" cy="640080"/>
          </a:xfrm>
          <a:prstGeom prst="rect">
            <a:avLst/>
          </a:prstGeom>
          <a:solidFill>
            <a:srgbClr val="FFFFFF"/>
          </a:solidFill>
          <a:ln w="19050">
            <a:solidFill>
              <a:srgbClr val="76B900"/>
            </a:solidFill>
            <a:prstDash val="dash"/>
          </a:ln>
        </p:spPr>
      </p:sp>
      <p:sp>
        <p:nvSpPr>
          <p:cNvPr id="44" name="Text 42"/>
          <p:cNvSpPr txBox="1"/>
          <p:nvPr/>
        </p:nvSpPr>
        <p:spPr>
          <a:xfrm>
            <a:off x="6342736" y="5550408"/>
            <a:ext cx="3398368" cy="566928"/>
          </a:xfrm>
          <a:prstGeom prst="rect">
            <a:avLst/>
          </a:prstGeom>
          <a:noFill/>
          <a:ln/>
        </p:spPr>
        <p:txBody>
          <a:bodyPr wrap="square" lIns="0" tIns="0" rIns="0" bIns="0" rtlCol="0" anchor="t"/>
          <a:lstStyle/>
          <a:p>
            <a:pPr indent="0" marL="0">
              <a:lnSpc>
                <a:spcPct val="92000"/>
              </a:lnSpc>
              <a:buNone/>
            </a:pPr>
            <a:r>
              <a:rPr lang="en-US" sz="1100" b="1" dirty="0">
                <a:solidFill>
                  <a:srgbClr val="4A7023"/>
                </a:solidFill>
              </a:rPr>
              <a:t>NemoClaw / OpenShell</a:t>
            </a:r>
            <a:endParaRPr lang="en-US" sz="1100" dirty="0"/>
          </a:p>
          <a:p>
            <a:pPr indent="0" marL="0">
              <a:lnSpc>
                <a:spcPct val="92000"/>
              </a:lnSpc>
              <a:buNone/>
            </a:pPr>
            <a:r>
              <a:rPr lang="en-US" sz="1000" dirty="0">
                <a:solidFill>
                  <a:srgbClr val="5C6B64"/>
                </a:solidFill>
              </a:rPr>
              <a:t>Would add a containment boundary and a sandboxed compute tool.</a:t>
            </a:r>
            <a:endParaRPr lang="en-US" sz="1100" dirty="0"/>
          </a:p>
        </p:txBody>
      </p:sp>
      <p:sp>
        <p:nvSpPr>
          <p:cNvPr id="45" name="Text 43"/>
          <p:cNvSpPr txBox="1"/>
          <p:nvPr/>
        </p:nvSpPr>
        <p:spPr>
          <a:xfrm>
            <a:off x="9768535" y="5550408"/>
            <a:ext cx="1810512" cy="548640"/>
          </a:xfrm>
          <a:prstGeom prst="rect">
            <a:avLst/>
          </a:prstGeom>
          <a:noFill/>
          <a:ln/>
        </p:spPr>
        <p:txBody>
          <a:bodyPr wrap="square" lIns="0" tIns="0" rIns="0" bIns="0" rtlCol="0" anchor="ctr"/>
          <a:lstStyle/>
          <a:p>
            <a:pPr algn="r" indent="0" marL="0">
              <a:buNone/>
            </a:pPr>
            <a:r>
              <a:rPr lang="en-US" sz="1000" b="1" dirty="0">
                <a:solidFill>
                  <a:srgbClr val="C1562A"/>
                </a:solidFill>
              </a:rPr>
              <a:t>BLOCKED — platform fault</a:t>
            </a:r>
            <a:endParaRPr lang="en-US" sz="1000" dirty="0"/>
          </a:p>
        </p:txBody>
      </p:sp>
      <p:sp>
        <p:nvSpPr>
          <p:cNvPr id="46" name="Text 44"/>
          <p:cNvSpPr txBox="1"/>
          <p:nvPr/>
        </p:nvSpPr>
        <p:spPr>
          <a:xfrm>
            <a:off x="502920" y="6089904"/>
            <a:ext cx="11185855" cy="310896"/>
          </a:xfrm>
          <a:prstGeom prst="rect">
            <a:avLst/>
          </a:prstGeom>
          <a:noFill/>
          <a:ln/>
        </p:spPr>
        <p:txBody>
          <a:bodyPr wrap="square" lIns="0" tIns="0" rIns="0" bIns="0" rtlCol="0" anchor="ctr"/>
          <a:lstStyle/>
          <a:p>
            <a:pPr indent="0" marL="0">
              <a:buNone/>
            </a:pPr>
            <a:r>
              <a:rPr lang="en-US" sz="1000" i="1" dirty="0">
                <a:solidFill>
                  <a:srgbClr val="5C6B64"/>
                </a:solidFill>
              </a:rPr>
              <a:t>The blocked row costs the containment boundary and a sandboxed compute tool. It is not in the answer path: the agent the console and the API call is this project's own router, and nothing in it executes untrusted code.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Deployment</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One Brev L40S. All three NIMs co-reside in roughly 40 GB of the 48 — which is why escalation leaves the box</a:t>
            </a:r>
            <a:endParaRPr lang="en-US" sz="1150" dirty="0"/>
          </a:p>
        </p:txBody>
      </p:sp>
      <p:sp>
        <p:nvSpPr>
          <p:cNvPr id="4" name="Shape 2"/>
          <p:cNvSpPr/>
          <p:nvPr/>
        </p:nvSpPr>
        <p:spPr>
          <a:xfrm>
            <a:off x="502920" y="1115568"/>
            <a:ext cx="11185855" cy="274320"/>
          </a:xfrm>
          <a:prstGeom prst="rect">
            <a:avLst/>
          </a:prstGeom>
          <a:solidFill>
            <a:srgbClr val="14302A"/>
          </a:solidFill>
          <a:ln w="12700">
            <a:solidFill>
              <a:srgbClr val="14302A"/>
            </a:solidFill>
            <a:prstDash val="solid"/>
          </a:ln>
        </p:spPr>
      </p:sp>
      <p:sp>
        <p:nvSpPr>
          <p:cNvPr id="5" name="Text 3"/>
          <p:cNvSpPr txBox="1"/>
          <p:nvPr/>
        </p:nvSpPr>
        <p:spPr>
          <a:xfrm>
            <a:off x="612648" y="1115568"/>
            <a:ext cx="10966399"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rPr>
              <a:t>NVIDIA BREV · L40S 48 GB</a:t>
            </a:r>
            <a:endParaRPr lang="en-US" sz="1100" dirty="0"/>
          </a:p>
        </p:txBody>
      </p:sp>
      <p:sp>
        <p:nvSpPr>
          <p:cNvPr id="6" name="Shape 4"/>
          <p:cNvSpPr/>
          <p:nvPr/>
        </p:nvSpPr>
        <p:spPr>
          <a:xfrm>
            <a:off x="502920" y="1536192"/>
            <a:ext cx="11185855" cy="219456"/>
          </a:xfrm>
          <a:prstGeom prst="rect">
            <a:avLst/>
          </a:prstGeom>
          <a:solidFill>
            <a:srgbClr val="1E4035"/>
          </a:solidFill>
          <a:ln w="12700">
            <a:solidFill>
              <a:srgbClr val="1E4035"/>
            </a:solidFill>
            <a:prstDash val="solid"/>
          </a:ln>
        </p:spPr>
      </p:sp>
      <p:sp>
        <p:nvSpPr>
          <p:cNvPr id="7" name="Text 5"/>
          <p:cNvSpPr txBox="1"/>
          <p:nvPr/>
        </p:nvSpPr>
        <p:spPr>
          <a:xfrm>
            <a:off x="612648" y="1536192"/>
            <a:ext cx="10966399" cy="219456"/>
          </a:xfrm>
          <a:prstGeom prst="rect">
            <a:avLst/>
          </a:prstGeom>
          <a:noFill/>
          <a:ln/>
        </p:spPr>
        <p:txBody>
          <a:bodyPr wrap="square" lIns="0" tIns="0" rIns="0" bIns="0" rtlCol="0" anchor="ctr"/>
          <a:lstStyle/>
          <a:p>
            <a:pPr algn="l" indent="0" marL="0">
              <a:buNone/>
            </a:pPr>
            <a:r>
              <a:rPr lang="en-US" sz="1050" b="1" spc="60" kern="0" dirty="0">
                <a:solidFill>
                  <a:srgbClr val="FFFFFF"/>
                </a:solidFill>
              </a:rPr>
              <a:t>GPU — served models</a:t>
            </a:r>
            <a:endParaRPr lang="en-US" sz="1050" dirty="0"/>
          </a:p>
        </p:txBody>
      </p:sp>
      <p:sp>
        <p:nvSpPr>
          <p:cNvPr id="8" name="card-LLM NIM · :8000"/>
          <p:cNvSpPr/>
          <p:nvPr/>
        </p:nvSpPr>
        <p:spPr>
          <a:xfrm>
            <a:off x="502920" y="1810512"/>
            <a:ext cx="2727884" cy="713232"/>
          </a:xfrm>
          <a:prstGeom prst="rect">
            <a:avLst/>
          </a:prstGeom>
          <a:solidFill>
            <a:srgbClr val="5B8C3A"/>
          </a:solidFill>
          <a:ln w="19050">
            <a:solidFill>
              <a:srgbClr val="446B29"/>
            </a:solidFill>
            <a:prstDash val="solid"/>
          </a:ln>
        </p:spPr>
      </p:sp>
      <p:sp>
        <p:nvSpPr>
          <p:cNvPr id="9" name="Text 7"/>
          <p:cNvSpPr txBox="1"/>
          <p:nvPr/>
        </p:nvSpPr>
        <p:spPr>
          <a:xfrm>
            <a:off x="566928" y="1847088"/>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FFFFFF"/>
                </a:solidFill>
              </a:rPr>
              <a:t>LLM NIM · :8000</a:t>
            </a:r>
            <a:endParaRPr lang="en-US" sz="1100" dirty="0"/>
          </a:p>
          <a:p>
            <a:pPr algn="l" indent="0" marL="0">
              <a:lnSpc>
                <a:spcPct val="92000"/>
              </a:lnSpc>
              <a:buNone/>
            </a:pPr>
            <a:r>
              <a:rPr lang="en-US" sz="1000" dirty="0">
                <a:solidFill>
                  <a:srgbClr val="DCE8CF"/>
                </a:solidFill>
              </a:rPr>
              <a:t>Nemotron Nano 8B · about 22.5 GB</a:t>
            </a:r>
            <a:endParaRPr lang="en-US" sz="1100" dirty="0"/>
          </a:p>
        </p:txBody>
      </p:sp>
      <p:sp>
        <p:nvSpPr>
          <p:cNvPr id="10" name="card-Embedding NIM · :8"/>
          <p:cNvSpPr/>
          <p:nvPr/>
        </p:nvSpPr>
        <p:spPr>
          <a:xfrm>
            <a:off x="3322244" y="1810512"/>
            <a:ext cx="2727884" cy="713232"/>
          </a:xfrm>
          <a:prstGeom prst="rect">
            <a:avLst/>
          </a:prstGeom>
          <a:solidFill>
            <a:srgbClr val="5B8C3A"/>
          </a:solidFill>
          <a:ln w="19050">
            <a:solidFill>
              <a:srgbClr val="446B29"/>
            </a:solidFill>
            <a:prstDash val="solid"/>
          </a:ln>
        </p:spPr>
      </p:sp>
      <p:sp>
        <p:nvSpPr>
          <p:cNvPr id="11" name="Text 9"/>
          <p:cNvSpPr txBox="1"/>
          <p:nvPr/>
        </p:nvSpPr>
        <p:spPr>
          <a:xfrm>
            <a:off x="3386252" y="1847088"/>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FFFFFF"/>
                </a:solidFill>
              </a:rPr>
              <a:t>Embedding NIM · :8001</a:t>
            </a:r>
            <a:endParaRPr lang="en-US" sz="1100" dirty="0"/>
          </a:p>
          <a:p>
            <a:pPr algn="l" indent="0" marL="0">
              <a:lnSpc>
                <a:spcPct val="92000"/>
              </a:lnSpc>
              <a:buNone/>
            </a:pPr>
            <a:r>
              <a:rPr lang="en-US" sz="1000" dirty="0">
                <a:solidFill>
                  <a:srgbClr val="DCE8CF"/>
                </a:solidFill>
              </a:rPr>
              <a:t>NV-EmbedQA E5 v5 · 1024 dimensions</a:t>
            </a:r>
            <a:endParaRPr lang="en-US" sz="1100" dirty="0"/>
          </a:p>
        </p:txBody>
      </p:sp>
      <p:sp>
        <p:nvSpPr>
          <p:cNvPr id="12" name="card-Reranking NIM · :8"/>
          <p:cNvSpPr/>
          <p:nvPr/>
        </p:nvSpPr>
        <p:spPr>
          <a:xfrm>
            <a:off x="6141568" y="1810512"/>
            <a:ext cx="2727884" cy="713232"/>
          </a:xfrm>
          <a:prstGeom prst="rect">
            <a:avLst/>
          </a:prstGeom>
          <a:solidFill>
            <a:srgbClr val="5B8C3A"/>
          </a:solidFill>
          <a:ln w="19050">
            <a:solidFill>
              <a:srgbClr val="446B29"/>
            </a:solidFill>
            <a:prstDash val="solid"/>
          </a:ln>
        </p:spPr>
      </p:sp>
      <p:sp>
        <p:nvSpPr>
          <p:cNvPr id="13" name="Text 11"/>
          <p:cNvSpPr txBox="1"/>
          <p:nvPr/>
        </p:nvSpPr>
        <p:spPr>
          <a:xfrm>
            <a:off x="6205576" y="1847088"/>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FFFFFF"/>
                </a:solidFill>
              </a:rPr>
              <a:t>Reranking NIM · :8002</a:t>
            </a:r>
            <a:endParaRPr lang="en-US" sz="1100" dirty="0"/>
          </a:p>
          <a:p>
            <a:pPr algn="l" indent="0" marL="0">
              <a:lnSpc>
                <a:spcPct val="92000"/>
              </a:lnSpc>
              <a:buNone/>
            </a:pPr>
            <a:r>
              <a:rPr lang="en-US" sz="1000" dirty="0">
                <a:solidFill>
                  <a:srgbClr val="DCE8CF"/>
                </a:solidFill>
              </a:rPr>
              <a:t>NV-RerankQA 4B · no hosted equivalent</a:t>
            </a:r>
            <a:endParaRPr lang="en-US" sz="1100" dirty="0"/>
          </a:p>
        </p:txBody>
      </p:sp>
      <p:sp>
        <p:nvSpPr>
          <p:cNvPr id="14" name="card-DCGM exporter · :9"/>
          <p:cNvSpPr/>
          <p:nvPr/>
        </p:nvSpPr>
        <p:spPr>
          <a:xfrm>
            <a:off x="8960891" y="1810512"/>
            <a:ext cx="2727884" cy="713232"/>
          </a:xfrm>
          <a:prstGeom prst="rect">
            <a:avLst/>
          </a:prstGeom>
          <a:solidFill>
            <a:srgbClr val="5B8C3A"/>
          </a:solidFill>
          <a:ln w="19050">
            <a:solidFill>
              <a:srgbClr val="446B29"/>
            </a:solidFill>
            <a:prstDash val="solid"/>
          </a:ln>
        </p:spPr>
      </p:sp>
      <p:sp>
        <p:nvSpPr>
          <p:cNvPr id="15" name="Text 13"/>
          <p:cNvSpPr txBox="1"/>
          <p:nvPr/>
        </p:nvSpPr>
        <p:spPr>
          <a:xfrm>
            <a:off x="9024899" y="1847088"/>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FFFFFF"/>
                </a:solidFill>
              </a:rPr>
              <a:t>DCGM exporter · :9401</a:t>
            </a:r>
            <a:endParaRPr lang="en-US" sz="1100" dirty="0"/>
          </a:p>
          <a:p>
            <a:pPr algn="l" indent="0" marL="0">
              <a:lnSpc>
                <a:spcPct val="92000"/>
              </a:lnSpc>
              <a:buNone/>
            </a:pPr>
            <a:r>
              <a:rPr lang="en-US" sz="1000" dirty="0">
                <a:solidFill>
                  <a:srgbClr val="DCE8CF"/>
                </a:solidFill>
              </a:rPr>
              <a:t>19 GPU series, scraped every 10s</a:t>
            </a:r>
            <a:endParaRPr lang="en-US" sz="1100" dirty="0"/>
          </a:p>
        </p:txBody>
      </p:sp>
      <p:sp>
        <p:nvSpPr>
          <p:cNvPr id="16" name="Shape 14"/>
          <p:cNvSpPr/>
          <p:nvPr/>
        </p:nvSpPr>
        <p:spPr>
          <a:xfrm>
            <a:off x="502920" y="2688336"/>
            <a:ext cx="11185855" cy="219456"/>
          </a:xfrm>
          <a:prstGeom prst="rect">
            <a:avLst/>
          </a:prstGeom>
          <a:solidFill>
            <a:srgbClr val="1E4035"/>
          </a:solidFill>
          <a:ln w="12700">
            <a:solidFill>
              <a:srgbClr val="1E4035"/>
            </a:solidFill>
            <a:prstDash val="solid"/>
          </a:ln>
        </p:spPr>
      </p:sp>
      <p:sp>
        <p:nvSpPr>
          <p:cNvPr id="17" name="Text 15"/>
          <p:cNvSpPr txBox="1"/>
          <p:nvPr/>
        </p:nvSpPr>
        <p:spPr>
          <a:xfrm>
            <a:off x="612648" y="2688336"/>
            <a:ext cx="10966399" cy="219456"/>
          </a:xfrm>
          <a:prstGeom prst="rect">
            <a:avLst/>
          </a:prstGeom>
          <a:noFill/>
          <a:ln/>
        </p:spPr>
        <p:txBody>
          <a:bodyPr wrap="square" lIns="0" tIns="0" rIns="0" bIns="0" rtlCol="0" anchor="ctr"/>
          <a:lstStyle/>
          <a:p>
            <a:pPr algn="l" indent="0" marL="0">
              <a:buNone/>
            </a:pPr>
            <a:r>
              <a:rPr lang="en-US" sz="1050" b="1" spc="60" kern="0" dirty="0">
                <a:solidFill>
                  <a:srgbClr val="FFFFFF"/>
                </a:solidFill>
              </a:rPr>
              <a:t>Datastores</a:t>
            </a:r>
            <a:endParaRPr lang="en-US" sz="1050" dirty="0"/>
          </a:p>
        </p:txBody>
      </p:sp>
      <p:sp>
        <p:nvSpPr>
          <p:cNvPr id="18" name="card-Milvus · :19530"/>
          <p:cNvSpPr/>
          <p:nvPr/>
        </p:nvSpPr>
        <p:spPr>
          <a:xfrm>
            <a:off x="502920" y="2962656"/>
            <a:ext cx="2727884" cy="713232"/>
          </a:xfrm>
          <a:prstGeom prst="rect">
            <a:avLst/>
          </a:prstGeom>
          <a:solidFill>
            <a:srgbClr val="FFFFFF"/>
          </a:solidFill>
          <a:ln w="12700">
            <a:solidFill>
              <a:srgbClr val="C3CCC0"/>
            </a:solidFill>
            <a:prstDash val="solid"/>
          </a:ln>
        </p:spPr>
      </p:sp>
      <p:sp>
        <p:nvSpPr>
          <p:cNvPr id="19" name="Text 17"/>
          <p:cNvSpPr txBox="1"/>
          <p:nvPr/>
        </p:nvSpPr>
        <p:spPr>
          <a:xfrm>
            <a:off x="566928" y="2999232"/>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Milvus · :19530</a:t>
            </a:r>
            <a:endParaRPr lang="en-US" sz="1100" dirty="0"/>
          </a:p>
          <a:p>
            <a:pPr algn="l" indent="0" marL="0">
              <a:lnSpc>
                <a:spcPct val="92000"/>
              </a:lnSpc>
              <a:buNone/>
            </a:pPr>
            <a:r>
              <a:rPr lang="en-US" sz="1000" dirty="0">
                <a:solidFill>
                  <a:srgbClr val="5C6B64"/>
                </a:solidFill>
              </a:rPr>
              <a:t>the vector store; metrics on :9091</a:t>
            </a:r>
            <a:endParaRPr lang="en-US" sz="1100" dirty="0"/>
          </a:p>
        </p:txBody>
      </p:sp>
      <p:sp>
        <p:nvSpPr>
          <p:cNvPr id="20" name="card-SQLite"/>
          <p:cNvSpPr/>
          <p:nvPr/>
        </p:nvSpPr>
        <p:spPr>
          <a:xfrm>
            <a:off x="3322244" y="2962656"/>
            <a:ext cx="2727884" cy="713232"/>
          </a:xfrm>
          <a:prstGeom prst="rect">
            <a:avLst/>
          </a:prstGeom>
          <a:solidFill>
            <a:srgbClr val="FFFFFF"/>
          </a:solidFill>
          <a:ln w="12700">
            <a:solidFill>
              <a:srgbClr val="C3CCC0"/>
            </a:solidFill>
            <a:prstDash val="solid"/>
          </a:ln>
        </p:spPr>
      </p:sp>
      <p:sp>
        <p:nvSpPr>
          <p:cNvPr id="21" name="Text 19"/>
          <p:cNvSpPr txBox="1"/>
          <p:nvPr/>
        </p:nvSpPr>
        <p:spPr>
          <a:xfrm>
            <a:off x="3386252" y="2999232"/>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SQLite</a:t>
            </a:r>
            <a:endParaRPr lang="en-US" sz="1100" dirty="0"/>
          </a:p>
          <a:p>
            <a:pPr algn="l" indent="0" marL="0">
              <a:lnSpc>
                <a:spcPct val="92000"/>
              </a:lnSpc>
              <a:buNone/>
            </a:pPr>
            <a:r>
              <a:rPr lang="en-US" sz="1000" dirty="0">
                <a:solidFill>
                  <a:srgbClr val="5C6B64"/>
                </a:solidFill>
              </a:rPr>
              <a:t>system of record; every app read is read-only</a:t>
            </a:r>
            <a:endParaRPr lang="en-US" sz="1100" dirty="0"/>
          </a:p>
        </p:txBody>
      </p:sp>
      <p:sp>
        <p:nvSpPr>
          <p:cNvPr id="22" name="card-An unused embedded"/>
          <p:cNvSpPr/>
          <p:nvPr/>
        </p:nvSpPr>
        <p:spPr>
          <a:xfrm>
            <a:off x="6141568" y="2962656"/>
            <a:ext cx="2727884" cy="713232"/>
          </a:xfrm>
          <a:prstGeom prst="rect">
            <a:avLst/>
          </a:prstGeom>
          <a:solidFill>
            <a:srgbClr val="FFFFFF"/>
          </a:solidFill>
          <a:ln w="12700">
            <a:solidFill>
              <a:srgbClr val="C3CCC0"/>
            </a:solidFill>
            <a:prstDash val="solid"/>
          </a:ln>
        </p:spPr>
      </p:sp>
      <p:sp>
        <p:nvSpPr>
          <p:cNvPr id="23" name="Text 21"/>
          <p:cNvSpPr txBox="1"/>
          <p:nvPr/>
        </p:nvSpPr>
        <p:spPr>
          <a:xfrm>
            <a:off x="6205576" y="2999232"/>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An unused embedded store</a:t>
            </a:r>
            <a:endParaRPr lang="en-US" sz="1100" dirty="0"/>
          </a:p>
          <a:p>
            <a:pPr algn="l" indent="0" marL="0">
              <a:lnSpc>
                <a:spcPct val="92000"/>
              </a:lnSpc>
              <a:buNone/>
            </a:pPr>
            <a:r>
              <a:rPr lang="en-US" sz="1000" dirty="0">
                <a:solidFill>
                  <a:srgbClr val="5C6B64"/>
                </a:solidFill>
              </a:rPr>
              <a:t>present and NOT in use — the startup report names it</a:t>
            </a:r>
            <a:endParaRPr lang="en-US" sz="1100" dirty="0"/>
          </a:p>
        </p:txBody>
      </p:sp>
      <p:sp>
        <p:nvSpPr>
          <p:cNvPr id="24" name="card-Named volumes"/>
          <p:cNvSpPr/>
          <p:nvPr/>
        </p:nvSpPr>
        <p:spPr>
          <a:xfrm>
            <a:off x="8960891" y="2962656"/>
            <a:ext cx="2727884" cy="713232"/>
          </a:xfrm>
          <a:prstGeom prst="rect">
            <a:avLst/>
          </a:prstGeom>
          <a:solidFill>
            <a:srgbClr val="FFFFFF"/>
          </a:solidFill>
          <a:ln w="12700">
            <a:solidFill>
              <a:srgbClr val="C3CCC0"/>
            </a:solidFill>
            <a:prstDash val="solid"/>
          </a:ln>
        </p:spPr>
      </p:sp>
      <p:sp>
        <p:nvSpPr>
          <p:cNvPr id="25" name="Text 23"/>
          <p:cNvSpPr txBox="1"/>
          <p:nvPr/>
        </p:nvSpPr>
        <p:spPr>
          <a:xfrm>
            <a:off x="9024899" y="2999232"/>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Named volumes</a:t>
            </a:r>
            <a:endParaRPr lang="en-US" sz="1100" dirty="0"/>
          </a:p>
          <a:p>
            <a:pPr algn="l" indent="0" marL="0">
              <a:lnSpc>
                <a:spcPct val="92000"/>
              </a:lnSpc>
              <a:buNone/>
            </a:pPr>
            <a:r>
              <a:rPr lang="en-US" sz="1000" dirty="0">
                <a:solidFill>
                  <a:srgbClr val="5C6B64"/>
                </a:solidFill>
              </a:rPr>
              <a:t>Prometheus retention survives a recreate</a:t>
            </a:r>
            <a:endParaRPr lang="en-US" sz="1100" dirty="0"/>
          </a:p>
        </p:txBody>
      </p:sp>
      <p:sp>
        <p:nvSpPr>
          <p:cNvPr id="26" name="Shape 24"/>
          <p:cNvSpPr/>
          <p:nvPr/>
        </p:nvSpPr>
        <p:spPr>
          <a:xfrm>
            <a:off x="502920" y="3840480"/>
            <a:ext cx="11185855" cy="219456"/>
          </a:xfrm>
          <a:prstGeom prst="rect">
            <a:avLst/>
          </a:prstGeom>
          <a:solidFill>
            <a:srgbClr val="1E4035"/>
          </a:solidFill>
          <a:ln w="12700">
            <a:solidFill>
              <a:srgbClr val="1E4035"/>
            </a:solidFill>
            <a:prstDash val="solid"/>
          </a:ln>
        </p:spPr>
      </p:sp>
      <p:sp>
        <p:nvSpPr>
          <p:cNvPr id="27" name="Text 25"/>
          <p:cNvSpPr txBox="1"/>
          <p:nvPr/>
        </p:nvSpPr>
        <p:spPr>
          <a:xfrm>
            <a:off x="612648" y="3840480"/>
            <a:ext cx="10966399" cy="219456"/>
          </a:xfrm>
          <a:prstGeom prst="rect">
            <a:avLst/>
          </a:prstGeom>
          <a:noFill/>
          <a:ln/>
        </p:spPr>
        <p:txBody>
          <a:bodyPr wrap="square" lIns="0" tIns="0" rIns="0" bIns="0" rtlCol="0" anchor="ctr"/>
          <a:lstStyle/>
          <a:p>
            <a:pPr algn="l" indent="0" marL="0">
              <a:buNone/>
            </a:pPr>
            <a:r>
              <a:rPr lang="en-US" sz="1050" b="1" spc="60" kern="0" dirty="0">
                <a:solidFill>
                  <a:srgbClr val="FFFFFF"/>
                </a:solidFill>
              </a:rPr>
              <a:t>Application and operator surfaces</a:t>
            </a:r>
            <a:endParaRPr lang="en-US" sz="1050" dirty="0"/>
          </a:p>
        </p:txBody>
      </p:sp>
      <p:sp>
        <p:nvSpPr>
          <p:cNvPr id="28" name="card-HTTP API · :8080"/>
          <p:cNvSpPr/>
          <p:nvPr/>
        </p:nvSpPr>
        <p:spPr>
          <a:xfrm>
            <a:off x="502920" y="4114800"/>
            <a:ext cx="2727884" cy="713232"/>
          </a:xfrm>
          <a:prstGeom prst="rect">
            <a:avLst/>
          </a:prstGeom>
          <a:solidFill>
            <a:srgbClr val="FFFFFF"/>
          </a:solidFill>
          <a:ln w="12700">
            <a:solidFill>
              <a:srgbClr val="C3CCC0"/>
            </a:solidFill>
            <a:prstDash val="solid"/>
          </a:ln>
        </p:spPr>
      </p:sp>
      <p:sp>
        <p:nvSpPr>
          <p:cNvPr id="29" name="Text 27"/>
          <p:cNvSpPr txBox="1"/>
          <p:nvPr/>
        </p:nvSpPr>
        <p:spPr>
          <a:xfrm>
            <a:off x="566928" y="4151376"/>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HTTP API · :8080</a:t>
            </a:r>
            <a:endParaRPr lang="en-US" sz="1100" dirty="0"/>
          </a:p>
          <a:p>
            <a:pPr algn="l" indent="0" marL="0">
              <a:lnSpc>
                <a:spcPct val="92000"/>
              </a:lnSpc>
              <a:buNone/>
            </a:pPr>
            <a:r>
              <a:rPr lang="en-US" sz="1000" dirty="0">
                <a:solidFill>
                  <a:srgbClr val="5C6B64"/>
                </a:solidFill>
              </a:rPr>
              <a:t>27 routes, OpenAPI at /docs</a:t>
            </a:r>
            <a:endParaRPr lang="en-US" sz="1100" dirty="0"/>
          </a:p>
        </p:txBody>
      </p:sp>
      <p:sp>
        <p:nvSpPr>
          <p:cNvPr id="30" name="card-Console · :7860"/>
          <p:cNvSpPr/>
          <p:nvPr/>
        </p:nvSpPr>
        <p:spPr>
          <a:xfrm>
            <a:off x="3322244" y="4114800"/>
            <a:ext cx="2727884" cy="713232"/>
          </a:xfrm>
          <a:prstGeom prst="rect">
            <a:avLst/>
          </a:prstGeom>
          <a:solidFill>
            <a:srgbClr val="FFFFFF"/>
          </a:solidFill>
          <a:ln w="12700">
            <a:solidFill>
              <a:srgbClr val="C3CCC0"/>
            </a:solidFill>
            <a:prstDash val="solid"/>
          </a:ln>
        </p:spPr>
      </p:sp>
      <p:sp>
        <p:nvSpPr>
          <p:cNvPr id="31" name="Text 29"/>
          <p:cNvSpPr txBox="1"/>
          <p:nvPr/>
        </p:nvSpPr>
        <p:spPr>
          <a:xfrm>
            <a:off x="3386252" y="4151376"/>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Console · :7860</a:t>
            </a:r>
            <a:endParaRPr lang="en-US" sz="1100" dirty="0"/>
          </a:p>
          <a:p>
            <a:pPr algn="l" indent="0" marL="0">
              <a:lnSpc>
                <a:spcPct val="92000"/>
              </a:lnSpc>
              <a:buNone/>
            </a:pPr>
            <a:r>
              <a:rPr lang="en-US" sz="1000" dirty="0">
                <a:solidFill>
                  <a:srgbClr val="5C6B64"/>
                </a:solidFill>
              </a:rPr>
              <a:t>6 tabs, optional public link</a:t>
            </a:r>
            <a:endParaRPr lang="en-US" sz="1100" dirty="0"/>
          </a:p>
        </p:txBody>
      </p:sp>
      <p:sp>
        <p:nvSpPr>
          <p:cNvPr id="32" name="card-Metrics · :9400"/>
          <p:cNvSpPr/>
          <p:nvPr/>
        </p:nvSpPr>
        <p:spPr>
          <a:xfrm>
            <a:off x="6141568" y="4114800"/>
            <a:ext cx="2727884" cy="713232"/>
          </a:xfrm>
          <a:prstGeom prst="rect">
            <a:avLst/>
          </a:prstGeom>
          <a:solidFill>
            <a:srgbClr val="FFFFFF"/>
          </a:solidFill>
          <a:ln w="12700">
            <a:solidFill>
              <a:srgbClr val="C3CCC0"/>
            </a:solidFill>
            <a:prstDash val="solid"/>
          </a:ln>
        </p:spPr>
      </p:sp>
      <p:sp>
        <p:nvSpPr>
          <p:cNvPr id="33" name="Text 31"/>
          <p:cNvSpPr txBox="1"/>
          <p:nvPr/>
        </p:nvSpPr>
        <p:spPr>
          <a:xfrm>
            <a:off x="6205576" y="4151376"/>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Metrics · :9400</a:t>
            </a:r>
            <a:endParaRPr lang="en-US" sz="1100" dirty="0"/>
          </a:p>
          <a:p>
            <a:pPr algn="l" indent="0" marL="0">
              <a:lnSpc>
                <a:spcPct val="92000"/>
              </a:lnSpc>
              <a:buNone/>
            </a:pPr>
            <a:r>
              <a:rPr lang="en-US" sz="1000" dirty="0">
                <a:solidFill>
                  <a:srgbClr val="5C6B64"/>
                </a:solidFill>
              </a:rPr>
              <a:t>separate from the API port</a:t>
            </a:r>
            <a:endParaRPr lang="en-US" sz="1100" dirty="0"/>
          </a:p>
        </p:txBody>
      </p:sp>
      <p:sp>
        <p:nvSpPr>
          <p:cNvPr id="34" name="card-Operator UIs"/>
          <p:cNvSpPr/>
          <p:nvPr/>
        </p:nvSpPr>
        <p:spPr>
          <a:xfrm>
            <a:off x="8960891" y="4114800"/>
            <a:ext cx="2727884" cy="713232"/>
          </a:xfrm>
          <a:prstGeom prst="rect">
            <a:avLst/>
          </a:prstGeom>
          <a:solidFill>
            <a:srgbClr val="FFFFFF"/>
          </a:solidFill>
          <a:ln w="12700">
            <a:solidFill>
              <a:srgbClr val="C3CCC0"/>
            </a:solidFill>
            <a:prstDash val="solid"/>
          </a:ln>
        </p:spPr>
      </p:sp>
      <p:sp>
        <p:nvSpPr>
          <p:cNvPr id="35" name="Text 33"/>
          <p:cNvSpPr txBox="1"/>
          <p:nvPr/>
        </p:nvSpPr>
        <p:spPr>
          <a:xfrm>
            <a:off x="9024899" y="4151376"/>
            <a:ext cx="2599868"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Operator UIs</a:t>
            </a:r>
            <a:endParaRPr lang="en-US" sz="1100" dirty="0"/>
          </a:p>
          <a:p>
            <a:pPr algn="l" indent="0" marL="0">
              <a:lnSpc>
                <a:spcPct val="92000"/>
              </a:lnSpc>
              <a:buNone/>
            </a:pPr>
            <a:r>
              <a:rPr lang="en-US" sz="1000" dirty="0">
                <a:solidFill>
                  <a:srgbClr val="5C6B64"/>
                </a:solidFill>
              </a:rPr>
              <a:t>Prometheus :9090 · Grafana :3000 · Attu :8101 · sqlite-web :8102 — loopback only</a:t>
            </a:r>
            <a:endParaRPr lang="en-US" sz="1100" dirty="0"/>
          </a:p>
        </p:txBody>
      </p:sp>
      <p:sp>
        <p:nvSpPr>
          <p:cNvPr id="36" name="card-What is reachable "/>
          <p:cNvSpPr/>
          <p:nvPr/>
        </p:nvSpPr>
        <p:spPr>
          <a:xfrm>
            <a:off x="502920" y="5047488"/>
            <a:ext cx="11185855" cy="713232"/>
          </a:xfrm>
          <a:prstGeom prst="rect">
            <a:avLst/>
          </a:prstGeom>
          <a:solidFill>
            <a:srgbClr val="FFFFFF"/>
          </a:solidFill>
          <a:ln w="12700">
            <a:solidFill>
              <a:srgbClr val="C3CCC0"/>
            </a:solidFill>
            <a:prstDash val="solid"/>
          </a:ln>
        </p:spPr>
      </p:sp>
      <p:sp>
        <p:nvSpPr>
          <p:cNvPr id="37" name="Text 35"/>
          <p:cNvSpPr txBox="1"/>
          <p:nvPr/>
        </p:nvSpPr>
        <p:spPr>
          <a:xfrm>
            <a:off x="566928" y="5084064"/>
            <a:ext cx="11057839" cy="640080"/>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What is reachable from outside the box</a:t>
            </a:r>
            <a:endParaRPr lang="en-US" sz="1100" dirty="0"/>
          </a:p>
          <a:p>
            <a:pPr algn="l" indent="0" marL="0">
              <a:lnSpc>
                <a:spcPct val="92000"/>
              </a:lnSpc>
              <a:buNone/>
            </a:pPr>
            <a:r>
              <a:rPr lang="en-US" sz="1000" dirty="0">
                <a:solidFill>
                  <a:srgbClr val="5C6B64"/>
                </a:solidFill>
              </a:rPr>
              <a:t>The optional public console link, and nothing else. The API, the vector store, Grafana, Prometheus and both store browsers are not exposed beyond the instance. The API key lives in an ignored environment file, is never committed and is never printed.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Data model</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SQLite is the system of record; the vector store is derived from it and can always be rebuilt</a:t>
            </a:r>
            <a:endParaRPr lang="en-US" sz="1150" dirty="0"/>
          </a:p>
        </p:txBody>
      </p:sp>
      <p:sp>
        <p:nvSpPr>
          <p:cNvPr id="4" name="Shape 2"/>
          <p:cNvSpPr/>
          <p:nvPr/>
        </p:nvSpPr>
        <p:spPr>
          <a:xfrm>
            <a:off x="502920" y="1115568"/>
            <a:ext cx="7406640" cy="237744"/>
          </a:xfrm>
          <a:prstGeom prst="rect">
            <a:avLst/>
          </a:prstGeom>
          <a:solidFill>
            <a:srgbClr val="1E4035"/>
          </a:solidFill>
          <a:ln w="12700">
            <a:solidFill>
              <a:srgbClr val="1E4035"/>
            </a:solidFill>
            <a:prstDash val="solid"/>
          </a:ln>
        </p:spPr>
      </p:sp>
      <p:sp>
        <p:nvSpPr>
          <p:cNvPr id="5" name="Text 3"/>
          <p:cNvSpPr txBox="1"/>
          <p:nvPr/>
        </p:nvSpPr>
        <p:spPr>
          <a:xfrm>
            <a:off x="612648" y="1115568"/>
            <a:ext cx="7187184" cy="237744"/>
          </a:xfrm>
          <a:prstGeom prst="rect">
            <a:avLst/>
          </a:prstGeom>
          <a:noFill/>
          <a:ln/>
        </p:spPr>
        <p:txBody>
          <a:bodyPr wrap="square" lIns="0" tIns="0" rIns="0" bIns="0" rtlCol="0" anchor="ctr"/>
          <a:lstStyle/>
          <a:p>
            <a:pPr algn="l" indent="0" marL="0">
              <a:buNone/>
            </a:pPr>
            <a:r>
              <a:rPr lang="en-US" sz="1100" b="1" spc="60" kern="0" dirty="0">
                <a:solidFill>
                  <a:srgbClr val="FFFFFF"/>
                </a:solidFill>
              </a:rPr>
              <a:t>SYSTEM OF RECORD</a:t>
            </a:r>
            <a:endParaRPr lang="en-US" sz="1100" dirty="0"/>
          </a:p>
        </p:txBody>
      </p:sp>
      <p:sp>
        <p:nvSpPr>
          <p:cNvPr id="6" name="Shape 4"/>
          <p:cNvSpPr/>
          <p:nvPr/>
        </p:nvSpPr>
        <p:spPr>
          <a:xfrm>
            <a:off x="8092440" y="1115568"/>
            <a:ext cx="3596335" cy="237744"/>
          </a:xfrm>
          <a:prstGeom prst="rect">
            <a:avLst/>
          </a:prstGeom>
          <a:solidFill>
            <a:srgbClr val="1E4035"/>
          </a:solidFill>
          <a:ln w="12700">
            <a:solidFill>
              <a:srgbClr val="1E4035"/>
            </a:solidFill>
            <a:prstDash val="solid"/>
          </a:ln>
        </p:spPr>
      </p:sp>
      <p:sp>
        <p:nvSpPr>
          <p:cNvPr id="7" name="Text 5"/>
          <p:cNvSpPr txBox="1"/>
          <p:nvPr/>
        </p:nvSpPr>
        <p:spPr>
          <a:xfrm>
            <a:off x="8202168" y="1115568"/>
            <a:ext cx="3376879" cy="237744"/>
          </a:xfrm>
          <a:prstGeom prst="rect">
            <a:avLst/>
          </a:prstGeom>
          <a:noFill/>
          <a:ln/>
        </p:spPr>
        <p:txBody>
          <a:bodyPr wrap="square" lIns="0" tIns="0" rIns="0" bIns="0" rtlCol="0" anchor="ctr"/>
          <a:lstStyle/>
          <a:p>
            <a:pPr algn="l" indent="0" marL="0">
              <a:buNone/>
            </a:pPr>
            <a:r>
              <a:rPr lang="en-US" sz="1100" b="1" spc="60" kern="0" dirty="0">
                <a:solidFill>
                  <a:srgbClr val="FFFFFF"/>
                </a:solidFill>
              </a:rPr>
              <a:t>DERIVED — rebuildable from the log</a:t>
            </a:r>
            <a:endParaRPr lang="en-US" sz="1100" dirty="0"/>
          </a:p>
        </p:txBody>
      </p:sp>
      <p:sp>
        <p:nvSpPr>
          <p:cNvPr id="8" name="tbl-ros"/>
          <p:cNvSpPr/>
          <p:nvPr/>
        </p:nvSpPr>
        <p:spPr>
          <a:xfrm>
            <a:off x="502920" y="1463040"/>
            <a:ext cx="2331720" cy="1828800"/>
          </a:xfrm>
          <a:prstGeom prst="rect">
            <a:avLst/>
          </a:prstGeom>
          <a:solidFill>
            <a:srgbClr val="FFFFFF"/>
          </a:solidFill>
          <a:ln w="12700">
            <a:solidFill>
              <a:srgbClr val="C3CCC0"/>
            </a:solidFill>
            <a:prstDash val="solid"/>
          </a:ln>
        </p:spPr>
      </p:sp>
      <p:sp>
        <p:nvSpPr>
          <p:cNvPr id="9" name="Text 7"/>
          <p:cNvSpPr txBox="1"/>
          <p:nvPr/>
        </p:nvSpPr>
        <p:spPr>
          <a:xfrm>
            <a:off x="612648" y="1508760"/>
            <a:ext cx="2112264" cy="310896"/>
          </a:xfrm>
          <a:prstGeom prst="rect">
            <a:avLst/>
          </a:prstGeom>
          <a:noFill/>
          <a:ln/>
        </p:spPr>
        <p:txBody>
          <a:bodyPr wrap="square" lIns="0" tIns="0" rIns="0" bIns="0" rtlCol="0" anchor="ctr"/>
          <a:lstStyle/>
          <a:p>
            <a:pPr indent="0" marL="0">
              <a:buNone/>
            </a:pPr>
            <a:r>
              <a:rPr lang="en-US" sz="1100" b="1" dirty="0">
                <a:solidFill>
                  <a:srgbClr val="14302A"/>
                </a:solidFill>
              </a:rPr>
              <a:t>ros</a:t>
            </a:r>
            <a:pPr indent="0" marL="0">
              <a:buNone/>
            </a:pPr>
            <a:r>
              <a:rPr lang="en-US" sz="1000" dirty="0">
                <a:solidFill>
                  <a:srgbClr val="5C6B64"/>
                </a:solidFill>
              </a:rPr>
              <a:t>   400</a:t>
            </a:r>
            <a:endParaRPr lang="en-US" sz="1100" dirty="0"/>
          </a:p>
        </p:txBody>
      </p:sp>
      <p:sp>
        <p:nvSpPr>
          <p:cNvPr id="10" name="Text 8"/>
          <p:cNvSpPr txBox="1"/>
          <p:nvPr/>
        </p:nvSpPr>
        <p:spPr>
          <a:xfrm>
            <a:off x="612648" y="1810512"/>
            <a:ext cx="2112264" cy="14081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ro_number  PK</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vin · registration</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make · model · year</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pay_type · wait_type</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promised_time</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advisor · primary_tech</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concern · category</a:t>
            </a:r>
            <a:endParaRPr lang="en-US" sz="1000" dirty="0"/>
          </a:p>
        </p:txBody>
      </p:sp>
      <p:sp>
        <p:nvSpPr>
          <p:cNvPr id="11" name="tbl-updates"/>
          <p:cNvSpPr/>
          <p:nvPr/>
        </p:nvSpPr>
        <p:spPr>
          <a:xfrm>
            <a:off x="3017520" y="1463040"/>
            <a:ext cx="2331720" cy="1828800"/>
          </a:xfrm>
          <a:prstGeom prst="rect">
            <a:avLst/>
          </a:prstGeom>
          <a:solidFill>
            <a:srgbClr val="FFFFFF"/>
          </a:solidFill>
          <a:ln w="12700">
            <a:solidFill>
              <a:srgbClr val="C3CCC0"/>
            </a:solidFill>
            <a:prstDash val="solid"/>
          </a:ln>
        </p:spPr>
      </p:sp>
      <p:sp>
        <p:nvSpPr>
          <p:cNvPr id="12" name="Text 10"/>
          <p:cNvSpPr txBox="1"/>
          <p:nvPr/>
        </p:nvSpPr>
        <p:spPr>
          <a:xfrm>
            <a:off x="3127248" y="1508760"/>
            <a:ext cx="2112264" cy="310896"/>
          </a:xfrm>
          <a:prstGeom prst="rect">
            <a:avLst/>
          </a:prstGeom>
          <a:noFill/>
          <a:ln/>
        </p:spPr>
        <p:txBody>
          <a:bodyPr wrap="square" lIns="0" tIns="0" rIns="0" bIns="0" rtlCol="0" anchor="ctr"/>
          <a:lstStyle/>
          <a:p>
            <a:pPr indent="0" marL="0">
              <a:buNone/>
            </a:pPr>
            <a:r>
              <a:rPr lang="en-US" sz="1100" b="1" dirty="0">
                <a:solidFill>
                  <a:srgbClr val="14302A"/>
                </a:solidFill>
              </a:rPr>
              <a:t>updates</a:t>
            </a:r>
            <a:pPr indent="0" marL="0">
              <a:buNone/>
            </a:pPr>
            <a:r>
              <a:rPr lang="en-US" sz="1000" dirty="0">
                <a:solidFill>
                  <a:srgbClr val="5C6B64"/>
                </a:solidFill>
              </a:rPr>
              <a:t>   1,949</a:t>
            </a:r>
            <a:endParaRPr lang="en-US" sz="1100" dirty="0"/>
          </a:p>
        </p:txBody>
      </p:sp>
      <p:sp>
        <p:nvSpPr>
          <p:cNvPr id="13" name="Text 11"/>
          <p:cNvSpPr txBox="1"/>
          <p:nvPr/>
        </p:nvSpPr>
        <p:spPr>
          <a:xfrm>
            <a:off x="3127248" y="1810512"/>
            <a:ext cx="2112264" cy="14081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update_id  PK</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ro_number → ros</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staff_id → staff</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at · shift</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text   (untrusted)</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ground_truth</a:t>
            </a:r>
            <a:endParaRPr lang="en-US" sz="1000" dirty="0"/>
          </a:p>
        </p:txBody>
      </p:sp>
      <p:sp>
        <p:nvSpPr>
          <p:cNvPr id="14" name="tbl-events"/>
          <p:cNvSpPr/>
          <p:nvPr/>
        </p:nvSpPr>
        <p:spPr>
          <a:xfrm>
            <a:off x="5532120" y="1463040"/>
            <a:ext cx="2377440" cy="1828800"/>
          </a:xfrm>
          <a:prstGeom prst="rect">
            <a:avLst/>
          </a:prstGeom>
          <a:solidFill>
            <a:srgbClr val="FFFFFF"/>
          </a:solidFill>
          <a:ln w="12700">
            <a:solidFill>
              <a:srgbClr val="C3CCC0"/>
            </a:solidFill>
            <a:prstDash val="solid"/>
          </a:ln>
        </p:spPr>
      </p:sp>
      <p:sp>
        <p:nvSpPr>
          <p:cNvPr id="15" name="Text 13"/>
          <p:cNvSpPr txBox="1"/>
          <p:nvPr/>
        </p:nvSpPr>
        <p:spPr>
          <a:xfrm>
            <a:off x="5641848" y="1508760"/>
            <a:ext cx="2157984" cy="310896"/>
          </a:xfrm>
          <a:prstGeom prst="rect">
            <a:avLst/>
          </a:prstGeom>
          <a:noFill/>
          <a:ln/>
        </p:spPr>
        <p:txBody>
          <a:bodyPr wrap="square" lIns="0" tIns="0" rIns="0" bIns="0" rtlCol="0" anchor="ctr"/>
          <a:lstStyle/>
          <a:p>
            <a:pPr indent="0" marL="0">
              <a:buNone/>
            </a:pPr>
            <a:r>
              <a:rPr lang="en-US" sz="1100" b="1" dirty="0">
                <a:solidFill>
                  <a:srgbClr val="14302A"/>
                </a:solidFill>
              </a:rPr>
              <a:t>events</a:t>
            </a:r>
            <a:pPr indent="0" marL="0">
              <a:buNone/>
            </a:pPr>
            <a:r>
              <a:rPr lang="en-US" sz="1000" dirty="0">
                <a:solidFill>
                  <a:srgbClr val="5C6B64"/>
                </a:solidFill>
              </a:rPr>
              <a:t>   10,927</a:t>
            </a:r>
            <a:endParaRPr lang="en-US" sz="1100" dirty="0"/>
          </a:p>
        </p:txBody>
      </p:sp>
      <p:sp>
        <p:nvSpPr>
          <p:cNvPr id="16" name="Text 14"/>
          <p:cNvSpPr txBox="1"/>
          <p:nvPr/>
        </p:nvSpPr>
        <p:spPr>
          <a:xfrm>
            <a:off x="5641848" y="1810512"/>
            <a:ext cx="2157984" cy="14081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event_id  PK</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ro_number → ros</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type · at</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actor_id → staff</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shift</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source_update_id</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payload  (json)</a:t>
            </a:r>
            <a:endParaRPr lang="en-US" sz="1000" dirty="0"/>
          </a:p>
        </p:txBody>
      </p:sp>
      <p:sp>
        <p:nvSpPr>
          <p:cNvPr id="17" name="tbl-staff"/>
          <p:cNvSpPr/>
          <p:nvPr/>
        </p:nvSpPr>
        <p:spPr>
          <a:xfrm>
            <a:off x="502920" y="3438144"/>
            <a:ext cx="2331720" cy="1371600"/>
          </a:xfrm>
          <a:prstGeom prst="rect">
            <a:avLst/>
          </a:prstGeom>
          <a:solidFill>
            <a:srgbClr val="FFFFFF"/>
          </a:solidFill>
          <a:ln w="12700">
            <a:solidFill>
              <a:srgbClr val="C3CCC0"/>
            </a:solidFill>
            <a:prstDash val="solid"/>
          </a:ln>
        </p:spPr>
      </p:sp>
      <p:sp>
        <p:nvSpPr>
          <p:cNvPr id="18" name="Text 16"/>
          <p:cNvSpPr txBox="1"/>
          <p:nvPr/>
        </p:nvSpPr>
        <p:spPr>
          <a:xfrm>
            <a:off x="612648" y="3483864"/>
            <a:ext cx="2112264" cy="310896"/>
          </a:xfrm>
          <a:prstGeom prst="rect">
            <a:avLst/>
          </a:prstGeom>
          <a:noFill/>
          <a:ln/>
        </p:spPr>
        <p:txBody>
          <a:bodyPr wrap="square" lIns="0" tIns="0" rIns="0" bIns="0" rtlCol="0" anchor="ctr"/>
          <a:lstStyle/>
          <a:p>
            <a:pPr indent="0" marL="0">
              <a:buNone/>
            </a:pPr>
            <a:r>
              <a:rPr lang="en-US" sz="1100" b="1" dirty="0">
                <a:solidFill>
                  <a:srgbClr val="14302A"/>
                </a:solidFill>
              </a:rPr>
              <a:t>staff</a:t>
            </a:r>
            <a:pPr indent="0" marL="0">
              <a:buNone/>
            </a:pPr>
            <a:r>
              <a:rPr lang="en-US" sz="1000" dirty="0">
                <a:solidFill>
                  <a:srgbClr val="5C6B64"/>
                </a:solidFill>
              </a:rPr>
              <a:t>   50</a:t>
            </a:r>
            <a:endParaRPr lang="en-US" sz="1100" dirty="0"/>
          </a:p>
        </p:txBody>
      </p:sp>
      <p:sp>
        <p:nvSpPr>
          <p:cNvPr id="19" name="Text 17"/>
          <p:cNvSpPr txBox="1"/>
          <p:nvPr/>
        </p:nvSpPr>
        <p:spPr>
          <a:xfrm>
            <a:off x="612648" y="3785616"/>
            <a:ext cx="2112264" cy="9509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staff_id  PK</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name · role</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skill · shift · team</a:t>
            </a:r>
            <a:endParaRPr lang="en-US" sz="1000" dirty="0"/>
          </a:p>
        </p:txBody>
      </p:sp>
      <p:sp>
        <p:nvSpPr>
          <p:cNvPr id="20" name="tbl-labour_ops"/>
          <p:cNvSpPr/>
          <p:nvPr/>
        </p:nvSpPr>
        <p:spPr>
          <a:xfrm>
            <a:off x="3017520" y="3438144"/>
            <a:ext cx="2331720" cy="1371600"/>
          </a:xfrm>
          <a:prstGeom prst="rect">
            <a:avLst/>
          </a:prstGeom>
          <a:solidFill>
            <a:srgbClr val="FFFFFF"/>
          </a:solidFill>
          <a:ln w="12700">
            <a:solidFill>
              <a:srgbClr val="C3CCC0"/>
            </a:solidFill>
            <a:prstDash val="solid"/>
          </a:ln>
        </p:spPr>
      </p:sp>
      <p:sp>
        <p:nvSpPr>
          <p:cNvPr id="21" name="Text 19"/>
          <p:cNvSpPr txBox="1"/>
          <p:nvPr/>
        </p:nvSpPr>
        <p:spPr>
          <a:xfrm>
            <a:off x="3127248" y="3483864"/>
            <a:ext cx="2112264" cy="310896"/>
          </a:xfrm>
          <a:prstGeom prst="rect">
            <a:avLst/>
          </a:prstGeom>
          <a:noFill/>
          <a:ln/>
        </p:spPr>
        <p:txBody>
          <a:bodyPr wrap="square" lIns="0" tIns="0" rIns="0" bIns="0" rtlCol="0" anchor="ctr"/>
          <a:lstStyle/>
          <a:p>
            <a:pPr indent="0" marL="0">
              <a:buNone/>
            </a:pPr>
            <a:r>
              <a:rPr lang="en-US" sz="1100" b="1" dirty="0">
                <a:solidFill>
                  <a:srgbClr val="14302A"/>
                </a:solidFill>
              </a:rPr>
              <a:t>labour_ops</a:t>
            </a:r>
            <a:pPr indent="0" marL="0">
              <a:buNone/>
            </a:pPr>
            <a:r>
              <a:rPr lang="en-US" sz="1000" dirty="0">
                <a:solidFill>
                  <a:srgbClr val="5C6B64"/>
                </a:solidFill>
              </a:rPr>
              <a:t>   104</a:t>
            </a:r>
            <a:endParaRPr lang="en-US" sz="1100" dirty="0"/>
          </a:p>
        </p:txBody>
      </p:sp>
      <p:sp>
        <p:nvSpPr>
          <p:cNvPr id="22" name="Text 20"/>
          <p:cNvSpPr txBox="1"/>
          <p:nvPr/>
        </p:nvSpPr>
        <p:spPr>
          <a:xfrm>
            <a:off x="3127248" y="3785616"/>
            <a:ext cx="2112264" cy="9509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op_code  PK</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description · category</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flat_rate_hrs</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safety_critical</a:t>
            </a:r>
            <a:endParaRPr lang="en-US" sz="1000" dirty="0"/>
          </a:p>
        </p:txBody>
      </p:sp>
      <p:sp>
        <p:nvSpPr>
          <p:cNvPr id="23" name="tbl-answer_log"/>
          <p:cNvSpPr/>
          <p:nvPr/>
        </p:nvSpPr>
        <p:spPr>
          <a:xfrm>
            <a:off x="5532120" y="3438144"/>
            <a:ext cx="2377440" cy="1371600"/>
          </a:xfrm>
          <a:prstGeom prst="rect">
            <a:avLst/>
          </a:prstGeom>
          <a:solidFill>
            <a:srgbClr val="FFFFFF"/>
          </a:solidFill>
          <a:ln w="12700">
            <a:solidFill>
              <a:srgbClr val="C3CCC0"/>
            </a:solidFill>
            <a:prstDash val="solid"/>
          </a:ln>
        </p:spPr>
      </p:sp>
      <p:sp>
        <p:nvSpPr>
          <p:cNvPr id="24" name="Text 22"/>
          <p:cNvSpPr txBox="1"/>
          <p:nvPr/>
        </p:nvSpPr>
        <p:spPr>
          <a:xfrm>
            <a:off x="5641848" y="3483864"/>
            <a:ext cx="2157984" cy="310896"/>
          </a:xfrm>
          <a:prstGeom prst="rect">
            <a:avLst/>
          </a:prstGeom>
          <a:noFill/>
          <a:ln/>
        </p:spPr>
        <p:txBody>
          <a:bodyPr wrap="square" lIns="0" tIns="0" rIns="0" bIns="0" rtlCol="0" anchor="ctr"/>
          <a:lstStyle/>
          <a:p>
            <a:pPr indent="0" marL="0">
              <a:buNone/>
            </a:pPr>
            <a:r>
              <a:rPr lang="en-US" sz="1100" b="1" dirty="0">
                <a:solidFill>
                  <a:srgbClr val="14302A"/>
                </a:solidFill>
              </a:rPr>
              <a:t>answer_log</a:t>
            </a:r>
            <a:pPr indent="0" marL="0">
              <a:buNone/>
            </a:pPr>
            <a:r>
              <a:rPr lang="en-US" sz="1000" dirty="0">
                <a:solidFill>
                  <a:srgbClr val="5C6B64"/>
                </a:solidFill>
              </a:rPr>
              <a:t>   706</a:t>
            </a:r>
            <a:endParaRPr lang="en-US" sz="1100" dirty="0"/>
          </a:p>
        </p:txBody>
      </p:sp>
      <p:sp>
        <p:nvSpPr>
          <p:cNvPr id="25" name="Text 23"/>
          <p:cNvSpPr txBox="1"/>
          <p:nvPr/>
        </p:nvSpPr>
        <p:spPr>
          <a:xfrm>
            <a:off x="5641848" y="3785616"/>
            <a:ext cx="2157984" cy="9509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answer_id  PK · at</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question · answer</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route · composed</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grounded · citations</a:t>
            </a:r>
            <a:endParaRPr lang="en-US" sz="1000" dirty="0"/>
          </a:p>
        </p:txBody>
      </p:sp>
      <p:sp>
        <p:nvSpPr>
          <p:cNvPr id="26" name="tbl-Milvus collection"/>
          <p:cNvSpPr/>
          <p:nvPr/>
        </p:nvSpPr>
        <p:spPr>
          <a:xfrm>
            <a:off x="8092440" y="1463040"/>
            <a:ext cx="3596335" cy="1828800"/>
          </a:xfrm>
          <a:prstGeom prst="rect">
            <a:avLst/>
          </a:prstGeom>
          <a:solidFill>
            <a:srgbClr val="FFFFFF"/>
          </a:solidFill>
          <a:ln w="22225">
            <a:solidFill>
              <a:srgbClr val="76B900"/>
            </a:solidFill>
            <a:prstDash val="solid"/>
          </a:ln>
        </p:spPr>
      </p:sp>
      <p:sp>
        <p:nvSpPr>
          <p:cNvPr id="27" name="Text 25"/>
          <p:cNvSpPr txBox="1"/>
          <p:nvPr/>
        </p:nvSpPr>
        <p:spPr>
          <a:xfrm>
            <a:off x="8202168" y="1508760"/>
            <a:ext cx="3376879" cy="310896"/>
          </a:xfrm>
          <a:prstGeom prst="rect">
            <a:avLst/>
          </a:prstGeom>
          <a:noFill/>
          <a:ln/>
        </p:spPr>
        <p:txBody>
          <a:bodyPr wrap="square" lIns="0" tIns="0" rIns="0" bIns="0" rtlCol="0" anchor="ctr"/>
          <a:lstStyle/>
          <a:p>
            <a:pPr indent="0" marL="0">
              <a:buNone/>
            </a:pPr>
            <a:r>
              <a:rPr lang="en-US" sz="1100" b="1" dirty="0">
                <a:solidFill>
                  <a:srgbClr val="14302A"/>
                </a:solidFill>
              </a:rPr>
              <a:t>Milvus collection</a:t>
            </a:r>
            <a:pPr indent="0" marL="0">
              <a:buNone/>
            </a:pPr>
            <a:r>
              <a:rPr lang="en-US" sz="1000" dirty="0">
                <a:solidFill>
                  <a:srgbClr val="5C6B64"/>
                </a:solidFill>
              </a:rPr>
              <a:t>   one row per update</a:t>
            </a:r>
            <a:endParaRPr lang="en-US" sz="1100" dirty="0"/>
          </a:p>
        </p:txBody>
      </p:sp>
      <p:sp>
        <p:nvSpPr>
          <p:cNvPr id="28" name="Text 26"/>
          <p:cNvSpPr txBox="1"/>
          <p:nvPr/>
        </p:nvSpPr>
        <p:spPr>
          <a:xfrm>
            <a:off x="8202168" y="1810512"/>
            <a:ext cx="3376879" cy="14081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pk  INT64</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vector  FLOAT_VECTOR(1024)</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update_id · ro_number</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staff · at · shift</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text  VARCHAR(8192)</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vehicle · category · vin</a:t>
            </a:r>
            <a:endParaRPr lang="en-US" sz="1000" dirty="0"/>
          </a:p>
        </p:txBody>
      </p:sp>
      <p:sp>
        <p:nvSpPr>
          <p:cNvPr id="29" name="tbl-Repair-order snapshot"/>
          <p:cNvSpPr/>
          <p:nvPr/>
        </p:nvSpPr>
        <p:spPr>
          <a:xfrm>
            <a:off x="8092440" y="3438144"/>
            <a:ext cx="3596335" cy="1371600"/>
          </a:xfrm>
          <a:prstGeom prst="rect">
            <a:avLst/>
          </a:prstGeom>
          <a:solidFill>
            <a:srgbClr val="FFFFFF"/>
          </a:solidFill>
          <a:ln w="22225">
            <a:solidFill>
              <a:srgbClr val="76B900"/>
            </a:solidFill>
            <a:prstDash val="solid"/>
          </a:ln>
        </p:spPr>
      </p:sp>
      <p:sp>
        <p:nvSpPr>
          <p:cNvPr id="30" name="Text 28"/>
          <p:cNvSpPr txBox="1"/>
          <p:nvPr/>
        </p:nvSpPr>
        <p:spPr>
          <a:xfrm>
            <a:off x="8202168" y="3483864"/>
            <a:ext cx="3376879" cy="310896"/>
          </a:xfrm>
          <a:prstGeom prst="rect">
            <a:avLst/>
          </a:prstGeom>
          <a:noFill/>
          <a:ln/>
        </p:spPr>
        <p:txBody>
          <a:bodyPr wrap="square" lIns="0" tIns="0" rIns="0" bIns="0" rtlCol="0" anchor="ctr"/>
          <a:lstStyle/>
          <a:p>
            <a:pPr indent="0" marL="0">
              <a:buNone/>
            </a:pPr>
            <a:r>
              <a:rPr lang="en-US" sz="1100" b="1" dirty="0">
                <a:solidFill>
                  <a:srgbClr val="14302A"/>
                </a:solidFill>
              </a:rPr>
              <a:t>Repair-order snapshot</a:t>
            </a:r>
            <a:pPr indent="0" marL="0">
              <a:buNone/>
            </a:pPr>
            <a:r>
              <a:rPr lang="en-US" sz="1000" dirty="0">
                <a:solidFill>
                  <a:srgbClr val="5C6B64"/>
                </a:solidFill>
              </a:rPr>
              <a:t>   computed, never stored</a:t>
            </a:r>
            <a:endParaRPr lang="en-US" sz="1100" dirty="0"/>
          </a:p>
        </p:txBody>
      </p:sp>
      <p:sp>
        <p:nvSpPr>
          <p:cNvPr id="31" name="Text 29"/>
          <p:cNvSpPr txBox="1"/>
          <p:nvPr/>
        </p:nvSpPr>
        <p:spPr>
          <a:xfrm>
            <a:off x="8202168" y="3785616"/>
            <a:ext cx="3376879" cy="950976"/>
          </a:xfrm>
          <a:prstGeom prst="rect">
            <a:avLst/>
          </a:prstGeom>
          <a:noFill/>
          <a:ln/>
        </p:spPr>
        <p:txBody>
          <a:bodyPr wrap="square" lIns="0" tIns="0" rIns="0" bIns="0" rtlCol="0" anchor="t"/>
          <a:lstStyle/>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state  (1 of 13)</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blocking · at_risk · safety</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booked hours · tech</a:t>
            </a:r>
            <a:endParaRPr lang="en-US" sz="1000" dirty="0"/>
          </a:p>
          <a:p>
            <a:pPr indent="0" marL="0">
              <a:lnSpc>
                <a:spcPct val="95000"/>
              </a:lnSpc>
              <a:buNone/>
            </a:pPr>
            <a:r>
              <a:rPr lang="en-US" sz="1000" dirty="0">
                <a:solidFill>
                  <a:srgbClr val="5C6B64"/>
                </a:solidFill>
                <a:latin typeface="Courier New" pitchFamily="34" charset="0"/>
                <a:ea typeface="Courier New" pitchFamily="34" charset="-122"/>
                <a:cs typeface="Courier New" pitchFamily="34" charset="-120"/>
              </a:rPr>
              <a:t>contradictions</a:t>
            </a:r>
            <a:endParaRPr lang="en-US" sz="1000" dirty="0"/>
          </a:p>
        </p:txBody>
      </p:sp>
      <p:sp>
        <p:nvSpPr>
          <p:cNvPr id="32" name="card-Why derived means "/>
          <p:cNvSpPr/>
          <p:nvPr/>
        </p:nvSpPr>
        <p:spPr>
          <a:xfrm>
            <a:off x="502920" y="4992624"/>
            <a:ext cx="11185855" cy="749808"/>
          </a:xfrm>
          <a:prstGeom prst="rect">
            <a:avLst/>
          </a:prstGeom>
          <a:solidFill>
            <a:srgbClr val="FFFFFF"/>
          </a:solidFill>
          <a:ln w="12700">
            <a:solidFill>
              <a:srgbClr val="C3CCC0"/>
            </a:solidFill>
            <a:prstDash val="solid"/>
          </a:ln>
        </p:spPr>
      </p:sp>
      <p:sp>
        <p:nvSpPr>
          <p:cNvPr id="33" name="Text 31"/>
          <p:cNvSpPr txBox="1"/>
          <p:nvPr/>
        </p:nvSpPr>
        <p:spPr>
          <a:xfrm>
            <a:off x="566928" y="5029200"/>
            <a:ext cx="11057839" cy="67665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Why derived means rebuildable</a:t>
            </a:r>
            <a:endParaRPr lang="en-US" sz="1100" dirty="0"/>
          </a:p>
          <a:p>
            <a:pPr algn="l" indent="0" marL="0">
              <a:lnSpc>
                <a:spcPct val="92000"/>
              </a:lnSpc>
              <a:buNone/>
            </a:pPr>
            <a:r>
              <a:rPr lang="en-US" sz="1000" dirty="0">
                <a:solidFill>
                  <a:srgbClr val="5C6B64"/>
                </a:solidFill>
              </a:rPr>
              <a:t>The vector store holds no fact SQLite does not; dropping the collection and re-running the index loses nothing, which is what makes editing it safe to offer at all. The reverse is not true — events can never be rebuilt from anything, which is why they are append-only and why every application read of the record is opened read-only.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Repair order lifecycle</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Thirteen states, and only these transitions. Anything absent is rejected by the engine and surfaced</a:t>
            </a:r>
            <a:endParaRPr lang="en-US" sz="1150" dirty="0"/>
          </a:p>
        </p:txBody>
      </p:sp>
      <p:sp>
        <p:nvSpPr>
          <p:cNvPr id="4" name="st-CHECKED_IN"/>
          <p:cNvSpPr/>
          <p:nvPr/>
        </p:nvSpPr>
        <p:spPr>
          <a:xfrm>
            <a:off x="502920" y="1335024"/>
            <a:ext cx="1696669" cy="731520"/>
          </a:xfrm>
          <a:prstGeom prst="rect">
            <a:avLst/>
          </a:prstGeom>
          <a:solidFill>
            <a:srgbClr val="FFFFFF"/>
          </a:solidFill>
          <a:ln w="12700">
            <a:solidFill>
              <a:srgbClr val="C3CCC0"/>
            </a:solidFill>
            <a:prstDash val="solid"/>
          </a:ln>
        </p:spPr>
      </p:sp>
      <p:sp>
        <p:nvSpPr>
          <p:cNvPr id="5" name="Text 3"/>
          <p:cNvSpPr txBox="1"/>
          <p:nvPr/>
        </p:nvSpPr>
        <p:spPr>
          <a:xfrm>
            <a:off x="557784"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CHECKED IN</a:t>
            </a:r>
            <a:endParaRPr lang="en-US" sz="1000" dirty="0"/>
          </a:p>
        </p:txBody>
      </p:sp>
      <p:sp>
        <p:nvSpPr>
          <p:cNvPr id="6" name="st-DISPATCHED"/>
          <p:cNvSpPr/>
          <p:nvPr/>
        </p:nvSpPr>
        <p:spPr>
          <a:xfrm>
            <a:off x="2400757" y="1335024"/>
            <a:ext cx="1696669" cy="731520"/>
          </a:xfrm>
          <a:prstGeom prst="rect">
            <a:avLst/>
          </a:prstGeom>
          <a:solidFill>
            <a:srgbClr val="FFFFFF"/>
          </a:solidFill>
          <a:ln w="12700">
            <a:solidFill>
              <a:srgbClr val="C3CCC0"/>
            </a:solidFill>
            <a:prstDash val="solid"/>
          </a:ln>
        </p:spPr>
      </p:sp>
      <p:sp>
        <p:nvSpPr>
          <p:cNvPr id="7" name="Text 5"/>
          <p:cNvSpPr txBox="1"/>
          <p:nvPr/>
        </p:nvSpPr>
        <p:spPr>
          <a:xfrm>
            <a:off x="2455621"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DISPATCHED</a:t>
            </a:r>
            <a:endParaRPr lang="en-US" sz="1000" dirty="0"/>
          </a:p>
        </p:txBody>
      </p:sp>
      <p:sp>
        <p:nvSpPr>
          <p:cNvPr id="8" name="st-DIAGNOSING"/>
          <p:cNvSpPr/>
          <p:nvPr/>
        </p:nvSpPr>
        <p:spPr>
          <a:xfrm>
            <a:off x="4298594" y="1335024"/>
            <a:ext cx="1696669" cy="731520"/>
          </a:xfrm>
          <a:prstGeom prst="rect">
            <a:avLst/>
          </a:prstGeom>
          <a:solidFill>
            <a:srgbClr val="FFFFFF"/>
          </a:solidFill>
          <a:ln w="12700">
            <a:solidFill>
              <a:srgbClr val="C3CCC0"/>
            </a:solidFill>
            <a:prstDash val="solid"/>
          </a:ln>
        </p:spPr>
      </p:sp>
      <p:sp>
        <p:nvSpPr>
          <p:cNvPr id="9" name="Text 7"/>
          <p:cNvSpPr txBox="1"/>
          <p:nvPr/>
        </p:nvSpPr>
        <p:spPr>
          <a:xfrm>
            <a:off x="4353458"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DIAGNOSING</a:t>
            </a:r>
            <a:endParaRPr lang="en-US" sz="1000" dirty="0"/>
          </a:p>
        </p:txBody>
      </p:sp>
      <p:sp>
        <p:nvSpPr>
          <p:cNvPr id="10" name="st-ESTIMATE_PREPARED"/>
          <p:cNvSpPr/>
          <p:nvPr/>
        </p:nvSpPr>
        <p:spPr>
          <a:xfrm>
            <a:off x="6196432" y="1335024"/>
            <a:ext cx="1696669" cy="731520"/>
          </a:xfrm>
          <a:prstGeom prst="rect">
            <a:avLst/>
          </a:prstGeom>
          <a:solidFill>
            <a:srgbClr val="FFFFFF"/>
          </a:solidFill>
          <a:ln w="12700">
            <a:solidFill>
              <a:srgbClr val="C3CCC0"/>
            </a:solidFill>
            <a:prstDash val="solid"/>
          </a:ln>
        </p:spPr>
      </p:sp>
      <p:sp>
        <p:nvSpPr>
          <p:cNvPr id="11" name="Text 9"/>
          <p:cNvSpPr txBox="1"/>
          <p:nvPr/>
        </p:nvSpPr>
        <p:spPr>
          <a:xfrm>
            <a:off x="6251296"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ESTIMATE PREPARED</a:t>
            </a:r>
            <a:endParaRPr lang="en-US" sz="1000" dirty="0"/>
          </a:p>
        </p:txBody>
      </p:sp>
      <p:sp>
        <p:nvSpPr>
          <p:cNvPr id="12" name="st-AWAITING_AUTHORISATION"/>
          <p:cNvSpPr/>
          <p:nvPr/>
        </p:nvSpPr>
        <p:spPr>
          <a:xfrm>
            <a:off x="8094269" y="1335024"/>
            <a:ext cx="1696669" cy="731520"/>
          </a:xfrm>
          <a:prstGeom prst="rect">
            <a:avLst/>
          </a:prstGeom>
          <a:solidFill>
            <a:srgbClr val="FBEADF"/>
          </a:solidFill>
          <a:ln w="22225">
            <a:solidFill>
              <a:srgbClr val="C1562A"/>
            </a:solidFill>
            <a:prstDash val="solid"/>
          </a:ln>
        </p:spPr>
      </p:sp>
      <p:sp>
        <p:nvSpPr>
          <p:cNvPr id="13" name="Text 11"/>
          <p:cNvSpPr txBox="1"/>
          <p:nvPr/>
        </p:nvSpPr>
        <p:spPr>
          <a:xfrm>
            <a:off x="8149133"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7A3418"/>
                </a:solidFill>
              </a:rPr>
              <a:t>AWAITING AUTHORISATION</a:t>
            </a:r>
            <a:pPr algn="ctr" indent="0" marL="0">
              <a:lnSpc>
                <a:spcPct val="90000"/>
              </a:lnSpc>
              <a:buNone/>
            </a:pPr>
            <a:endParaRPr lang="en-US" sz="1000" dirty="0"/>
          </a:p>
          <a:p>
            <a:pPr algn="ctr" indent="0" marL="0">
              <a:lnSpc>
                <a:spcPct val="90000"/>
              </a:lnSpc>
              <a:buNone/>
            </a:pPr>
            <a:r>
              <a:rPr lang="en-US" sz="1000" dirty="0">
                <a:solidFill>
                  <a:srgbClr val="C1562A"/>
                </a:solidFill>
              </a:rPr>
              <a:t>vehicles sit here</a:t>
            </a:r>
            <a:endParaRPr lang="en-US" sz="1000" dirty="0"/>
          </a:p>
        </p:txBody>
      </p:sp>
      <p:sp>
        <p:nvSpPr>
          <p:cNvPr id="14" name="st-AUTHORISED"/>
          <p:cNvSpPr/>
          <p:nvPr/>
        </p:nvSpPr>
        <p:spPr>
          <a:xfrm>
            <a:off x="9992106" y="1335024"/>
            <a:ext cx="1696669" cy="731520"/>
          </a:xfrm>
          <a:prstGeom prst="rect">
            <a:avLst/>
          </a:prstGeom>
          <a:solidFill>
            <a:srgbClr val="FFFFFF"/>
          </a:solidFill>
          <a:ln w="12700">
            <a:solidFill>
              <a:srgbClr val="C3CCC0"/>
            </a:solidFill>
            <a:prstDash val="solid"/>
          </a:ln>
        </p:spPr>
      </p:sp>
      <p:sp>
        <p:nvSpPr>
          <p:cNvPr id="15" name="Text 13"/>
          <p:cNvSpPr txBox="1"/>
          <p:nvPr/>
        </p:nvSpPr>
        <p:spPr>
          <a:xfrm>
            <a:off x="10046970" y="133502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AUTHORISED</a:t>
            </a:r>
            <a:endParaRPr lang="en-US" sz="1000" dirty="0"/>
          </a:p>
        </p:txBody>
      </p:sp>
      <p:sp>
        <p:nvSpPr>
          <p:cNvPr id="16" name="st-INVOICED"/>
          <p:cNvSpPr/>
          <p:nvPr/>
        </p:nvSpPr>
        <p:spPr>
          <a:xfrm>
            <a:off x="2400757" y="2523744"/>
            <a:ext cx="1696669" cy="731520"/>
          </a:xfrm>
          <a:prstGeom prst="rect">
            <a:avLst/>
          </a:prstGeom>
          <a:solidFill>
            <a:srgbClr val="5B8C3A"/>
          </a:solidFill>
          <a:ln w="19050">
            <a:solidFill>
              <a:srgbClr val="446B29"/>
            </a:solidFill>
            <a:prstDash val="solid"/>
          </a:ln>
        </p:spPr>
      </p:sp>
      <p:sp>
        <p:nvSpPr>
          <p:cNvPr id="17" name="Text 15"/>
          <p:cNvSpPr txBox="1"/>
          <p:nvPr/>
        </p:nvSpPr>
        <p:spPr>
          <a:xfrm>
            <a:off x="2455621" y="252374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FFFFFF"/>
                </a:solidFill>
              </a:rPr>
              <a:t>INVOICED</a:t>
            </a:r>
            <a:pPr algn="ctr" indent="0" marL="0">
              <a:lnSpc>
                <a:spcPct val="90000"/>
              </a:lnSpc>
              <a:buNone/>
            </a:pPr>
            <a:endParaRPr lang="en-US" sz="1000" dirty="0"/>
          </a:p>
          <a:p>
            <a:pPr algn="ctr" indent="0" marL="0">
              <a:lnSpc>
                <a:spcPct val="90000"/>
              </a:lnSpc>
              <a:buNone/>
            </a:pPr>
            <a:r>
              <a:rPr lang="en-US" sz="1000" dirty="0">
                <a:solidFill>
                  <a:srgbClr val="DCE8CF"/>
                </a:solidFill>
              </a:rPr>
              <a:t>terminal</a:t>
            </a:r>
            <a:endParaRPr lang="en-US" sz="1000" dirty="0"/>
          </a:p>
        </p:txBody>
      </p:sp>
      <p:sp>
        <p:nvSpPr>
          <p:cNvPr id="18" name="st-READY_FOR_DELIVERY"/>
          <p:cNvSpPr/>
          <p:nvPr/>
        </p:nvSpPr>
        <p:spPr>
          <a:xfrm>
            <a:off x="4298594" y="2523744"/>
            <a:ext cx="1696669" cy="731520"/>
          </a:xfrm>
          <a:prstGeom prst="rect">
            <a:avLst/>
          </a:prstGeom>
          <a:solidFill>
            <a:srgbClr val="FFFFFF"/>
          </a:solidFill>
          <a:ln w="12700">
            <a:solidFill>
              <a:srgbClr val="C3CCC0"/>
            </a:solidFill>
            <a:prstDash val="solid"/>
          </a:ln>
        </p:spPr>
      </p:sp>
      <p:sp>
        <p:nvSpPr>
          <p:cNvPr id="19" name="Text 17"/>
          <p:cNvSpPr txBox="1"/>
          <p:nvPr/>
        </p:nvSpPr>
        <p:spPr>
          <a:xfrm>
            <a:off x="4353458" y="252374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READY FOR DELIVERY</a:t>
            </a:r>
            <a:endParaRPr lang="en-US" sz="1000" dirty="0"/>
          </a:p>
        </p:txBody>
      </p:sp>
      <p:sp>
        <p:nvSpPr>
          <p:cNvPr id="20" name="st-ROAD_TEST"/>
          <p:cNvSpPr/>
          <p:nvPr/>
        </p:nvSpPr>
        <p:spPr>
          <a:xfrm>
            <a:off x="6196432" y="2523744"/>
            <a:ext cx="1696669" cy="731520"/>
          </a:xfrm>
          <a:prstGeom prst="rect">
            <a:avLst/>
          </a:prstGeom>
          <a:solidFill>
            <a:srgbClr val="FFFFFF"/>
          </a:solidFill>
          <a:ln w="12700">
            <a:solidFill>
              <a:srgbClr val="C3CCC0"/>
            </a:solidFill>
            <a:prstDash val="solid"/>
          </a:ln>
        </p:spPr>
      </p:sp>
      <p:sp>
        <p:nvSpPr>
          <p:cNvPr id="21" name="Text 19"/>
          <p:cNvSpPr txBox="1"/>
          <p:nvPr/>
        </p:nvSpPr>
        <p:spPr>
          <a:xfrm>
            <a:off x="6251296" y="252374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ROAD TEST</a:t>
            </a:r>
            <a:endParaRPr lang="en-US" sz="1000" dirty="0"/>
          </a:p>
        </p:txBody>
      </p:sp>
      <p:sp>
        <p:nvSpPr>
          <p:cNvPr id="22" name="st-QUALITY_CONTROL"/>
          <p:cNvSpPr/>
          <p:nvPr/>
        </p:nvSpPr>
        <p:spPr>
          <a:xfrm>
            <a:off x="8094269" y="2523744"/>
            <a:ext cx="1696669" cy="731520"/>
          </a:xfrm>
          <a:prstGeom prst="rect">
            <a:avLst/>
          </a:prstGeom>
          <a:solidFill>
            <a:srgbClr val="FFFFFF"/>
          </a:solidFill>
          <a:ln w="12700">
            <a:solidFill>
              <a:srgbClr val="C3CCC0"/>
            </a:solidFill>
            <a:prstDash val="solid"/>
          </a:ln>
        </p:spPr>
      </p:sp>
      <p:sp>
        <p:nvSpPr>
          <p:cNvPr id="23" name="Text 21"/>
          <p:cNvSpPr txBox="1"/>
          <p:nvPr/>
        </p:nvSpPr>
        <p:spPr>
          <a:xfrm>
            <a:off x="8149133" y="252374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QUALITY CONTROL</a:t>
            </a:r>
            <a:endParaRPr lang="en-US" sz="1000" dirty="0"/>
          </a:p>
        </p:txBody>
      </p:sp>
      <p:sp>
        <p:nvSpPr>
          <p:cNvPr id="24" name="st-REPAIR_IN_PROGRESS"/>
          <p:cNvSpPr/>
          <p:nvPr/>
        </p:nvSpPr>
        <p:spPr>
          <a:xfrm>
            <a:off x="9992106" y="2523744"/>
            <a:ext cx="1696669" cy="731520"/>
          </a:xfrm>
          <a:prstGeom prst="rect">
            <a:avLst/>
          </a:prstGeom>
          <a:solidFill>
            <a:srgbClr val="FFFFFF"/>
          </a:solidFill>
          <a:ln w="12700">
            <a:solidFill>
              <a:srgbClr val="C3CCC0"/>
            </a:solidFill>
            <a:prstDash val="solid"/>
          </a:ln>
        </p:spPr>
      </p:sp>
      <p:sp>
        <p:nvSpPr>
          <p:cNvPr id="25" name="Text 23"/>
          <p:cNvSpPr txBox="1"/>
          <p:nvPr/>
        </p:nvSpPr>
        <p:spPr>
          <a:xfrm>
            <a:off x="10046970" y="2523744"/>
            <a:ext cx="1586941" cy="731520"/>
          </a:xfrm>
          <a:prstGeom prst="rect">
            <a:avLst/>
          </a:prstGeom>
          <a:noFill/>
          <a:ln/>
        </p:spPr>
        <p:txBody>
          <a:bodyPr wrap="square" lIns="0" tIns="0" rIns="0" bIns="0" rtlCol="0" anchor="ctr"/>
          <a:lstStyle/>
          <a:p>
            <a:pPr algn="ctr" indent="0" marL="0">
              <a:lnSpc>
                <a:spcPct val="90000"/>
              </a:lnSpc>
              <a:buNone/>
            </a:pPr>
            <a:r>
              <a:rPr lang="en-US" sz="1000" b="1" dirty="0">
                <a:solidFill>
                  <a:srgbClr val="14302A"/>
                </a:solidFill>
              </a:rPr>
              <a:t>REPAIR IN PROGRESS</a:t>
            </a:r>
            <a:endParaRPr lang="en-US" sz="1000" dirty="0"/>
          </a:p>
        </p:txBody>
      </p:sp>
      <p:sp>
        <p:nvSpPr>
          <p:cNvPr id="26" name="Shape 24"/>
          <p:cNvSpPr/>
          <p:nvPr/>
        </p:nvSpPr>
        <p:spPr>
          <a:xfrm>
            <a:off x="2227021" y="1636776"/>
            <a:ext cx="146304" cy="128016"/>
          </a:xfrm>
          <a:prstGeom prst="rightArrow">
            <a:avLst/>
          </a:prstGeom>
          <a:solidFill>
            <a:srgbClr val="76B900"/>
          </a:solidFill>
          <a:ln w="12700">
            <a:solidFill>
              <a:srgbClr val="76B900"/>
            </a:solidFill>
            <a:prstDash val="solid"/>
          </a:ln>
        </p:spPr>
      </p:sp>
      <p:sp>
        <p:nvSpPr>
          <p:cNvPr id="27" name="Shape 25"/>
          <p:cNvSpPr/>
          <p:nvPr/>
        </p:nvSpPr>
        <p:spPr>
          <a:xfrm>
            <a:off x="4124858" y="1636776"/>
            <a:ext cx="146304" cy="128016"/>
          </a:xfrm>
          <a:prstGeom prst="rightArrow">
            <a:avLst/>
          </a:prstGeom>
          <a:solidFill>
            <a:srgbClr val="76B900"/>
          </a:solidFill>
          <a:ln w="12700">
            <a:solidFill>
              <a:srgbClr val="76B900"/>
            </a:solidFill>
            <a:prstDash val="solid"/>
          </a:ln>
        </p:spPr>
      </p:sp>
      <p:sp>
        <p:nvSpPr>
          <p:cNvPr id="28" name="Shape 26"/>
          <p:cNvSpPr/>
          <p:nvPr/>
        </p:nvSpPr>
        <p:spPr>
          <a:xfrm>
            <a:off x="6022696" y="1636776"/>
            <a:ext cx="146304" cy="128016"/>
          </a:xfrm>
          <a:prstGeom prst="rightArrow">
            <a:avLst/>
          </a:prstGeom>
          <a:solidFill>
            <a:srgbClr val="76B900"/>
          </a:solidFill>
          <a:ln w="12700">
            <a:solidFill>
              <a:srgbClr val="76B900"/>
            </a:solidFill>
            <a:prstDash val="solid"/>
          </a:ln>
        </p:spPr>
      </p:sp>
      <p:sp>
        <p:nvSpPr>
          <p:cNvPr id="29" name="Shape 27"/>
          <p:cNvSpPr/>
          <p:nvPr/>
        </p:nvSpPr>
        <p:spPr>
          <a:xfrm>
            <a:off x="7920533" y="1636776"/>
            <a:ext cx="146304" cy="128016"/>
          </a:xfrm>
          <a:prstGeom prst="rightArrow">
            <a:avLst/>
          </a:prstGeom>
          <a:solidFill>
            <a:srgbClr val="76B900"/>
          </a:solidFill>
          <a:ln w="12700">
            <a:solidFill>
              <a:srgbClr val="76B900"/>
            </a:solidFill>
            <a:prstDash val="solid"/>
          </a:ln>
        </p:spPr>
      </p:sp>
      <p:sp>
        <p:nvSpPr>
          <p:cNvPr id="30" name="Shape 28"/>
          <p:cNvSpPr/>
          <p:nvPr/>
        </p:nvSpPr>
        <p:spPr>
          <a:xfrm>
            <a:off x="9818370" y="1636776"/>
            <a:ext cx="146304" cy="128016"/>
          </a:xfrm>
          <a:prstGeom prst="rightArrow">
            <a:avLst/>
          </a:prstGeom>
          <a:solidFill>
            <a:srgbClr val="76B900"/>
          </a:solidFill>
          <a:ln w="12700">
            <a:solidFill>
              <a:srgbClr val="76B900"/>
            </a:solidFill>
            <a:prstDash val="solid"/>
          </a:ln>
        </p:spPr>
      </p:sp>
      <p:sp>
        <p:nvSpPr>
          <p:cNvPr id="31" name="Shape 29"/>
          <p:cNvSpPr/>
          <p:nvPr/>
        </p:nvSpPr>
        <p:spPr>
          <a:xfrm>
            <a:off x="4124858" y="2825496"/>
            <a:ext cx="146304" cy="128016"/>
          </a:xfrm>
          <a:prstGeom prst="leftArrow">
            <a:avLst/>
          </a:prstGeom>
          <a:solidFill>
            <a:srgbClr val="76B900"/>
          </a:solidFill>
          <a:ln w="12700">
            <a:solidFill>
              <a:srgbClr val="76B900"/>
            </a:solidFill>
            <a:prstDash val="solid"/>
          </a:ln>
        </p:spPr>
      </p:sp>
      <p:sp>
        <p:nvSpPr>
          <p:cNvPr id="32" name="Shape 30"/>
          <p:cNvSpPr/>
          <p:nvPr/>
        </p:nvSpPr>
        <p:spPr>
          <a:xfrm>
            <a:off x="6022696" y="2825496"/>
            <a:ext cx="146304" cy="128016"/>
          </a:xfrm>
          <a:prstGeom prst="leftArrow">
            <a:avLst/>
          </a:prstGeom>
          <a:solidFill>
            <a:srgbClr val="76B900"/>
          </a:solidFill>
          <a:ln w="12700">
            <a:solidFill>
              <a:srgbClr val="76B900"/>
            </a:solidFill>
            <a:prstDash val="solid"/>
          </a:ln>
        </p:spPr>
      </p:sp>
      <p:sp>
        <p:nvSpPr>
          <p:cNvPr id="33" name="Shape 31"/>
          <p:cNvSpPr/>
          <p:nvPr/>
        </p:nvSpPr>
        <p:spPr>
          <a:xfrm>
            <a:off x="7920533" y="2825496"/>
            <a:ext cx="146304" cy="128016"/>
          </a:xfrm>
          <a:prstGeom prst="leftArrow">
            <a:avLst/>
          </a:prstGeom>
          <a:solidFill>
            <a:srgbClr val="76B900"/>
          </a:solidFill>
          <a:ln w="12700">
            <a:solidFill>
              <a:srgbClr val="76B900"/>
            </a:solidFill>
            <a:prstDash val="solid"/>
          </a:ln>
        </p:spPr>
      </p:sp>
      <p:sp>
        <p:nvSpPr>
          <p:cNvPr id="34" name="Shape 32"/>
          <p:cNvSpPr/>
          <p:nvPr/>
        </p:nvSpPr>
        <p:spPr>
          <a:xfrm>
            <a:off x="9818370" y="2825496"/>
            <a:ext cx="146304" cy="128016"/>
          </a:xfrm>
          <a:prstGeom prst="leftArrow">
            <a:avLst/>
          </a:prstGeom>
          <a:solidFill>
            <a:srgbClr val="76B900"/>
          </a:solidFill>
          <a:ln w="12700">
            <a:solidFill>
              <a:srgbClr val="76B900"/>
            </a:solidFill>
            <a:prstDash val="solid"/>
          </a:ln>
        </p:spPr>
      </p:sp>
      <p:sp>
        <p:nvSpPr>
          <p:cNvPr id="35" name="Shape 33"/>
          <p:cNvSpPr/>
          <p:nvPr/>
        </p:nvSpPr>
        <p:spPr>
          <a:xfrm>
            <a:off x="10758145" y="2103120"/>
            <a:ext cx="164592" cy="365760"/>
          </a:xfrm>
          <a:prstGeom prst="downArrow">
            <a:avLst/>
          </a:prstGeom>
          <a:solidFill>
            <a:srgbClr val="76B900"/>
          </a:solidFill>
          <a:ln w="12700">
            <a:solidFill>
              <a:srgbClr val="76B900"/>
            </a:solidFill>
            <a:prstDash val="solid"/>
          </a:ln>
        </p:spPr>
      </p:sp>
      <p:sp>
        <p:nvSpPr>
          <p:cNvPr id="36" name="Shape 34"/>
          <p:cNvSpPr/>
          <p:nvPr/>
        </p:nvSpPr>
        <p:spPr>
          <a:xfrm>
            <a:off x="502920" y="3474720"/>
            <a:ext cx="11185855" cy="256032"/>
          </a:xfrm>
          <a:prstGeom prst="rect">
            <a:avLst/>
          </a:prstGeom>
          <a:solidFill>
            <a:srgbClr val="1E4035"/>
          </a:solidFill>
          <a:ln w="12700">
            <a:solidFill>
              <a:srgbClr val="1E4035"/>
            </a:solidFill>
            <a:prstDash val="solid"/>
          </a:ln>
        </p:spPr>
      </p:sp>
      <p:sp>
        <p:nvSpPr>
          <p:cNvPr id="37" name="Text 35"/>
          <p:cNvSpPr txBox="1"/>
          <p:nvPr/>
        </p:nvSpPr>
        <p:spPr>
          <a:xfrm>
            <a:off x="612648" y="3474720"/>
            <a:ext cx="10966399" cy="256032"/>
          </a:xfrm>
          <a:prstGeom prst="rect">
            <a:avLst/>
          </a:prstGeom>
          <a:noFill/>
          <a:ln/>
        </p:spPr>
        <p:txBody>
          <a:bodyPr wrap="square" lIns="0" tIns="0" rIns="0" bIns="0" rtlCol="0" anchor="ctr"/>
          <a:lstStyle/>
          <a:p>
            <a:pPr algn="l" indent="0" marL="0">
              <a:buNone/>
            </a:pPr>
            <a:r>
              <a:rPr lang="en-US" sz="1050" b="1" spc="60" kern="0" dirty="0">
                <a:solidFill>
                  <a:srgbClr val="FFFFFF"/>
                </a:solidFill>
              </a:rPr>
              <a:t>LEAVES AND REJOINS THE LINE</a:t>
            </a:r>
            <a:endParaRPr lang="en-US" sz="1050" dirty="0"/>
          </a:p>
        </p:txBody>
      </p:sp>
      <p:sp>
        <p:nvSpPr>
          <p:cNvPr id="38" name="st-PARTS_HOLD"/>
          <p:cNvSpPr/>
          <p:nvPr/>
        </p:nvSpPr>
        <p:spPr>
          <a:xfrm>
            <a:off x="502920" y="3803904"/>
            <a:ext cx="5501488" cy="768096"/>
          </a:xfrm>
          <a:prstGeom prst="rect">
            <a:avLst/>
          </a:prstGeom>
          <a:solidFill>
            <a:srgbClr val="FBEADF"/>
          </a:solidFill>
          <a:ln w="22225">
            <a:solidFill>
              <a:srgbClr val="C1562A"/>
            </a:solidFill>
            <a:prstDash val="solid"/>
          </a:ln>
        </p:spPr>
      </p:sp>
      <p:sp>
        <p:nvSpPr>
          <p:cNvPr id="39" name="Text 37"/>
          <p:cNvSpPr txBox="1"/>
          <p:nvPr/>
        </p:nvSpPr>
        <p:spPr>
          <a:xfrm>
            <a:off x="612648" y="3849624"/>
            <a:ext cx="5282032" cy="694944"/>
          </a:xfrm>
          <a:prstGeom prst="rect">
            <a:avLst/>
          </a:prstGeom>
          <a:noFill/>
          <a:ln/>
        </p:spPr>
        <p:txBody>
          <a:bodyPr wrap="square" lIns="0" tIns="0" rIns="0" bIns="0" rtlCol="0" anchor="t"/>
          <a:lstStyle/>
          <a:p>
            <a:pPr indent="0" marL="0">
              <a:lnSpc>
                <a:spcPct val="92000"/>
              </a:lnSpc>
              <a:buNone/>
            </a:pPr>
            <a:r>
              <a:rPr lang="en-US" sz="1100" b="1" dirty="0">
                <a:solidFill>
                  <a:srgbClr val="7A3418"/>
                </a:solidFill>
              </a:rPr>
              <a:t>PARTS HOLD</a:t>
            </a:r>
            <a:endParaRPr lang="en-US" sz="1100" dirty="0"/>
          </a:p>
          <a:p>
            <a:pPr indent="0" marL="0">
              <a:lnSpc>
                <a:spcPct val="92000"/>
              </a:lnSpc>
              <a:buNone/>
            </a:pPr>
            <a:r>
              <a:rPr lang="en-US" sz="1000" dirty="0">
                <a:solidFill>
                  <a:srgbClr val="C1562A"/>
                </a:solidFill>
              </a:rPr>
              <a:t>Entered from diagnosing, authorised or repair-in-progress; leaves to repair-in-progress or back to awaiting authorisation.</a:t>
            </a:r>
            <a:endParaRPr lang="en-US" sz="1100" dirty="0"/>
          </a:p>
        </p:txBody>
      </p:sp>
      <p:sp>
        <p:nvSpPr>
          <p:cNvPr id="40" name="st-DECLINED"/>
          <p:cNvSpPr/>
          <p:nvPr/>
        </p:nvSpPr>
        <p:spPr>
          <a:xfrm>
            <a:off x="6187288" y="3803904"/>
            <a:ext cx="5501488" cy="768096"/>
          </a:xfrm>
          <a:prstGeom prst="rect">
            <a:avLst/>
          </a:prstGeom>
          <a:solidFill>
            <a:srgbClr val="FFFFFF"/>
          </a:solidFill>
          <a:ln w="12700">
            <a:solidFill>
              <a:srgbClr val="C3CCC0"/>
            </a:solidFill>
            <a:prstDash val="solid"/>
          </a:ln>
        </p:spPr>
      </p:sp>
      <p:sp>
        <p:nvSpPr>
          <p:cNvPr id="41" name="Text 39"/>
          <p:cNvSpPr txBox="1"/>
          <p:nvPr/>
        </p:nvSpPr>
        <p:spPr>
          <a:xfrm>
            <a:off x="6297016" y="3849624"/>
            <a:ext cx="5282032" cy="694944"/>
          </a:xfrm>
          <a:prstGeom prst="rect">
            <a:avLst/>
          </a:prstGeom>
          <a:noFill/>
          <a:ln/>
        </p:spPr>
        <p:txBody>
          <a:bodyPr wrap="square" lIns="0" tIns="0" rIns="0" bIns="0" rtlCol="0" anchor="t"/>
          <a:lstStyle/>
          <a:p>
            <a:pPr indent="0" marL="0">
              <a:lnSpc>
                <a:spcPct val="92000"/>
              </a:lnSpc>
              <a:buNone/>
            </a:pPr>
            <a:r>
              <a:rPr lang="en-US" sz="1100" b="1" dirty="0">
                <a:solidFill>
                  <a:srgbClr val="14302A"/>
                </a:solidFill>
              </a:rPr>
              <a:t>DECLINED</a:t>
            </a:r>
            <a:endParaRPr lang="en-US" sz="1100" dirty="0"/>
          </a:p>
          <a:p>
            <a:pPr indent="0" marL="0">
              <a:lnSpc>
                <a:spcPct val="92000"/>
              </a:lnSpc>
              <a:buNone/>
            </a:pPr>
            <a:r>
              <a:rPr lang="en-US" sz="1000" dirty="0">
                <a:solidFill>
                  <a:srgbClr val="5C6B64"/>
                </a:solidFill>
              </a:rPr>
              <a:t>Entered only from awaiting authorisation, when the customer says no; leaves to ready-for-delivery or straight to invoiced.</a:t>
            </a:r>
            <a:endParaRPr lang="en-US" sz="1100" dirty="0"/>
          </a:p>
        </p:txBody>
      </p:sp>
      <p:sp>
        <p:nvSpPr>
          <p:cNvPr id="42" name="card-Deliberately not I"/>
          <p:cNvSpPr/>
          <p:nvPr/>
        </p:nvSpPr>
        <p:spPr>
          <a:xfrm>
            <a:off x="502920" y="4700016"/>
            <a:ext cx="3606698" cy="1188720"/>
          </a:xfrm>
          <a:prstGeom prst="rect">
            <a:avLst/>
          </a:prstGeom>
          <a:solidFill>
            <a:srgbClr val="FFFFFF"/>
          </a:solidFill>
          <a:ln w="12700">
            <a:solidFill>
              <a:srgbClr val="C3CCC0"/>
            </a:solidFill>
            <a:prstDash val="solid"/>
          </a:ln>
        </p:spPr>
      </p:sp>
      <p:sp>
        <p:nvSpPr>
          <p:cNvPr id="43" name="Text 41"/>
          <p:cNvSpPr txBox="1"/>
          <p:nvPr/>
        </p:nvSpPr>
        <p:spPr>
          <a:xfrm>
            <a:off x="566928" y="4736592"/>
            <a:ext cx="3478682" cy="111556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Deliberately not IN_PROGRESS / COMPLETE</a:t>
            </a:r>
            <a:endParaRPr lang="en-US" sz="1100" dirty="0"/>
          </a:p>
          <a:p>
            <a:pPr algn="l" indent="0" marL="0">
              <a:lnSpc>
                <a:spcPct val="92000"/>
              </a:lnSpc>
              <a:buNone/>
            </a:pPr>
            <a:r>
              <a:rPr lang="en-US" sz="1000" dirty="0">
                <a:solidFill>
                  <a:srgbClr val="5C6B64"/>
                </a:solidFill>
              </a:rPr>
              <a:t>The states that matter are the blocking ones — that is where vehicles actually sit, and where the agent creates value.</a:t>
            </a:r>
            <a:endParaRPr lang="en-US" sz="1100" dirty="0"/>
          </a:p>
        </p:txBody>
      </p:sp>
      <p:sp>
        <p:nvSpPr>
          <p:cNvPr id="44" name="card-The authorisation "/>
          <p:cNvSpPr/>
          <p:nvPr/>
        </p:nvSpPr>
        <p:spPr>
          <a:xfrm>
            <a:off x="4292498" y="4700016"/>
            <a:ext cx="3606698" cy="1188720"/>
          </a:xfrm>
          <a:prstGeom prst="rect">
            <a:avLst/>
          </a:prstGeom>
          <a:solidFill>
            <a:srgbClr val="FFFFFF"/>
          </a:solidFill>
          <a:ln w="12700">
            <a:solidFill>
              <a:srgbClr val="C3CCC0"/>
            </a:solidFill>
            <a:prstDash val="solid"/>
          </a:ln>
        </p:spPr>
      </p:sp>
      <p:sp>
        <p:nvSpPr>
          <p:cNvPr id="45" name="Text 43"/>
          <p:cNvSpPr txBox="1"/>
          <p:nvPr/>
        </p:nvSpPr>
        <p:spPr>
          <a:xfrm>
            <a:off x="4356506" y="4736592"/>
            <a:ext cx="3478682" cy="111556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The authorisation rule</a:t>
            </a:r>
            <a:endParaRPr lang="en-US" sz="1100" dirty="0"/>
          </a:p>
          <a:p>
            <a:pPr algn="l" indent="0" marL="0">
              <a:lnSpc>
                <a:spcPct val="92000"/>
              </a:lnSpc>
              <a:buNone/>
            </a:pPr>
            <a:r>
              <a:rPr lang="en-US" sz="1000" dirty="0">
                <a:solidFill>
                  <a:srgbClr val="5C6B64"/>
                </a:solidFill>
              </a:rPr>
              <a:t>Repair cannot legitimately begin before the customer has said yes. That gate is why the release-claim rail exists.</a:t>
            </a:r>
            <a:endParaRPr lang="en-US" sz="1100" dirty="0"/>
          </a:p>
        </p:txBody>
      </p:sp>
      <p:sp>
        <p:nvSpPr>
          <p:cNvPr id="46" name="card-QC failure is an e"/>
          <p:cNvSpPr/>
          <p:nvPr/>
        </p:nvSpPr>
        <p:spPr>
          <a:xfrm>
            <a:off x="8082077" y="4700016"/>
            <a:ext cx="3606698" cy="1188720"/>
          </a:xfrm>
          <a:prstGeom prst="rect">
            <a:avLst/>
          </a:prstGeom>
          <a:solidFill>
            <a:srgbClr val="FFFFFF"/>
          </a:solidFill>
          <a:ln w="12700">
            <a:solidFill>
              <a:srgbClr val="C3CCC0"/>
            </a:solidFill>
            <a:prstDash val="solid"/>
          </a:ln>
        </p:spPr>
      </p:sp>
      <p:sp>
        <p:nvSpPr>
          <p:cNvPr id="47" name="Text 45"/>
          <p:cNvSpPr txBox="1"/>
          <p:nvPr/>
        </p:nvSpPr>
        <p:spPr>
          <a:xfrm>
            <a:off x="8146085" y="4736592"/>
            <a:ext cx="3478682" cy="1115568"/>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QC failure is an edge, not an error path</a:t>
            </a:r>
            <a:endParaRPr lang="en-US" sz="1100" dirty="0"/>
          </a:p>
          <a:p>
            <a:pPr algn="l" indent="0" marL="0">
              <a:lnSpc>
                <a:spcPct val="92000"/>
              </a:lnSpc>
              <a:buNone/>
            </a:pPr>
            <a:r>
              <a:rPr lang="en-US" sz="1000" dirty="0">
                <a:solidFill>
                  <a:srgbClr val="5C6B64"/>
                </a:solidFill>
              </a:rPr>
              <a:t>Quality control and road test can both send a job back to the bench, and supplementary work re-opens authorisation.</a:t>
            </a:r>
            <a:endParaRPr lang="en-US" sz="1100" dirty="0"/>
          </a:p>
        </p:txBody>
      </p:sp>
      <p:sp>
        <p:nvSpPr>
          <p:cNvPr id="48" name="Text 46"/>
          <p:cNvSpPr txBox="1"/>
          <p:nvPr/>
        </p:nvSpPr>
        <p:spPr>
          <a:xfrm>
            <a:off x="502920" y="5998464"/>
            <a:ext cx="11185855" cy="310896"/>
          </a:xfrm>
          <a:prstGeom prst="rect">
            <a:avLst/>
          </a:prstGeom>
          <a:noFill/>
          <a:ln/>
        </p:spPr>
        <p:txBody>
          <a:bodyPr wrap="square" lIns="0" tIns="0" rIns="0" bIns="0" rtlCol="0" anchor="ctr"/>
          <a:lstStyle/>
          <a:p>
            <a:pPr indent="0" marL="0">
              <a:buNone/>
            </a:pPr>
            <a:r>
              <a:rPr lang="en-US" sz="1000" i="1" dirty="0">
                <a:solidFill>
                  <a:srgbClr val="5C6B64"/>
                </a:solidFill>
              </a:rPr>
              <a:t>Amber marks the two blocking states; green marks the terminal one. The second row flows right to left, so every arrow drawn here is a transition the engine actually allows.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What it looks like in use</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One question, end to end — and the three consoles that show it happened. Captured from a live run on the L40S, all three NIMs local.</a:t>
            </a:r>
            <a:endParaRPr lang="en-US" sz="1150" dirty="0"/>
          </a:p>
        </p:txBody>
      </p:sp>
      <p:sp>
        <p:nvSpPr>
          <p:cNvPr id="4" name="card-1 · Question"/>
          <p:cNvSpPr/>
          <p:nvPr/>
        </p:nvSpPr>
        <p:spPr>
          <a:xfrm>
            <a:off x="502920" y="1024128"/>
            <a:ext cx="1635709" cy="841248"/>
          </a:xfrm>
          <a:prstGeom prst="rect">
            <a:avLst/>
          </a:prstGeom>
          <a:solidFill>
            <a:srgbClr val="FFFFFF"/>
          </a:solidFill>
          <a:ln w="12700">
            <a:solidFill>
              <a:srgbClr val="C3CCC0"/>
            </a:solidFill>
            <a:prstDash val="solid"/>
          </a:ln>
        </p:spPr>
      </p:sp>
      <p:sp>
        <p:nvSpPr>
          <p:cNvPr id="5" name="Text 3"/>
          <p:cNvSpPr txBox="1"/>
          <p:nvPr/>
        </p:nvSpPr>
        <p:spPr>
          <a:xfrm>
            <a:off x="566928"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1 · Question</a:t>
            </a:r>
            <a:endParaRPr lang="en-US" sz="1100" dirty="0"/>
          </a:p>
          <a:p>
            <a:pPr algn="l" indent="0" marL="0">
              <a:lnSpc>
                <a:spcPct val="92000"/>
              </a:lnSpc>
              <a:buNone/>
            </a:pPr>
            <a:r>
              <a:rPr lang="en-US" sz="1000" dirty="0">
                <a:solidFill>
                  <a:srgbClr val="5C6B64"/>
                </a:solidFill>
              </a:rPr>
              <a:t>typed in the UI,</a:t>
            </a:r>
            <a:endParaRPr lang="en-US" sz="1100" dirty="0"/>
          </a:p>
          <a:p>
            <a:pPr algn="l" indent="0" marL="0">
              <a:lnSpc>
                <a:spcPct val="92000"/>
              </a:lnSpc>
              <a:buNone/>
            </a:pPr>
            <a:r>
              <a:rPr lang="en-US" sz="1000" dirty="0">
                <a:solidFill>
                  <a:srgbClr val="5C6B64"/>
                </a:solidFill>
              </a:rPr>
              <a:t>or spoken and transcribed</a:t>
            </a:r>
            <a:endParaRPr lang="en-US" sz="1100" dirty="0"/>
          </a:p>
        </p:txBody>
      </p:sp>
      <p:sp>
        <p:nvSpPr>
          <p:cNvPr id="6" name="Shape 4"/>
          <p:cNvSpPr/>
          <p:nvPr/>
        </p:nvSpPr>
        <p:spPr>
          <a:xfrm>
            <a:off x="2175205" y="1325880"/>
            <a:ext cx="201168" cy="201168"/>
          </a:xfrm>
          <a:prstGeom prst="rightArrow">
            <a:avLst/>
          </a:prstGeom>
          <a:solidFill>
            <a:srgbClr val="76B900"/>
          </a:solidFill>
          <a:ln w="12700">
            <a:solidFill>
              <a:srgbClr val="76B900"/>
            </a:solidFill>
            <a:prstDash val="solid"/>
          </a:ln>
        </p:spPr>
      </p:sp>
      <p:sp>
        <p:nvSpPr>
          <p:cNvPr id="7" name="card-2 · Route"/>
          <p:cNvSpPr/>
          <p:nvPr/>
        </p:nvSpPr>
        <p:spPr>
          <a:xfrm>
            <a:off x="2412949" y="1024128"/>
            <a:ext cx="1635709" cy="841248"/>
          </a:xfrm>
          <a:prstGeom prst="rect">
            <a:avLst/>
          </a:prstGeom>
          <a:solidFill>
            <a:srgbClr val="FFFFFF"/>
          </a:solidFill>
          <a:ln w="12700">
            <a:solidFill>
              <a:srgbClr val="C3CCC0"/>
            </a:solidFill>
            <a:prstDash val="solid"/>
          </a:ln>
        </p:spPr>
      </p:sp>
      <p:sp>
        <p:nvSpPr>
          <p:cNvPr id="8" name="Text 6"/>
          <p:cNvSpPr txBox="1"/>
          <p:nvPr/>
        </p:nvSpPr>
        <p:spPr>
          <a:xfrm>
            <a:off x="2476957"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2 · Route</a:t>
            </a:r>
            <a:endParaRPr lang="en-US" sz="1100" dirty="0"/>
          </a:p>
          <a:p>
            <a:pPr algn="l" indent="0" marL="0">
              <a:lnSpc>
                <a:spcPct val="92000"/>
              </a:lnSpc>
              <a:buNone/>
            </a:pPr>
            <a:r>
              <a:rPr lang="en-US" sz="1000" dirty="0">
                <a:solidFill>
                  <a:srgbClr val="5C6B64"/>
                </a:solidFill>
              </a:rPr>
              <a:t>keyword match picks one typed tool.</a:t>
            </a:r>
            <a:endParaRPr lang="en-US" sz="1100" dirty="0"/>
          </a:p>
          <a:p>
            <a:pPr algn="l" indent="0" marL="0">
              <a:lnSpc>
                <a:spcPct val="92000"/>
              </a:lnSpc>
              <a:buNone/>
            </a:pPr>
            <a:r>
              <a:rPr lang="en-US" sz="1000" dirty="0">
                <a:solidFill>
                  <a:srgbClr val="5C6B64"/>
                </a:solidFill>
              </a:rPr>
              <a:t>No model call here</a:t>
            </a:r>
            <a:endParaRPr lang="en-US" sz="1100" dirty="0"/>
          </a:p>
        </p:txBody>
      </p:sp>
      <p:sp>
        <p:nvSpPr>
          <p:cNvPr id="9" name="Shape 7"/>
          <p:cNvSpPr/>
          <p:nvPr/>
        </p:nvSpPr>
        <p:spPr>
          <a:xfrm>
            <a:off x="4085234" y="1325880"/>
            <a:ext cx="201168" cy="201168"/>
          </a:xfrm>
          <a:prstGeom prst="rightArrow">
            <a:avLst/>
          </a:prstGeom>
          <a:solidFill>
            <a:srgbClr val="76B900"/>
          </a:solidFill>
          <a:ln w="12700">
            <a:solidFill>
              <a:srgbClr val="76B900"/>
            </a:solidFill>
            <a:prstDash val="solid"/>
          </a:ln>
        </p:spPr>
      </p:sp>
      <p:sp>
        <p:nvSpPr>
          <p:cNvPr id="10" name="card-3 · Read"/>
          <p:cNvSpPr/>
          <p:nvPr/>
        </p:nvSpPr>
        <p:spPr>
          <a:xfrm>
            <a:off x="4322978" y="1024128"/>
            <a:ext cx="1635709" cy="841248"/>
          </a:xfrm>
          <a:prstGeom prst="rect">
            <a:avLst/>
          </a:prstGeom>
          <a:solidFill>
            <a:srgbClr val="FFFFFF"/>
          </a:solidFill>
          <a:ln w="12700">
            <a:solidFill>
              <a:srgbClr val="C3CCC0"/>
            </a:solidFill>
            <a:prstDash val="solid"/>
          </a:ln>
        </p:spPr>
      </p:sp>
      <p:sp>
        <p:nvSpPr>
          <p:cNvPr id="11" name="Text 9"/>
          <p:cNvSpPr txBox="1"/>
          <p:nvPr/>
        </p:nvSpPr>
        <p:spPr>
          <a:xfrm>
            <a:off x="4386986"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3 · Read</a:t>
            </a:r>
            <a:endParaRPr lang="en-US" sz="1100" dirty="0"/>
          </a:p>
          <a:p>
            <a:pPr algn="l" indent="0" marL="0">
              <a:lnSpc>
                <a:spcPct val="92000"/>
              </a:lnSpc>
              <a:buNone/>
            </a:pPr>
            <a:r>
              <a:rPr lang="en-US" sz="1000" dirty="0">
                <a:solidFill>
                  <a:srgbClr val="5C6B64"/>
                </a:solidFill>
              </a:rPr>
              <a:t>SQL over the event log, or</a:t>
            </a:r>
            <a:endParaRPr lang="en-US" sz="1100" dirty="0"/>
          </a:p>
          <a:p>
            <a:pPr algn="l" indent="0" marL="0">
              <a:lnSpc>
                <a:spcPct val="92000"/>
              </a:lnSpc>
              <a:buNone/>
            </a:pPr>
            <a:r>
              <a:rPr lang="en-US" sz="1000" dirty="0">
                <a:solidFill>
                  <a:srgbClr val="5C6B64"/>
                </a:solidFill>
              </a:rPr>
              <a:t>embed &gt; Milvus &gt; rerank</a:t>
            </a:r>
            <a:endParaRPr lang="en-US" sz="1100" dirty="0"/>
          </a:p>
        </p:txBody>
      </p:sp>
      <p:sp>
        <p:nvSpPr>
          <p:cNvPr id="12" name="Shape 10"/>
          <p:cNvSpPr/>
          <p:nvPr/>
        </p:nvSpPr>
        <p:spPr>
          <a:xfrm>
            <a:off x="5995264" y="1325880"/>
            <a:ext cx="201168" cy="201168"/>
          </a:xfrm>
          <a:prstGeom prst="rightArrow">
            <a:avLst/>
          </a:prstGeom>
          <a:solidFill>
            <a:srgbClr val="76B900"/>
          </a:solidFill>
          <a:ln w="12700">
            <a:solidFill>
              <a:srgbClr val="76B900"/>
            </a:solidFill>
            <a:prstDash val="solid"/>
          </a:ln>
        </p:spPr>
      </p:sp>
      <p:sp>
        <p:nvSpPr>
          <p:cNvPr id="13" name="card-4 · Compose"/>
          <p:cNvSpPr/>
          <p:nvPr/>
        </p:nvSpPr>
        <p:spPr>
          <a:xfrm>
            <a:off x="6233008" y="1024128"/>
            <a:ext cx="1635709" cy="841248"/>
          </a:xfrm>
          <a:prstGeom prst="rect">
            <a:avLst/>
          </a:prstGeom>
          <a:solidFill>
            <a:srgbClr val="FFFFFF"/>
          </a:solidFill>
          <a:ln w="12700">
            <a:solidFill>
              <a:srgbClr val="C3CCC0"/>
            </a:solidFill>
            <a:prstDash val="solid"/>
          </a:ln>
        </p:spPr>
      </p:sp>
      <p:sp>
        <p:nvSpPr>
          <p:cNvPr id="14" name="Text 12"/>
          <p:cNvSpPr txBox="1"/>
          <p:nvPr/>
        </p:nvSpPr>
        <p:spPr>
          <a:xfrm>
            <a:off x="6297016"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4 · Compose</a:t>
            </a:r>
            <a:endParaRPr lang="en-US" sz="1100" dirty="0"/>
          </a:p>
          <a:p>
            <a:pPr algn="l" indent="0" marL="0">
              <a:lnSpc>
                <a:spcPct val="92000"/>
              </a:lnSpc>
              <a:buNone/>
            </a:pPr>
            <a:r>
              <a:rPr lang="en-US" sz="1000" dirty="0">
                <a:solidFill>
                  <a:srgbClr val="5C6B64"/>
                </a:solidFill>
              </a:rPr>
              <a:t>Python builds the answer.</a:t>
            </a:r>
            <a:endParaRPr lang="en-US" sz="1100" dirty="0"/>
          </a:p>
          <a:p>
            <a:pPr algn="l" indent="0" marL="0">
              <a:lnSpc>
                <a:spcPct val="92000"/>
              </a:lnSpc>
              <a:buNone/>
            </a:pPr>
            <a:r>
              <a:rPr lang="en-US" sz="1000" dirty="0">
                <a:solidFill>
                  <a:srgbClr val="5C6B64"/>
                </a:solidFill>
              </a:rPr>
              <a:t>The model only narrates prose</a:t>
            </a:r>
            <a:endParaRPr lang="en-US" sz="1100" dirty="0"/>
          </a:p>
        </p:txBody>
      </p:sp>
      <p:sp>
        <p:nvSpPr>
          <p:cNvPr id="15" name="Shape 13"/>
          <p:cNvSpPr/>
          <p:nvPr/>
        </p:nvSpPr>
        <p:spPr>
          <a:xfrm>
            <a:off x="7905293" y="1325880"/>
            <a:ext cx="201168" cy="201168"/>
          </a:xfrm>
          <a:prstGeom prst="rightArrow">
            <a:avLst/>
          </a:prstGeom>
          <a:solidFill>
            <a:srgbClr val="76B900"/>
          </a:solidFill>
          <a:ln w="12700">
            <a:solidFill>
              <a:srgbClr val="76B900"/>
            </a:solidFill>
            <a:prstDash val="solid"/>
          </a:ln>
        </p:spPr>
      </p:sp>
      <p:sp>
        <p:nvSpPr>
          <p:cNvPr id="16" name="card-5 · Check"/>
          <p:cNvSpPr/>
          <p:nvPr/>
        </p:nvSpPr>
        <p:spPr>
          <a:xfrm>
            <a:off x="8143037" y="1024128"/>
            <a:ext cx="1635709" cy="841248"/>
          </a:xfrm>
          <a:prstGeom prst="rect">
            <a:avLst/>
          </a:prstGeom>
          <a:solidFill>
            <a:srgbClr val="FFFFFF"/>
          </a:solidFill>
          <a:ln w="22225">
            <a:solidFill>
              <a:srgbClr val="76B900"/>
            </a:solidFill>
            <a:prstDash val="solid"/>
          </a:ln>
        </p:spPr>
      </p:sp>
      <p:sp>
        <p:nvSpPr>
          <p:cNvPr id="17" name="Text 15"/>
          <p:cNvSpPr txBox="1"/>
          <p:nvPr/>
        </p:nvSpPr>
        <p:spPr>
          <a:xfrm>
            <a:off x="8207045"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14302A"/>
                </a:solidFill>
              </a:rPr>
              <a:t>5 · Check</a:t>
            </a:r>
            <a:endParaRPr lang="en-US" sz="1100" dirty="0"/>
          </a:p>
          <a:p>
            <a:pPr algn="l" indent="0" marL="0">
              <a:lnSpc>
                <a:spcPct val="92000"/>
              </a:lnSpc>
              <a:buNone/>
            </a:pPr>
            <a:r>
              <a:rPr lang="en-US" sz="1000" dirty="0">
                <a:solidFill>
                  <a:srgbClr val="5C6B64"/>
                </a:solidFill>
              </a:rPr>
              <a:t>every figure must trace back</a:t>
            </a:r>
            <a:endParaRPr lang="en-US" sz="1100" dirty="0"/>
          </a:p>
          <a:p>
            <a:pPr algn="l" indent="0" marL="0">
              <a:lnSpc>
                <a:spcPct val="92000"/>
              </a:lnSpc>
              <a:buNone/>
            </a:pPr>
            <a:r>
              <a:rPr lang="en-US" sz="1000" dirty="0">
                <a:solidFill>
                  <a:srgbClr val="5C6B64"/>
                </a:solidFill>
              </a:rPr>
              <a:t>to a tool result, or it is blocked</a:t>
            </a:r>
            <a:endParaRPr lang="en-US" sz="1100" dirty="0"/>
          </a:p>
        </p:txBody>
      </p:sp>
      <p:sp>
        <p:nvSpPr>
          <p:cNvPr id="18" name="Shape 16"/>
          <p:cNvSpPr/>
          <p:nvPr/>
        </p:nvSpPr>
        <p:spPr>
          <a:xfrm>
            <a:off x="9815322" y="1325880"/>
            <a:ext cx="201168" cy="201168"/>
          </a:xfrm>
          <a:prstGeom prst="rightArrow">
            <a:avLst/>
          </a:prstGeom>
          <a:solidFill>
            <a:srgbClr val="76B900"/>
          </a:solidFill>
          <a:ln w="12700">
            <a:solidFill>
              <a:srgbClr val="76B900"/>
            </a:solidFill>
            <a:prstDash val="solid"/>
          </a:ln>
        </p:spPr>
      </p:sp>
      <p:sp>
        <p:nvSpPr>
          <p:cNvPr id="19" name="card-6 · Answer"/>
          <p:cNvSpPr/>
          <p:nvPr/>
        </p:nvSpPr>
        <p:spPr>
          <a:xfrm>
            <a:off x="10053066" y="1024128"/>
            <a:ext cx="1635709" cy="841248"/>
          </a:xfrm>
          <a:prstGeom prst="rect">
            <a:avLst/>
          </a:prstGeom>
          <a:solidFill>
            <a:srgbClr val="5B8C3A"/>
          </a:solidFill>
          <a:ln w="19050">
            <a:solidFill>
              <a:srgbClr val="446B29"/>
            </a:solidFill>
            <a:prstDash val="solid"/>
          </a:ln>
        </p:spPr>
      </p:sp>
      <p:sp>
        <p:nvSpPr>
          <p:cNvPr id="20" name="Text 18"/>
          <p:cNvSpPr txBox="1"/>
          <p:nvPr/>
        </p:nvSpPr>
        <p:spPr>
          <a:xfrm>
            <a:off x="10117074" y="1060704"/>
            <a:ext cx="1507693" cy="768096"/>
          </a:xfrm>
          <a:prstGeom prst="rect">
            <a:avLst/>
          </a:prstGeom>
          <a:noFill/>
          <a:ln/>
        </p:spPr>
        <p:txBody>
          <a:bodyPr wrap="square" lIns="0" tIns="0" rIns="0" bIns="0" rtlCol="0" anchor="t"/>
          <a:lstStyle/>
          <a:p>
            <a:pPr algn="l" indent="0" marL="0">
              <a:lnSpc>
                <a:spcPct val="92000"/>
              </a:lnSpc>
              <a:buNone/>
            </a:pPr>
            <a:r>
              <a:rPr lang="en-US" sz="1100" b="1" dirty="0">
                <a:solidFill>
                  <a:srgbClr val="FFFFFF"/>
                </a:solidFill>
              </a:rPr>
              <a:t>6 · Answer</a:t>
            </a:r>
            <a:endParaRPr lang="en-US" sz="1100" dirty="0"/>
          </a:p>
          <a:p>
            <a:pPr algn="l" indent="0" marL="0">
              <a:lnSpc>
                <a:spcPct val="92000"/>
              </a:lnSpc>
              <a:buNone/>
            </a:pPr>
            <a:r>
              <a:rPr lang="en-US" sz="1000" dirty="0">
                <a:solidFill>
                  <a:srgbClr val="DCE8CF"/>
                </a:solidFill>
              </a:rPr>
              <a:t>with the record ids</a:t>
            </a:r>
            <a:endParaRPr lang="en-US" sz="1100" dirty="0"/>
          </a:p>
          <a:p>
            <a:pPr algn="l" indent="0" marL="0">
              <a:lnSpc>
                <a:spcPct val="92000"/>
              </a:lnSpc>
              <a:buNone/>
            </a:pPr>
            <a:r>
              <a:rPr lang="en-US" sz="1000" dirty="0">
                <a:solidFill>
                  <a:srgbClr val="DCE8CF"/>
                </a:solidFill>
              </a:rPr>
              <a:t>it was built from</a:t>
            </a:r>
            <a:endParaRPr lang="en-US" sz="1100" dirty="0"/>
          </a:p>
        </p:txBody>
      </p:sp>
      <p:sp>
        <p:nvSpPr>
          <p:cNvPr id="21" name="Text 19"/>
          <p:cNvSpPr txBox="1"/>
          <p:nvPr/>
        </p:nvSpPr>
        <p:spPr>
          <a:xfrm>
            <a:off x="502920" y="1901952"/>
            <a:ext cx="11185855" cy="237744"/>
          </a:xfrm>
          <a:prstGeom prst="rect">
            <a:avLst/>
          </a:prstGeom>
          <a:noFill/>
          <a:ln/>
        </p:spPr>
        <p:txBody>
          <a:bodyPr wrap="square" lIns="0" tIns="0" rIns="0" bIns="0" rtlCol="0" anchor="ctr"/>
          <a:lstStyle/>
          <a:p>
            <a:pPr algn="ctr" indent="0" marL="0">
              <a:buNone/>
            </a:pPr>
            <a:r>
              <a:rPr lang="en-US" sz="1000" b="1" dirty="0">
                <a:solidFill>
                  <a:srgbClr val="14302A"/>
                </a:solidFill>
              </a:rPr>
              <a:t>Steps 1, 2, 4 and 6 never touch a model. </a:t>
            </a:r>
            <a:pPr algn="ctr" indent="0" marL="0">
              <a:buNone/>
            </a:pPr>
            <a:r>
              <a:rPr lang="en-US" sz="1000" dirty="0">
                <a:solidFill>
                  <a:srgbClr val="5C6B64"/>
                </a:solidFill>
              </a:rPr>
              <a:t>Only step 3's semantic branch and step 4's narration do - which is why eight of eleven questions answer in under a tenth of a second.</a:t>
            </a:r>
            <a:endParaRPr lang="en-US" sz="1000" dirty="0"/>
          </a:p>
        </p:txBody>
      </p:sp>
      <p:sp>
        <p:nvSpPr>
          <p:cNvPr id="22" name="frame-05-app-manager-a"/>
          <p:cNvSpPr/>
          <p:nvPr/>
        </p:nvSpPr>
        <p:spPr>
          <a:xfrm>
            <a:off x="484632" y="2269440"/>
            <a:ext cx="2825496" cy="1953360"/>
          </a:xfrm>
          <a:prstGeom prst="rect">
            <a:avLst/>
          </a:prstGeom>
          <a:solidFill>
            <a:srgbClr val="FFFFFF"/>
          </a:solidFill>
          <a:ln w="12700">
            <a:solidFill>
              <a:srgbClr val="C3CCC0"/>
            </a:solidFill>
            <a:prstDash val="solid"/>
          </a:ln>
        </p:spPr>
      </p:sp>
      <p:pic>
        <p:nvPicPr>
          <p:cNvPr id="23" name="Image 0" descr="docs/screenshots/05-app-manager-assistant.jpg">    </p:cNvPr>
          <p:cNvPicPr>
            <a:picLocks noChangeAspect="1"/>
          </p:cNvPicPr>
          <p:nvPr/>
        </p:nvPicPr>
        <p:blipFill>
          <a:blip r:embed="rId1"/>
          <a:stretch>
            <a:fillRect/>
          </a:stretch>
        </p:blipFill>
        <p:spPr>
          <a:xfrm>
            <a:off x="502920" y="2287728"/>
            <a:ext cx="2788920" cy="1916784"/>
          </a:xfrm>
          <a:prstGeom prst="rect">
            <a:avLst/>
          </a:prstGeom>
        </p:spPr>
      </p:pic>
      <p:sp>
        <p:nvSpPr>
          <p:cNvPr id="24" name="Text 21"/>
          <p:cNvSpPr txBox="1"/>
          <p:nvPr/>
        </p:nvSpPr>
        <p:spPr>
          <a:xfrm>
            <a:off x="3438144" y="2304288"/>
            <a:ext cx="2520544" cy="274320"/>
          </a:xfrm>
          <a:prstGeom prst="rect">
            <a:avLst/>
          </a:prstGeom>
          <a:noFill/>
          <a:ln/>
        </p:spPr>
        <p:txBody>
          <a:bodyPr wrap="square" lIns="0" tIns="0" rIns="0" bIns="0" rtlCol="0" anchor="ctr"/>
          <a:lstStyle/>
          <a:p>
            <a:pPr indent="0" marL="0">
              <a:buNone/>
            </a:pPr>
            <a:r>
              <a:rPr lang="en-US" sz="1200" b="1" dirty="0">
                <a:solidFill>
                  <a:srgbClr val="14302A"/>
                </a:solidFill>
                <a:latin typeface="Arial" pitchFamily="34" charset="0"/>
                <a:ea typeface="Arial" pitchFamily="34" charset="-122"/>
                <a:cs typeface="Arial" pitchFamily="34" charset="-120"/>
              </a:rPr>
              <a:t>The question a service manager asks</a:t>
            </a:r>
            <a:endParaRPr lang="en-US" sz="1200" dirty="0"/>
          </a:p>
        </p:txBody>
      </p:sp>
      <p:sp>
        <p:nvSpPr>
          <p:cNvPr id="25" name="Text 22"/>
          <p:cNvSpPr txBox="1"/>
          <p:nvPr/>
        </p:nvSpPr>
        <p:spPr>
          <a:xfrm>
            <a:off x="3438144" y="2596896"/>
            <a:ext cx="2520544" cy="1591056"/>
          </a:xfrm>
          <a:prstGeom prst="rect">
            <a:avLst/>
          </a:prstGeom>
          <a:noFill/>
          <a:ln/>
        </p:spPr>
        <p:txBody>
          <a:bodyPr wrap="square" lIns="0" tIns="0" rIns="0" bIns="0" rtlCol="0" anchor="ctr"/>
          <a:lstStyle/>
          <a:p>
            <a:pPr marL="342900" indent="-342900">
              <a:lnSpc>
                <a:spcPct val="100000"/>
              </a:lnSpc>
              <a:spcAft>
                <a:spcPts val="300"/>
              </a:spcAft>
              <a:buSzPct val="100000"/>
              <a:buChar char="•"/>
            </a:pPr>
            <a:r>
              <a:rPr lang="en-US" sz="1000" dirty="0">
                <a:solidFill>
                  <a:srgbClr val="5C6B64"/>
                </a:solidFill>
              </a:rPr>
              <a:t>Plain English in; a keyword router picks the tool</a:t>
            </a:r>
            <a:endParaRPr lang="en-US" sz="1000" dirty="0"/>
          </a:p>
          <a:p>
            <a:pPr marL="342900" indent="-342900">
              <a:lnSpc>
                <a:spcPct val="100000"/>
              </a:lnSpc>
              <a:spcAft>
                <a:spcPts val="300"/>
              </a:spcAft>
              <a:buSzPct val="100000"/>
              <a:buChar char="•"/>
            </a:pPr>
            <a:r>
              <a:rPr lang="en-US" sz="1000" dirty="0">
                <a:solidFill>
                  <a:srgbClr val="5C6B64"/>
                </a:solidFill>
              </a:rPr>
              <a:t>The answer ends in the six record ids it used -</a:t>
            </a:r>
            <a:endParaRPr lang="en-US" sz="1000" dirty="0"/>
          </a:p>
          <a:p>
            <a:pPr marL="342900" indent="-342900">
              <a:lnSpc>
                <a:spcPct val="100000"/>
              </a:lnSpc>
              <a:spcAft>
                <a:spcPts val="300"/>
              </a:spcAft>
              <a:buSzPct val="100000"/>
              <a:buChar char="•"/>
            </a:pPr>
            <a:r>
              <a:rPr lang="en-US" sz="1000" dirty="0">
                <a:solidFill>
                  <a:srgbClr val="5C6B64"/>
                </a:solidFill>
              </a:rPr>
              <a:t>the same six as docs/EXAMPLES.md</a:t>
            </a:r>
            <a:endParaRPr lang="en-US" sz="1000" dirty="0"/>
          </a:p>
          <a:p>
            <a:pPr marL="342900" indent="-342900">
              <a:lnSpc>
                <a:spcPct val="100000"/>
              </a:lnSpc>
              <a:spcAft>
                <a:spcPts val="300"/>
              </a:spcAft>
              <a:buSzPct val="100000"/>
              <a:buChar char="•"/>
            </a:pPr>
            <a:r>
              <a:rPr lang="en-US" sz="1000" dirty="0">
                <a:solidFill>
                  <a:srgbClr val="5C6B64"/>
                </a:solidFill>
              </a:rPr>
              <a:t>Measured: 9 of 11 answer in under 0.11s</a:t>
            </a:r>
            <a:endParaRPr lang="en-US" sz="1000" dirty="0"/>
          </a:p>
        </p:txBody>
      </p:sp>
      <p:sp>
        <p:nvSpPr>
          <p:cNvPr id="26" name="frame-09-grafana-dashb"/>
          <p:cNvSpPr/>
          <p:nvPr/>
        </p:nvSpPr>
        <p:spPr>
          <a:xfrm>
            <a:off x="6214720" y="2269440"/>
            <a:ext cx="2825496" cy="1953360"/>
          </a:xfrm>
          <a:prstGeom prst="rect">
            <a:avLst/>
          </a:prstGeom>
          <a:solidFill>
            <a:srgbClr val="FFFFFF"/>
          </a:solidFill>
          <a:ln w="12700">
            <a:solidFill>
              <a:srgbClr val="C3CCC0"/>
            </a:solidFill>
            <a:prstDash val="solid"/>
          </a:ln>
        </p:spPr>
      </p:sp>
      <p:pic>
        <p:nvPicPr>
          <p:cNvPr id="27" name="Image 1" descr="docs/screenshots/09-grafana-dashboard.jpg">    </p:cNvPr>
          <p:cNvPicPr>
            <a:picLocks noChangeAspect="1"/>
          </p:cNvPicPr>
          <p:nvPr/>
        </p:nvPicPr>
        <p:blipFill>
          <a:blip r:embed="rId2"/>
          <a:stretch>
            <a:fillRect/>
          </a:stretch>
        </p:blipFill>
        <p:spPr>
          <a:xfrm>
            <a:off x="6233008" y="2287728"/>
            <a:ext cx="2788920" cy="1916784"/>
          </a:xfrm>
          <a:prstGeom prst="rect">
            <a:avLst/>
          </a:prstGeom>
        </p:spPr>
      </p:pic>
      <p:sp>
        <p:nvSpPr>
          <p:cNvPr id="28" name="Text 24"/>
          <p:cNvSpPr txBox="1"/>
          <p:nvPr/>
        </p:nvSpPr>
        <p:spPr>
          <a:xfrm>
            <a:off x="9168232" y="2304288"/>
            <a:ext cx="2520544" cy="274320"/>
          </a:xfrm>
          <a:prstGeom prst="rect">
            <a:avLst/>
          </a:prstGeom>
          <a:noFill/>
          <a:ln/>
        </p:spPr>
        <p:txBody>
          <a:bodyPr wrap="square" lIns="0" tIns="0" rIns="0" bIns="0" rtlCol="0" anchor="ctr"/>
          <a:lstStyle/>
          <a:p>
            <a:pPr indent="0" marL="0">
              <a:buNone/>
            </a:pPr>
            <a:r>
              <a:rPr lang="en-US" sz="1200" b="1" dirty="0">
                <a:solidFill>
                  <a:srgbClr val="14302A"/>
                </a:solidFill>
                <a:latin typeface="Arial" pitchFamily="34" charset="0"/>
                <a:ea typeface="Arial" pitchFamily="34" charset="-122"/>
                <a:cs typeface="Arial" pitchFamily="34" charset="-120"/>
              </a:rPr>
              <a:t>Grafana — the thesis, measured</a:t>
            </a:r>
            <a:endParaRPr lang="en-US" sz="1200" dirty="0"/>
          </a:p>
        </p:txBody>
      </p:sp>
      <p:sp>
        <p:nvSpPr>
          <p:cNvPr id="29" name="Text 25"/>
          <p:cNvSpPr txBox="1"/>
          <p:nvPr/>
        </p:nvSpPr>
        <p:spPr>
          <a:xfrm>
            <a:off x="9168232" y="2596896"/>
            <a:ext cx="2520544" cy="1591056"/>
          </a:xfrm>
          <a:prstGeom prst="rect">
            <a:avLst/>
          </a:prstGeom>
          <a:noFill/>
          <a:ln/>
        </p:spPr>
        <p:txBody>
          <a:bodyPr wrap="square" lIns="0" tIns="0" rIns="0" bIns="0" rtlCol="0" anchor="ctr"/>
          <a:lstStyle/>
          <a:p>
            <a:pPr marL="342900" indent="-342900">
              <a:lnSpc>
                <a:spcPct val="100000"/>
              </a:lnSpc>
              <a:spcAft>
                <a:spcPts val="300"/>
              </a:spcAft>
              <a:buSzPct val="100000"/>
              <a:buChar char="•"/>
            </a:pPr>
            <a:r>
              <a:rPr lang="en-US" sz="1000" dirty="0">
                <a:solidFill>
                  <a:srgbClr val="5C6B64"/>
                </a:solidFill>
              </a:rPr>
              <a:t>90.9% of answers composed in Python, over 30 min</a:t>
            </a:r>
            <a:endParaRPr lang="en-US" sz="1000" dirty="0"/>
          </a:p>
          <a:p>
            <a:pPr marL="342900" indent="-342900">
              <a:lnSpc>
                <a:spcPct val="100000"/>
              </a:lnSpc>
              <a:spcAft>
                <a:spcPts val="300"/>
              </a:spcAft>
              <a:buSzPct val="100000"/>
              <a:buChar char="•"/>
            </a:pPr>
            <a:r>
              <a:rPr lang="en-US" sz="1000" dirty="0">
                <a:solidFill>
                  <a:srgbClr val="5C6B64"/>
                </a:solidFill>
              </a:rPr>
              <a:t>Ungrounded 0 · cut short 0 · blocks 0 · errors 0</a:t>
            </a:r>
            <a:endParaRPr lang="en-US" sz="1000" dirty="0"/>
          </a:p>
          <a:p>
            <a:pPr marL="342900" indent="-342900">
              <a:lnSpc>
                <a:spcPct val="100000"/>
              </a:lnSpc>
              <a:spcAft>
                <a:spcPts val="300"/>
              </a:spcAft>
              <a:buSzPct val="100000"/>
              <a:buChar char="•"/>
            </a:pPr>
            <a:r>
              <a:rPr lang="en-US" sz="1000" dirty="0">
                <a:solidFill>
                  <a:srgbClr val="5C6B64"/>
                </a:solidFill>
              </a:rPr>
              <a:t>p50 by path: python ~0s against llm ~3s</a:t>
            </a:r>
            <a:endParaRPr lang="en-US" sz="1000" dirty="0"/>
          </a:p>
          <a:p>
            <a:pPr marL="342900" indent="-342900">
              <a:lnSpc>
                <a:spcPct val="100000"/>
              </a:lnSpc>
              <a:spcAft>
                <a:spcPts val="300"/>
              </a:spcAft>
              <a:buSzPct val="100000"/>
              <a:buChar char="•"/>
            </a:pPr>
            <a:r>
              <a:rPr lang="en-US" sz="1000" dirty="0">
                <a:solidFill>
                  <a:srgbClr val="5C6B64"/>
                </a:solidFill>
              </a:rPr>
              <a:t>GPU to 100% on the semantic queries, flat otherwise</a:t>
            </a:r>
            <a:endParaRPr lang="en-US" sz="1000" dirty="0"/>
          </a:p>
        </p:txBody>
      </p:sp>
      <p:sp>
        <p:nvSpPr>
          <p:cNvPr id="30" name="frame-08-prometheus-to"/>
          <p:cNvSpPr/>
          <p:nvPr/>
        </p:nvSpPr>
        <p:spPr>
          <a:xfrm>
            <a:off x="484632" y="4427424"/>
            <a:ext cx="2825496" cy="1953360"/>
          </a:xfrm>
          <a:prstGeom prst="rect">
            <a:avLst/>
          </a:prstGeom>
          <a:solidFill>
            <a:srgbClr val="FFFFFF"/>
          </a:solidFill>
          <a:ln w="12700">
            <a:solidFill>
              <a:srgbClr val="C3CCC0"/>
            </a:solidFill>
            <a:prstDash val="solid"/>
          </a:ln>
        </p:spPr>
      </p:sp>
      <p:pic>
        <p:nvPicPr>
          <p:cNvPr id="31" name="Image 2" descr="docs/screenshots/08-prometheus-tool-calls.jpg">    </p:cNvPr>
          <p:cNvPicPr>
            <a:picLocks noChangeAspect="1"/>
          </p:cNvPicPr>
          <p:nvPr/>
        </p:nvPicPr>
        <p:blipFill>
          <a:blip r:embed="rId3"/>
          <a:stretch>
            <a:fillRect/>
          </a:stretch>
        </p:blipFill>
        <p:spPr>
          <a:xfrm>
            <a:off x="502920" y="4445712"/>
            <a:ext cx="2788920" cy="1916784"/>
          </a:xfrm>
          <a:prstGeom prst="rect">
            <a:avLst/>
          </a:prstGeom>
        </p:spPr>
      </p:pic>
      <p:sp>
        <p:nvSpPr>
          <p:cNvPr id="32" name="Text 27"/>
          <p:cNvSpPr txBox="1"/>
          <p:nvPr/>
        </p:nvSpPr>
        <p:spPr>
          <a:xfrm>
            <a:off x="3438144" y="4462272"/>
            <a:ext cx="2520544" cy="274320"/>
          </a:xfrm>
          <a:prstGeom prst="rect">
            <a:avLst/>
          </a:prstGeom>
          <a:noFill/>
          <a:ln/>
        </p:spPr>
        <p:txBody>
          <a:bodyPr wrap="square" lIns="0" tIns="0" rIns="0" bIns="0" rtlCol="0" anchor="ctr"/>
          <a:lstStyle/>
          <a:p>
            <a:pPr indent="0" marL="0">
              <a:buNone/>
            </a:pPr>
            <a:r>
              <a:rPr lang="en-US" sz="1200" b="1" dirty="0">
                <a:solidFill>
                  <a:srgbClr val="14302A"/>
                </a:solidFill>
                <a:latin typeface="Arial" pitchFamily="34" charset="0"/>
                <a:ea typeface="Arial" pitchFamily="34" charset="-122"/>
                <a:cs typeface="Arial" pitchFamily="34" charset="-120"/>
              </a:rPr>
              <a:t>Prometheus — which tools actually ran</a:t>
            </a:r>
            <a:endParaRPr lang="en-US" sz="1200" dirty="0"/>
          </a:p>
        </p:txBody>
      </p:sp>
      <p:sp>
        <p:nvSpPr>
          <p:cNvPr id="33" name="Text 28"/>
          <p:cNvSpPr txBox="1"/>
          <p:nvPr/>
        </p:nvSpPr>
        <p:spPr>
          <a:xfrm>
            <a:off x="3438144" y="4754880"/>
            <a:ext cx="2520544" cy="1591056"/>
          </a:xfrm>
          <a:prstGeom prst="rect">
            <a:avLst/>
          </a:prstGeom>
          <a:noFill/>
          <a:ln/>
        </p:spPr>
        <p:txBody>
          <a:bodyPr wrap="square" lIns="0" tIns="0" rIns="0" bIns="0" rtlCol="0" anchor="ctr"/>
          <a:lstStyle/>
          <a:p>
            <a:pPr marL="342900" indent="-342900">
              <a:lnSpc>
                <a:spcPct val="100000"/>
              </a:lnSpc>
              <a:spcAft>
                <a:spcPts val="300"/>
              </a:spcAft>
              <a:buSzPct val="100000"/>
              <a:buChar char="•"/>
            </a:pPr>
            <a:r>
              <a:rPr lang="en-US" sz="1000" dirty="0">
                <a:solidFill>
                  <a:srgbClr val="5C6B64"/>
                </a:solidFill>
              </a:rPr>
              <a:t>rate(asoia_tool_calls_total[5m]) x 60, six series</a:t>
            </a:r>
            <a:endParaRPr lang="en-US" sz="1000" dirty="0"/>
          </a:p>
          <a:p>
            <a:pPr marL="342900" indent="-342900">
              <a:lnSpc>
                <a:spcPct val="100000"/>
              </a:lnSpc>
              <a:spcAft>
                <a:spcPts val="300"/>
              </a:spcAft>
              <a:buSzPct val="100000"/>
              <a:buChar char="•"/>
            </a:pPr>
            <a:r>
              <a:rPr lang="en-US" sz="1000" dirty="0">
                <a:solidFill>
                  <a:srgbClr val="5C6B64"/>
                </a:solidFill>
              </a:rPr>
              <a:t>Two bursts of load, thirty minutes apart</a:t>
            </a:r>
            <a:endParaRPr lang="en-US" sz="1000" dirty="0"/>
          </a:p>
          <a:p>
            <a:pPr marL="342900" indent="-342900">
              <a:lnSpc>
                <a:spcPct val="100000"/>
              </a:lnSpc>
              <a:spcAft>
                <a:spcPts val="300"/>
              </a:spcAft>
              <a:buSzPct val="100000"/>
              <a:buChar char="•"/>
            </a:pPr>
            <a:r>
              <a:rPr lang="en-US" sz="1000" dirty="0">
                <a:solidFill>
                  <a:srgbClr val="5C6B64"/>
                </a:solidFill>
              </a:rPr>
              <a:t>list_ros peaks at 10.3/min; search_updates is rare</a:t>
            </a:r>
            <a:endParaRPr lang="en-US" sz="1000" dirty="0"/>
          </a:p>
          <a:p>
            <a:pPr marL="342900" indent="-342900">
              <a:lnSpc>
                <a:spcPct val="100000"/>
              </a:lnSpc>
              <a:spcAft>
                <a:spcPts val="300"/>
              </a:spcAft>
              <a:buSzPct val="100000"/>
              <a:buChar char="•"/>
            </a:pPr>
            <a:r>
              <a:rPr lang="en-US" sz="1000" dirty="0">
                <a:solidFill>
                  <a:srgbClr val="5C6B64"/>
                </a:solidFill>
              </a:rPr>
              <a:t>Counters are per-process: load must hit the API</a:t>
            </a:r>
            <a:endParaRPr lang="en-US" sz="1000" dirty="0"/>
          </a:p>
        </p:txBody>
      </p:sp>
      <p:sp>
        <p:nvSpPr>
          <p:cNvPr id="34" name="frame-11-attu-schema-1"/>
          <p:cNvSpPr/>
          <p:nvPr/>
        </p:nvSpPr>
        <p:spPr>
          <a:xfrm>
            <a:off x="6214720" y="4427424"/>
            <a:ext cx="2825496" cy="1953360"/>
          </a:xfrm>
          <a:prstGeom prst="rect">
            <a:avLst/>
          </a:prstGeom>
          <a:solidFill>
            <a:srgbClr val="FFFFFF"/>
          </a:solidFill>
          <a:ln w="12700">
            <a:solidFill>
              <a:srgbClr val="C3CCC0"/>
            </a:solidFill>
            <a:prstDash val="solid"/>
          </a:ln>
        </p:spPr>
      </p:sp>
      <p:pic>
        <p:nvPicPr>
          <p:cNvPr id="35" name="Image 3" descr="docs/screenshots/11-attu-schema-1024.jpg">    </p:cNvPr>
          <p:cNvPicPr>
            <a:picLocks noChangeAspect="1"/>
          </p:cNvPicPr>
          <p:nvPr/>
        </p:nvPicPr>
        <p:blipFill>
          <a:blip r:embed="rId4"/>
          <a:stretch>
            <a:fillRect/>
          </a:stretch>
        </p:blipFill>
        <p:spPr>
          <a:xfrm>
            <a:off x="6233008" y="4445712"/>
            <a:ext cx="2788920" cy="1916784"/>
          </a:xfrm>
          <a:prstGeom prst="rect">
            <a:avLst/>
          </a:prstGeom>
        </p:spPr>
      </p:pic>
      <p:sp>
        <p:nvSpPr>
          <p:cNvPr id="36" name="Text 30"/>
          <p:cNvSpPr txBox="1"/>
          <p:nvPr/>
        </p:nvSpPr>
        <p:spPr>
          <a:xfrm>
            <a:off x="9168232" y="4462272"/>
            <a:ext cx="2520544" cy="274320"/>
          </a:xfrm>
          <a:prstGeom prst="rect">
            <a:avLst/>
          </a:prstGeom>
          <a:noFill/>
          <a:ln/>
        </p:spPr>
        <p:txBody>
          <a:bodyPr wrap="square" lIns="0" tIns="0" rIns="0" bIns="0" rtlCol="0" anchor="ctr"/>
          <a:lstStyle/>
          <a:p>
            <a:pPr indent="0" marL="0">
              <a:buNone/>
            </a:pPr>
            <a:r>
              <a:rPr lang="en-US" sz="1200" b="1" dirty="0">
                <a:solidFill>
                  <a:srgbClr val="14302A"/>
                </a:solidFill>
                <a:latin typeface="Arial" pitchFamily="34" charset="0"/>
                <a:ea typeface="Arial" pitchFamily="34" charset="-122"/>
                <a:cs typeface="Arial" pitchFamily="34" charset="-120"/>
              </a:rPr>
              <a:t>Milvus in Attu — the store, in full</a:t>
            </a:r>
            <a:endParaRPr lang="en-US" sz="1200" dirty="0"/>
          </a:p>
        </p:txBody>
      </p:sp>
      <p:sp>
        <p:nvSpPr>
          <p:cNvPr id="37" name="Text 31"/>
          <p:cNvSpPr txBox="1"/>
          <p:nvPr/>
        </p:nvSpPr>
        <p:spPr>
          <a:xfrm>
            <a:off x="9168232" y="4754880"/>
            <a:ext cx="2520544" cy="1591056"/>
          </a:xfrm>
          <a:prstGeom prst="rect">
            <a:avLst/>
          </a:prstGeom>
          <a:noFill/>
          <a:ln/>
        </p:spPr>
        <p:txBody>
          <a:bodyPr wrap="square" lIns="0" tIns="0" rIns="0" bIns="0" rtlCol="0" anchor="ctr"/>
          <a:lstStyle/>
          <a:p>
            <a:pPr marL="342900" indent="-342900">
              <a:lnSpc>
                <a:spcPct val="100000"/>
              </a:lnSpc>
              <a:spcAft>
                <a:spcPts val="300"/>
              </a:spcAft>
              <a:buSzPct val="100000"/>
              <a:buChar char="•"/>
            </a:pPr>
            <a:r>
              <a:rPr lang="en-US" sz="1000" dirty="0">
                <a:solidFill>
                  <a:srgbClr val="5C6B64"/>
                </a:solidFill>
              </a:rPr>
              <a:t>vector: FloatVector(1024), AUTOINDEX(COSINE)</a:t>
            </a:r>
            <a:endParaRPr lang="en-US" sz="1000" dirty="0"/>
          </a:p>
          <a:p>
            <a:pPr marL="342900" indent="-342900">
              <a:lnSpc>
                <a:spcPct val="100000"/>
              </a:lnSpc>
              <a:spcAft>
                <a:spcPts val="300"/>
              </a:spcAft>
              <a:buSzPct val="100000"/>
              <a:buChar char="•"/>
            </a:pPr>
            <a:r>
              <a:rPr lang="en-US" sz="1000" dirty="0">
                <a:solidFill>
                  <a:srgbClr val="5C6B64"/>
                </a:solidFill>
              </a:rPr>
              <a:t>Loaded, replica 1, 1,690 entities, 13 fields</a:t>
            </a:r>
            <a:endParaRPr lang="en-US" sz="1000" dirty="0"/>
          </a:p>
          <a:p>
            <a:pPr marL="342900" indent="-342900">
              <a:lnSpc>
                <a:spcPct val="100000"/>
              </a:lnSpc>
              <a:spcAft>
                <a:spcPts val="300"/>
              </a:spcAft>
              <a:buSzPct val="100000"/>
              <a:buChar char="•"/>
            </a:pPr>
            <a:r>
              <a:rPr lang="en-US" sz="1000" dirty="0">
                <a:solidFill>
                  <a:srgbClr val="5C6B64"/>
                </a:solidFill>
              </a:rPr>
              <a:t>Width is load-bearing: the hosted embedder is 2048,</a:t>
            </a:r>
            <a:endParaRPr lang="en-US" sz="1000" dirty="0"/>
          </a:p>
          <a:p>
            <a:pPr marL="342900" indent="-342900">
              <a:lnSpc>
                <a:spcPct val="100000"/>
              </a:lnSpc>
              <a:spcAft>
                <a:spcPts val="300"/>
              </a:spcAft>
              <a:buSzPct val="100000"/>
              <a:buChar char="•"/>
            </a:pPr>
            <a:r>
              <a:rPr lang="en-US" sz="1000" dirty="0">
                <a:solidFill>
                  <a:srgbClr val="5C6B64"/>
                </a:solidFill>
              </a:rPr>
              <a:t>so switching mode without rebuilding breaks search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37744"/>
            <a:ext cx="11185855" cy="402336"/>
          </a:xfrm>
          <a:prstGeom prst="rect">
            <a:avLst/>
          </a:prstGeom>
          <a:noFill/>
          <a:ln/>
        </p:spPr>
        <p:txBody>
          <a:bodyPr wrap="square" lIns="0" tIns="0" rIns="0" bIns="0" rtlCol="0" anchor="ctr"/>
          <a:lstStyle/>
          <a:p>
            <a:pPr indent="0" marL="0">
              <a:buNone/>
            </a:pPr>
            <a:r>
              <a:rPr lang="en-US" sz="2600" b="1" dirty="0">
                <a:solidFill>
                  <a:srgbClr val="14302A"/>
                </a:solidFill>
                <a:latin typeface="Arial" pitchFamily="34" charset="0"/>
                <a:ea typeface="Arial" pitchFamily="34" charset="-122"/>
                <a:cs typeface="Arial" pitchFamily="34" charset="-120"/>
              </a:rPr>
              <a:t>The rest of the surface</a:t>
            </a:r>
            <a:endParaRPr lang="en-US" sz="2600" dirty="0"/>
          </a:p>
        </p:txBody>
      </p:sp>
      <p:sp>
        <p:nvSpPr>
          <p:cNvPr id="3" name="Text 1"/>
          <p:cNvSpPr txBox="1"/>
          <p:nvPr/>
        </p:nvSpPr>
        <p:spPr>
          <a:xfrm>
            <a:off x="502920" y="676656"/>
            <a:ext cx="11185855" cy="310896"/>
          </a:xfrm>
          <a:prstGeom prst="rect">
            <a:avLst/>
          </a:prstGeom>
          <a:noFill/>
          <a:ln/>
        </p:spPr>
        <p:txBody>
          <a:bodyPr wrap="square" lIns="0" tIns="0" rIns="0" bIns="0" rtlCol="0" anchor="ctr"/>
          <a:lstStyle/>
          <a:p>
            <a:pPr indent="0" marL="0">
              <a:buNone/>
            </a:pPr>
            <a:r>
              <a:rPr lang="en-US" sz="1150" dirty="0">
                <a:solidFill>
                  <a:srgbClr val="5C6B64"/>
                </a:solidFill>
              </a:rPr>
              <a:t>Five tabs a service advisor actually uses, and the two store consoles behind them. The agent's UI shows no vector internals — that is an operator's view, and it lives in Attu and sqlite-web.</a:t>
            </a:r>
            <a:endParaRPr lang="en-US" sz="1150" dirty="0"/>
          </a:p>
        </p:txBody>
      </p:sp>
      <p:sp>
        <p:nvSpPr>
          <p:cNvPr id="4" name="frame-01-app-dashboard"/>
          <p:cNvSpPr/>
          <p:nvPr/>
        </p:nvSpPr>
        <p:spPr>
          <a:xfrm>
            <a:off x="886023" y="1261872"/>
            <a:ext cx="2803916" cy="1938528"/>
          </a:xfrm>
          <a:prstGeom prst="rect">
            <a:avLst/>
          </a:prstGeom>
          <a:solidFill>
            <a:srgbClr val="FFFFFF"/>
          </a:solidFill>
          <a:ln w="12700">
            <a:solidFill>
              <a:srgbClr val="C3CCC0"/>
            </a:solidFill>
            <a:prstDash val="solid"/>
          </a:ln>
        </p:spPr>
      </p:sp>
      <p:pic>
        <p:nvPicPr>
          <p:cNvPr id="5" name="Image 0" descr="docs/screenshots/01-app-dashboard.jpg">    </p:cNvPr>
          <p:cNvPicPr>
            <a:picLocks noChangeAspect="1"/>
          </p:cNvPicPr>
          <p:nvPr/>
        </p:nvPicPr>
        <p:blipFill>
          <a:blip r:embed="rId1"/>
          <a:stretch>
            <a:fillRect/>
          </a:stretch>
        </p:blipFill>
        <p:spPr>
          <a:xfrm>
            <a:off x="904311" y="1280160"/>
            <a:ext cx="2767340" cy="1901952"/>
          </a:xfrm>
          <a:prstGeom prst="rect">
            <a:avLst/>
          </a:prstGeom>
        </p:spPr>
      </p:pic>
      <p:sp>
        <p:nvSpPr>
          <p:cNvPr id="6" name="Text 3"/>
          <p:cNvSpPr txBox="1"/>
          <p:nvPr/>
        </p:nvSpPr>
        <p:spPr>
          <a:xfrm>
            <a:off x="502920" y="3236976"/>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Dashboard</a:t>
            </a:r>
            <a:endParaRPr lang="en-US" sz="1200" dirty="0"/>
          </a:p>
        </p:txBody>
      </p:sp>
      <p:sp>
        <p:nvSpPr>
          <p:cNvPr id="7" name="Text 4"/>
          <p:cNvSpPr txBox="1"/>
          <p:nvPr/>
        </p:nvSpPr>
        <p:spPr>
          <a:xfrm>
            <a:off x="502920" y="3474720"/>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66 open repair orders of 400 — 11 unsafe to release, 43 past promise — each row saying why, with its measurement</a:t>
            </a:r>
            <a:endParaRPr lang="en-US" sz="1000" dirty="0"/>
          </a:p>
        </p:txBody>
      </p:sp>
      <p:sp>
        <p:nvSpPr>
          <p:cNvPr id="8" name="frame-02-app-repair-or"/>
          <p:cNvSpPr/>
          <p:nvPr/>
        </p:nvSpPr>
        <p:spPr>
          <a:xfrm>
            <a:off x="4693890" y="1261872"/>
            <a:ext cx="2803916" cy="1938528"/>
          </a:xfrm>
          <a:prstGeom prst="rect">
            <a:avLst/>
          </a:prstGeom>
          <a:solidFill>
            <a:srgbClr val="FFFFFF"/>
          </a:solidFill>
          <a:ln w="12700">
            <a:solidFill>
              <a:srgbClr val="C3CCC0"/>
            </a:solidFill>
            <a:prstDash val="solid"/>
          </a:ln>
        </p:spPr>
      </p:sp>
      <p:pic>
        <p:nvPicPr>
          <p:cNvPr id="9" name="Image 1" descr="docs/screenshots/02-app-repair-order.jpg">    </p:cNvPr>
          <p:cNvPicPr>
            <a:picLocks noChangeAspect="1"/>
          </p:cNvPicPr>
          <p:nvPr/>
        </p:nvPicPr>
        <p:blipFill>
          <a:blip r:embed="rId2"/>
          <a:stretch>
            <a:fillRect/>
          </a:stretch>
        </p:blipFill>
        <p:spPr>
          <a:xfrm>
            <a:off x="4712178" y="1280160"/>
            <a:ext cx="2767340" cy="1901952"/>
          </a:xfrm>
          <a:prstGeom prst="rect">
            <a:avLst/>
          </a:prstGeom>
        </p:spPr>
      </p:pic>
      <p:sp>
        <p:nvSpPr>
          <p:cNvPr id="10" name="Text 6"/>
          <p:cNvSpPr txBox="1"/>
          <p:nvPr/>
        </p:nvSpPr>
        <p:spPr>
          <a:xfrm>
            <a:off x="4310786" y="3236976"/>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Repair Order</a:t>
            </a:r>
            <a:endParaRPr lang="en-US" sz="1200" dirty="0"/>
          </a:p>
        </p:txBody>
      </p:sp>
      <p:sp>
        <p:nvSpPr>
          <p:cNvPr id="11" name="Text 7"/>
          <p:cNvSpPr txBox="1"/>
          <p:nvPr/>
        </p:nvSpPr>
        <p:spPr>
          <a:xfrm>
            <a:off x="4310786" y="3474720"/>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State folded from the event log, never stored — promise breached, hours against flat rate, 12 events cited</a:t>
            </a:r>
            <a:endParaRPr lang="en-US" sz="1000" dirty="0"/>
          </a:p>
        </p:txBody>
      </p:sp>
      <p:sp>
        <p:nvSpPr>
          <p:cNvPr id="12" name="frame-04-app-shift-han"/>
          <p:cNvSpPr/>
          <p:nvPr/>
        </p:nvSpPr>
        <p:spPr>
          <a:xfrm>
            <a:off x="8501756" y="1261872"/>
            <a:ext cx="2803916" cy="1938528"/>
          </a:xfrm>
          <a:prstGeom prst="rect">
            <a:avLst/>
          </a:prstGeom>
          <a:solidFill>
            <a:srgbClr val="FFFFFF"/>
          </a:solidFill>
          <a:ln w="12700">
            <a:solidFill>
              <a:srgbClr val="C3CCC0"/>
            </a:solidFill>
            <a:prstDash val="solid"/>
          </a:ln>
        </p:spPr>
      </p:sp>
      <p:pic>
        <p:nvPicPr>
          <p:cNvPr id="13" name="Image 2" descr="docs/screenshots/04-app-shift-handover.jpg">    </p:cNvPr>
          <p:cNvPicPr>
            <a:picLocks noChangeAspect="1"/>
          </p:cNvPicPr>
          <p:nvPr/>
        </p:nvPicPr>
        <p:blipFill>
          <a:blip r:embed="rId3"/>
          <a:stretch>
            <a:fillRect/>
          </a:stretch>
        </p:blipFill>
        <p:spPr>
          <a:xfrm>
            <a:off x="8520044" y="1280160"/>
            <a:ext cx="2767340" cy="1901952"/>
          </a:xfrm>
          <a:prstGeom prst="rect">
            <a:avLst/>
          </a:prstGeom>
        </p:spPr>
      </p:pic>
      <p:sp>
        <p:nvSpPr>
          <p:cNvPr id="14" name="Text 9"/>
          <p:cNvSpPr txBox="1"/>
          <p:nvPr/>
        </p:nvSpPr>
        <p:spPr>
          <a:xfrm>
            <a:off x="8118653" y="3236976"/>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Shift Handover</a:t>
            </a:r>
            <a:endParaRPr lang="en-US" sz="1200" dirty="0"/>
          </a:p>
        </p:txBody>
      </p:sp>
      <p:sp>
        <p:nvSpPr>
          <p:cNvPr id="15" name="Text 10"/>
          <p:cNvSpPr txBox="1"/>
          <p:nvPr/>
        </p:nvSpPr>
        <p:spPr>
          <a:xfrm>
            <a:off x="8118653" y="3474720"/>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The brief a manager reads at changeover: safety first, then breached, at-risk, blocked — composed in 0.05s</a:t>
            </a:r>
            <a:endParaRPr lang="en-US" sz="1000" dirty="0"/>
          </a:p>
        </p:txBody>
      </p:sp>
      <p:sp>
        <p:nvSpPr>
          <p:cNvPr id="16" name="frame-03-app-technicia"/>
          <p:cNvSpPr/>
          <p:nvPr/>
        </p:nvSpPr>
        <p:spPr>
          <a:xfrm>
            <a:off x="886023" y="4041648"/>
            <a:ext cx="2803916" cy="1938528"/>
          </a:xfrm>
          <a:prstGeom prst="rect">
            <a:avLst/>
          </a:prstGeom>
          <a:solidFill>
            <a:srgbClr val="FFFFFF"/>
          </a:solidFill>
          <a:ln w="12700">
            <a:solidFill>
              <a:srgbClr val="C3CCC0"/>
            </a:solidFill>
            <a:prstDash val="solid"/>
          </a:ln>
        </p:spPr>
      </p:sp>
      <p:pic>
        <p:nvPicPr>
          <p:cNvPr id="17" name="Image 3" descr="docs/screenshots/03-app-technician-update.jpg">    </p:cNvPr>
          <p:cNvPicPr>
            <a:picLocks noChangeAspect="1"/>
          </p:cNvPicPr>
          <p:nvPr/>
        </p:nvPicPr>
        <p:blipFill>
          <a:blip r:embed="rId4"/>
          <a:stretch>
            <a:fillRect/>
          </a:stretch>
        </p:blipFill>
        <p:spPr>
          <a:xfrm>
            <a:off x="904311" y="4059936"/>
            <a:ext cx="2767340" cy="1901952"/>
          </a:xfrm>
          <a:prstGeom prst="rect">
            <a:avLst/>
          </a:prstGeom>
        </p:spPr>
      </p:pic>
      <p:sp>
        <p:nvSpPr>
          <p:cNvPr id="18" name="Text 12"/>
          <p:cNvSpPr txBox="1"/>
          <p:nvPr/>
        </p:nvSpPr>
        <p:spPr>
          <a:xfrm>
            <a:off x="502920" y="6016752"/>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Technician Update</a:t>
            </a:r>
            <a:endParaRPr lang="en-US" sz="1200" dirty="0"/>
          </a:p>
        </p:txBody>
      </p:sp>
      <p:sp>
        <p:nvSpPr>
          <p:cNvPr id="19" name="Text 13"/>
          <p:cNvSpPr txBox="1"/>
          <p:nvPr/>
        </p:nvSpPr>
        <p:spPr>
          <a:xfrm>
            <a:off x="502920" y="6254496"/>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What the RO already says, shown before anything is typed, so nothing is logged twice. Dictate or type it</a:t>
            </a:r>
            <a:endParaRPr lang="en-US" sz="1000" dirty="0"/>
          </a:p>
        </p:txBody>
      </p:sp>
      <p:sp>
        <p:nvSpPr>
          <p:cNvPr id="20" name="frame-07-prometheus-ta"/>
          <p:cNvSpPr/>
          <p:nvPr/>
        </p:nvSpPr>
        <p:spPr>
          <a:xfrm>
            <a:off x="4693890" y="4041648"/>
            <a:ext cx="2803916" cy="1938528"/>
          </a:xfrm>
          <a:prstGeom prst="rect">
            <a:avLst/>
          </a:prstGeom>
          <a:solidFill>
            <a:srgbClr val="FFFFFF"/>
          </a:solidFill>
          <a:ln w="12700">
            <a:solidFill>
              <a:srgbClr val="C3CCC0"/>
            </a:solidFill>
            <a:prstDash val="solid"/>
          </a:ln>
        </p:spPr>
      </p:sp>
      <p:pic>
        <p:nvPicPr>
          <p:cNvPr id="21" name="Image 4" descr="docs/screenshots/07-prometheus-targets.jpg">    </p:cNvPr>
          <p:cNvPicPr>
            <a:picLocks noChangeAspect="1"/>
          </p:cNvPicPr>
          <p:nvPr/>
        </p:nvPicPr>
        <p:blipFill>
          <a:blip r:embed="rId5"/>
          <a:stretch>
            <a:fillRect/>
          </a:stretch>
        </p:blipFill>
        <p:spPr>
          <a:xfrm>
            <a:off x="4712178" y="4059936"/>
            <a:ext cx="2767340" cy="1901952"/>
          </a:xfrm>
          <a:prstGeom prst="rect">
            <a:avLst/>
          </a:prstGeom>
        </p:spPr>
      </p:pic>
      <p:sp>
        <p:nvSpPr>
          <p:cNvPr id="22" name="Text 15"/>
          <p:cNvSpPr txBox="1"/>
          <p:nvPr/>
        </p:nvSpPr>
        <p:spPr>
          <a:xfrm>
            <a:off x="4310786" y="6016752"/>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Prometheus targets</a:t>
            </a:r>
            <a:endParaRPr lang="en-US" sz="1200" dirty="0"/>
          </a:p>
        </p:txBody>
      </p:sp>
      <p:sp>
        <p:nvSpPr>
          <p:cNvPr id="23" name="Text 16"/>
          <p:cNvSpPr txBox="1"/>
          <p:nvPr/>
        </p:nvSpPr>
        <p:spPr>
          <a:xfrm>
            <a:off x="4310786" y="6254496"/>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Both scrape jobs up: the app on :9400 and NVIDIA DCGM on :9401, which is what puts real GPU telemetry on the dashboard</a:t>
            </a:r>
            <a:endParaRPr lang="en-US" sz="1000" dirty="0"/>
          </a:p>
        </p:txBody>
      </p:sp>
      <p:sp>
        <p:nvSpPr>
          <p:cNvPr id="24" name="frame-12-sqlite-web.jp"/>
          <p:cNvSpPr/>
          <p:nvPr/>
        </p:nvSpPr>
        <p:spPr>
          <a:xfrm>
            <a:off x="8501756" y="4041648"/>
            <a:ext cx="2803916" cy="1938528"/>
          </a:xfrm>
          <a:prstGeom prst="rect">
            <a:avLst/>
          </a:prstGeom>
          <a:solidFill>
            <a:srgbClr val="FFFFFF"/>
          </a:solidFill>
          <a:ln w="12700">
            <a:solidFill>
              <a:srgbClr val="C3CCC0"/>
            </a:solidFill>
            <a:prstDash val="solid"/>
          </a:ln>
        </p:spPr>
      </p:sp>
      <p:pic>
        <p:nvPicPr>
          <p:cNvPr id="25" name="Image 5" descr="docs/screenshots/12-sqlite-web.jpg">    </p:cNvPr>
          <p:cNvPicPr>
            <a:picLocks noChangeAspect="1"/>
          </p:cNvPicPr>
          <p:nvPr/>
        </p:nvPicPr>
        <p:blipFill>
          <a:blip r:embed="rId6"/>
          <a:stretch>
            <a:fillRect/>
          </a:stretch>
        </p:blipFill>
        <p:spPr>
          <a:xfrm>
            <a:off x="8520044" y="4059936"/>
            <a:ext cx="2767340" cy="1901952"/>
          </a:xfrm>
          <a:prstGeom prst="rect">
            <a:avLst/>
          </a:prstGeom>
        </p:spPr>
      </p:pic>
      <p:sp>
        <p:nvSpPr>
          <p:cNvPr id="26" name="Text 18"/>
          <p:cNvSpPr txBox="1"/>
          <p:nvPr/>
        </p:nvSpPr>
        <p:spPr>
          <a:xfrm>
            <a:off x="8118653" y="6016752"/>
            <a:ext cx="3570122" cy="237744"/>
          </a:xfrm>
          <a:prstGeom prst="rect">
            <a:avLst/>
          </a:prstGeom>
          <a:noFill/>
          <a:ln/>
        </p:spPr>
        <p:txBody>
          <a:bodyPr wrap="square" lIns="0" tIns="0" rIns="0" bIns="0" rtlCol="0" anchor="ctr"/>
          <a:lstStyle/>
          <a:p>
            <a:pPr algn="ctr" indent="0" marL="0">
              <a:buNone/>
            </a:pPr>
            <a:r>
              <a:rPr lang="en-US" sz="1200" b="1" dirty="0">
                <a:solidFill>
                  <a:srgbClr val="14302A"/>
                </a:solidFill>
                <a:latin typeface="Arial" pitchFamily="34" charset="0"/>
                <a:ea typeface="Arial" pitchFamily="34" charset="-122"/>
                <a:cs typeface="Arial" pitchFamily="34" charset="-120"/>
              </a:rPr>
              <a:t>sqlite-web</a:t>
            </a:r>
            <a:endParaRPr lang="en-US" sz="1200" dirty="0"/>
          </a:p>
        </p:txBody>
      </p:sp>
      <p:sp>
        <p:nvSpPr>
          <p:cNvPr id="27" name="Text 19"/>
          <p:cNvSpPr txBox="1"/>
          <p:nvPr/>
        </p:nvSpPr>
        <p:spPr>
          <a:xfrm>
            <a:off x="8118653" y="6254496"/>
            <a:ext cx="3570122" cy="384048"/>
          </a:xfrm>
          <a:prstGeom prst="rect">
            <a:avLst/>
          </a:prstGeom>
          <a:noFill/>
          <a:ln/>
        </p:spPr>
        <p:txBody>
          <a:bodyPr wrap="square" lIns="0" tIns="0" rIns="0" bIns="0" rtlCol="0" anchor="ctr"/>
          <a:lstStyle/>
          <a:p>
            <a:pPr algn="ctr" indent="0" marL="0">
              <a:lnSpc>
                <a:spcPct val="95000"/>
              </a:lnSpc>
              <a:buNone/>
            </a:pPr>
            <a:r>
              <a:rPr lang="en-US" sz="1000" dirty="0">
                <a:solidFill>
                  <a:srgbClr val="5C6B64"/>
                </a:solidFill>
              </a:rPr>
              <a:t>The system of record itself — 9 tables, 12 indexes, 6.4 MB. An operator view, outside the advisor's UI</a:t>
            </a:r>
            <a:endParaRPr lang="en-US" sz="1000" dirty="0"/>
          </a:p>
        </p:txBody>
      </p:sp>
      <p:sp>
        <p:nvSpPr>
          <p:cNvPr id="28" name="Text 20"/>
          <p:cNvSpPr txBox="1"/>
          <p:nvPr/>
        </p:nvSpPr>
        <p:spPr>
          <a:xfrm>
            <a:off x="502920" y="6355080"/>
            <a:ext cx="11185855" cy="310896"/>
          </a:xfrm>
          <a:prstGeom prst="rect">
            <a:avLst/>
          </a:prstGeom>
          <a:noFill/>
          <a:ln/>
        </p:spPr>
        <p:txBody>
          <a:bodyPr wrap="square" lIns="0" tIns="0" rIns="0" bIns="0" rtlCol="0" anchor="ctr"/>
          <a:lstStyle/>
          <a:p>
            <a:pPr indent="0" marL="0">
              <a:buNone/>
            </a:pPr>
            <a:r>
              <a:rPr lang="en-US" sz="1000" i="1" dirty="0">
                <a:solidFill>
                  <a:srgbClr val="5C6B64"/>
                </a:solidFill>
              </a:rPr>
              <a:t>Every frame on these two slides came from one box with all three NIMs local, taken by scripts/capture_screenshots.py on 2026-10-09 — not by hand. Each one is checked against a string that must appear in the page before it counts as captured; docs/screenshots/README.md says what each shows.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Service Operations Intelligence Agent</dc:title>
  <dc:subject>PptxGenJS Presentation</dc:subject>
  <dc:creator>Automotive Service Operations Intelligence Agent</dc:creator>
  <cp:lastModifiedBy>Automotive Service Operations Intelligence Agent</cp:lastModifiedBy>
  <cp:revision>1</cp:revision>
  <dcterms:created xsi:type="dcterms:W3CDTF">2026-10-31T17:33:44Z</dcterms:created>
  <dcterms:modified xsi:type="dcterms:W3CDTF">2026-10-31T17:33:44Z</dcterms:modified>
</cp:coreProperties>
</file>