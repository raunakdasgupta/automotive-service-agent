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93c96ab4-5843-eb7f-410c-0b54d0a9d44b}">
          <p14:sldIdLst>
            <p14:sldId id="256"/>
          </p14:sldIdLst>
        </p14:section>
        <p14:section name="Architecture" id="{e9edb241-fc12-5294-fd71-fb04d6c47e2d}">
          <p14:sldIdLst>
            <p14:sldId id="257"/>
          </p14:sldIdLst>
        </p14:section>
        <p14:section name="Application flow" id="{bebbf72d-ea61-2663-f706-5e9e7a5b0fac}">
          <p14:sldIdLst>
            <p14:sldId id="258"/>
          </p14:sldIdLst>
        </p14:section>
        <p14:section name="Components" id="{23f0c7ad-eddb-9d67-9bbb-61ca21be02db}">
          <p14:sldIdLst>
            <p14:sldId id="259"/>
          </p14:sldIdLst>
        </p14:section>
        <p14:section name="Deployment" id="{c06b037f-87f2-8d13-f964-69e43b33a70f}">
          <p14:sldIdLst>
            <p14:sldId id="260"/>
          </p14:sldIdLst>
        </p14:section>
        <p14:section name="Data model" id="{8f90c2c8-c47b-23c6-95ec-9f34e1177c84}">
          <p14:sldIdLst>
            <p14:sldId id="261"/>
          </p14:sldIdLst>
        </p14:section>
        <p14:section name="Lifecycle" id="{e53b21ab-7030-dae2-b9af-fbb518a44a43}">
          <p14:sldIdLst>
            <p14:sldId id="262"/>
          </p14:sldIdLst>
        </p14:section>
        <p14:section name="Usage" id="{b1ba6054-e1e4-6f2f-8340-16da52438db1}">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strip is the read path. The four frames are the same run seen from the app, from Grafana, from Prometheus and from the store. Two cautions on the 90.9%. It does NOT corroborate the eleven timings in docs/EXAMPLES.md - that is a different measurement that happens to agree. And `compose` records the path that FINISHED: an answer that called the model, timed out and fell back to Python counts as Python, so a failing LLM would push this number up. There are no NIM errors in this window, which is what makes it a clean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needs a GPU except the voice leg and the semantic tab. The store consoles are deliberately outside the advisor's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37 of 37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Seven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What it looks like in use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question, end to end — and the three consoles that show it happened. Captured from a live run on the L40S, all three NIMs local.</a:t>
            </a:r>
            <a:endParaRPr lang="en-US" sz="1150" dirty="0"/>
          </a:p>
        </p:txBody>
      </p:sp>
      <p:sp>
        <p:nvSpPr>
          <p:cNvPr id="4" name="card-1 · Question"/>
          <p:cNvSpPr/>
          <p:nvPr/>
        </p:nvSpPr>
        <p:spPr>
          <a:xfrm>
            <a:off x="502920" y="1024128"/>
            <a:ext cx="1635709" cy="841248"/>
          </a:xfrm>
          <a:prstGeom prst="rect">
            <a:avLst/>
          </a:prstGeom>
          <a:solidFill>
            <a:srgbClr val="FFFFFF"/>
          </a:solidFill>
          <a:ln w="12700">
            <a:solidFill>
              <a:srgbClr val="C3CCC0"/>
            </a:solidFill>
            <a:prstDash val="solid"/>
          </a:ln>
        </p:spPr>
      </p:sp>
      <p:sp>
        <p:nvSpPr>
          <p:cNvPr id="5" name="Text 3"/>
          <p:cNvSpPr txBox="1"/>
          <p:nvPr/>
        </p:nvSpPr>
        <p:spPr>
          <a:xfrm>
            <a:off x="566928"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1 · Question</a:t>
            </a:r>
            <a:endParaRPr lang="en-US" sz="1100" dirty="0"/>
          </a:p>
          <a:p>
            <a:pPr algn="l" indent="0" marL="0">
              <a:lnSpc>
                <a:spcPct val="92000"/>
              </a:lnSpc>
              <a:buNone/>
            </a:pPr>
            <a:r>
              <a:rPr lang="en-US" sz="1000" dirty="0">
                <a:solidFill>
                  <a:srgbClr val="5C6B64"/>
                </a:solidFill>
              </a:rPr>
              <a:t>typed in the UI,</a:t>
            </a:r>
            <a:endParaRPr lang="en-US" sz="1100" dirty="0"/>
          </a:p>
          <a:p>
            <a:pPr algn="l" indent="0" marL="0">
              <a:lnSpc>
                <a:spcPct val="92000"/>
              </a:lnSpc>
              <a:buNone/>
            </a:pPr>
            <a:r>
              <a:rPr lang="en-US" sz="1000" dirty="0">
                <a:solidFill>
                  <a:srgbClr val="5C6B64"/>
                </a:solidFill>
              </a:rPr>
              <a:t>or spoken and transcribed</a:t>
            </a:r>
            <a:endParaRPr lang="en-US" sz="1100" dirty="0"/>
          </a:p>
        </p:txBody>
      </p:sp>
      <p:sp>
        <p:nvSpPr>
          <p:cNvPr id="6" name="Shape 4"/>
          <p:cNvSpPr/>
          <p:nvPr/>
        </p:nvSpPr>
        <p:spPr>
          <a:xfrm>
            <a:off x="2175205" y="1325880"/>
            <a:ext cx="201168" cy="201168"/>
          </a:xfrm>
          <a:prstGeom prst="rightArrow">
            <a:avLst/>
          </a:prstGeom>
          <a:solidFill>
            <a:srgbClr val="76B900"/>
          </a:solidFill>
          <a:ln w="12700">
            <a:solidFill>
              <a:srgbClr val="76B900"/>
            </a:solidFill>
            <a:prstDash val="solid"/>
          </a:ln>
        </p:spPr>
      </p:sp>
      <p:sp>
        <p:nvSpPr>
          <p:cNvPr id="7" name="card-2 · Route"/>
          <p:cNvSpPr/>
          <p:nvPr/>
        </p:nvSpPr>
        <p:spPr>
          <a:xfrm>
            <a:off x="2412949" y="1024128"/>
            <a:ext cx="1635709" cy="841248"/>
          </a:xfrm>
          <a:prstGeom prst="rect">
            <a:avLst/>
          </a:prstGeom>
          <a:solidFill>
            <a:srgbClr val="FFFFFF"/>
          </a:solidFill>
          <a:ln w="12700">
            <a:solidFill>
              <a:srgbClr val="C3CCC0"/>
            </a:solidFill>
            <a:prstDash val="solid"/>
          </a:ln>
        </p:spPr>
      </p:sp>
      <p:sp>
        <p:nvSpPr>
          <p:cNvPr id="8" name="Text 6"/>
          <p:cNvSpPr txBox="1"/>
          <p:nvPr/>
        </p:nvSpPr>
        <p:spPr>
          <a:xfrm>
            <a:off x="2476957"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2 · Route</a:t>
            </a:r>
            <a:endParaRPr lang="en-US" sz="1100" dirty="0"/>
          </a:p>
          <a:p>
            <a:pPr algn="l" indent="0" marL="0">
              <a:lnSpc>
                <a:spcPct val="92000"/>
              </a:lnSpc>
              <a:buNone/>
            </a:pPr>
            <a:r>
              <a:rPr lang="en-US" sz="1000" dirty="0">
                <a:solidFill>
                  <a:srgbClr val="5C6B64"/>
                </a:solidFill>
              </a:rPr>
              <a:t>keyword match picks one typed tool.</a:t>
            </a:r>
            <a:endParaRPr lang="en-US" sz="1100" dirty="0"/>
          </a:p>
          <a:p>
            <a:pPr algn="l" indent="0" marL="0">
              <a:lnSpc>
                <a:spcPct val="92000"/>
              </a:lnSpc>
              <a:buNone/>
            </a:pPr>
            <a:r>
              <a:rPr lang="en-US" sz="1000" dirty="0">
                <a:solidFill>
                  <a:srgbClr val="5C6B64"/>
                </a:solidFill>
              </a:rPr>
              <a:t>No model call here</a:t>
            </a:r>
            <a:endParaRPr lang="en-US" sz="1100" dirty="0"/>
          </a:p>
        </p:txBody>
      </p:sp>
      <p:sp>
        <p:nvSpPr>
          <p:cNvPr id="9" name="Shape 7"/>
          <p:cNvSpPr/>
          <p:nvPr/>
        </p:nvSpPr>
        <p:spPr>
          <a:xfrm>
            <a:off x="4085234" y="1325880"/>
            <a:ext cx="201168" cy="201168"/>
          </a:xfrm>
          <a:prstGeom prst="rightArrow">
            <a:avLst/>
          </a:prstGeom>
          <a:solidFill>
            <a:srgbClr val="76B900"/>
          </a:solidFill>
          <a:ln w="12700">
            <a:solidFill>
              <a:srgbClr val="76B900"/>
            </a:solidFill>
            <a:prstDash val="solid"/>
          </a:ln>
        </p:spPr>
      </p:sp>
      <p:sp>
        <p:nvSpPr>
          <p:cNvPr id="10" name="card-3 · Read"/>
          <p:cNvSpPr/>
          <p:nvPr/>
        </p:nvSpPr>
        <p:spPr>
          <a:xfrm>
            <a:off x="4322978" y="1024128"/>
            <a:ext cx="1635709" cy="841248"/>
          </a:xfrm>
          <a:prstGeom prst="rect">
            <a:avLst/>
          </a:prstGeom>
          <a:solidFill>
            <a:srgbClr val="FFFFFF"/>
          </a:solidFill>
          <a:ln w="12700">
            <a:solidFill>
              <a:srgbClr val="C3CCC0"/>
            </a:solidFill>
            <a:prstDash val="solid"/>
          </a:ln>
        </p:spPr>
      </p:sp>
      <p:sp>
        <p:nvSpPr>
          <p:cNvPr id="11" name="Text 9"/>
          <p:cNvSpPr txBox="1"/>
          <p:nvPr/>
        </p:nvSpPr>
        <p:spPr>
          <a:xfrm>
            <a:off x="438698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3 · Read</a:t>
            </a:r>
            <a:endParaRPr lang="en-US" sz="1100" dirty="0"/>
          </a:p>
          <a:p>
            <a:pPr algn="l" indent="0" marL="0">
              <a:lnSpc>
                <a:spcPct val="92000"/>
              </a:lnSpc>
              <a:buNone/>
            </a:pPr>
            <a:r>
              <a:rPr lang="en-US" sz="1000" dirty="0">
                <a:solidFill>
                  <a:srgbClr val="5C6B64"/>
                </a:solidFill>
              </a:rPr>
              <a:t>SQL over the event log, or</a:t>
            </a:r>
            <a:endParaRPr lang="en-US" sz="1100" dirty="0"/>
          </a:p>
          <a:p>
            <a:pPr algn="l" indent="0" marL="0">
              <a:lnSpc>
                <a:spcPct val="92000"/>
              </a:lnSpc>
              <a:buNone/>
            </a:pPr>
            <a:r>
              <a:rPr lang="en-US" sz="1000" dirty="0">
                <a:solidFill>
                  <a:srgbClr val="5C6B64"/>
                </a:solidFill>
              </a:rPr>
              <a:t>embed &gt; Milvus &gt; rerank</a:t>
            </a:r>
            <a:endParaRPr lang="en-US" sz="1100" dirty="0"/>
          </a:p>
        </p:txBody>
      </p:sp>
      <p:sp>
        <p:nvSpPr>
          <p:cNvPr id="12" name="Shape 10"/>
          <p:cNvSpPr/>
          <p:nvPr/>
        </p:nvSpPr>
        <p:spPr>
          <a:xfrm>
            <a:off x="5995264" y="1325880"/>
            <a:ext cx="201168" cy="201168"/>
          </a:xfrm>
          <a:prstGeom prst="rightArrow">
            <a:avLst/>
          </a:prstGeom>
          <a:solidFill>
            <a:srgbClr val="76B900"/>
          </a:solidFill>
          <a:ln w="12700">
            <a:solidFill>
              <a:srgbClr val="76B900"/>
            </a:solidFill>
            <a:prstDash val="solid"/>
          </a:ln>
        </p:spPr>
      </p:sp>
      <p:sp>
        <p:nvSpPr>
          <p:cNvPr id="13" name="card-4 · Compose"/>
          <p:cNvSpPr/>
          <p:nvPr/>
        </p:nvSpPr>
        <p:spPr>
          <a:xfrm>
            <a:off x="6233008" y="1024128"/>
            <a:ext cx="1635709" cy="841248"/>
          </a:xfrm>
          <a:prstGeom prst="rect">
            <a:avLst/>
          </a:prstGeom>
          <a:solidFill>
            <a:srgbClr val="FFFFFF"/>
          </a:solidFill>
          <a:ln w="12700">
            <a:solidFill>
              <a:srgbClr val="C3CCC0"/>
            </a:solidFill>
            <a:prstDash val="solid"/>
          </a:ln>
        </p:spPr>
      </p:sp>
      <p:sp>
        <p:nvSpPr>
          <p:cNvPr id="14" name="Text 12"/>
          <p:cNvSpPr txBox="1"/>
          <p:nvPr/>
        </p:nvSpPr>
        <p:spPr>
          <a:xfrm>
            <a:off x="629701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4 · Compose</a:t>
            </a:r>
            <a:endParaRPr lang="en-US" sz="1100" dirty="0"/>
          </a:p>
          <a:p>
            <a:pPr algn="l" indent="0" marL="0">
              <a:lnSpc>
                <a:spcPct val="92000"/>
              </a:lnSpc>
              <a:buNone/>
            </a:pPr>
            <a:r>
              <a:rPr lang="en-US" sz="1000" dirty="0">
                <a:solidFill>
                  <a:srgbClr val="5C6B64"/>
                </a:solidFill>
              </a:rPr>
              <a:t>Python builds the answer.</a:t>
            </a:r>
            <a:endParaRPr lang="en-US" sz="1100" dirty="0"/>
          </a:p>
          <a:p>
            <a:pPr algn="l" indent="0" marL="0">
              <a:lnSpc>
                <a:spcPct val="92000"/>
              </a:lnSpc>
              <a:buNone/>
            </a:pPr>
            <a:r>
              <a:rPr lang="en-US" sz="1000" dirty="0">
                <a:solidFill>
                  <a:srgbClr val="5C6B64"/>
                </a:solidFill>
              </a:rPr>
              <a:t>The model only narrates prose</a:t>
            </a:r>
            <a:endParaRPr lang="en-US" sz="1100" dirty="0"/>
          </a:p>
        </p:txBody>
      </p:sp>
      <p:sp>
        <p:nvSpPr>
          <p:cNvPr id="15" name="Shape 13"/>
          <p:cNvSpPr/>
          <p:nvPr/>
        </p:nvSpPr>
        <p:spPr>
          <a:xfrm>
            <a:off x="7905293" y="1325880"/>
            <a:ext cx="201168" cy="201168"/>
          </a:xfrm>
          <a:prstGeom prst="rightArrow">
            <a:avLst/>
          </a:prstGeom>
          <a:solidFill>
            <a:srgbClr val="76B900"/>
          </a:solidFill>
          <a:ln w="12700">
            <a:solidFill>
              <a:srgbClr val="76B900"/>
            </a:solidFill>
            <a:prstDash val="solid"/>
          </a:ln>
        </p:spPr>
      </p:sp>
      <p:sp>
        <p:nvSpPr>
          <p:cNvPr id="16" name="card-5 · Check"/>
          <p:cNvSpPr/>
          <p:nvPr/>
        </p:nvSpPr>
        <p:spPr>
          <a:xfrm>
            <a:off x="8143037" y="1024128"/>
            <a:ext cx="1635709" cy="841248"/>
          </a:xfrm>
          <a:prstGeom prst="rect">
            <a:avLst/>
          </a:prstGeom>
          <a:solidFill>
            <a:srgbClr val="FFFFFF"/>
          </a:solidFill>
          <a:ln w="22225">
            <a:solidFill>
              <a:srgbClr val="76B900"/>
            </a:solidFill>
            <a:prstDash val="solid"/>
          </a:ln>
        </p:spPr>
      </p:sp>
      <p:sp>
        <p:nvSpPr>
          <p:cNvPr id="17" name="Text 15"/>
          <p:cNvSpPr txBox="1"/>
          <p:nvPr/>
        </p:nvSpPr>
        <p:spPr>
          <a:xfrm>
            <a:off x="8207045"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5 · Check</a:t>
            </a:r>
            <a:endParaRPr lang="en-US" sz="1100" dirty="0"/>
          </a:p>
          <a:p>
            <a:pPr algn="l" indent="0" marL="0">
              <a:lnSpc>
                <a:spcPct val="92000"/>
              </a:lnSpc>
              <a:buNone/>
            </a:pPr>
            <a:r>
              <a:rPr lang="en-US" sz="1000" dirty="0">
                <a:solidFill>
                  <a:srgbClr val="5C6B64"/>
                </a:solidFill>
              </a:rPr>
              <a:t>every figure must trace back</a:t>
            </a:r>
            <a:endParaRPr lang="en-US" sz="1100" dirty="0"/>
          </a:p>
          <a:p>
            <a:pPr algn="l" indent="0" marL="0">
              <a:lnSpc>
                <a:spcPct val="92000"/>
              </a:lnSpc>
              <a:buNone/>
            </a:pPr>
            <a:r>
              <a:rPr lang="en-US" sz="1000" dirty="0">
                <a:solidFill>
                  <a:srgbClr val="5C6B64"/>
                </a:solidFill>
              </a:rPr>
              <a:t>to a tool result, or it is blocked</a:t>
            </a:r>
            <a:endParaRPr lang="en-US" sz="1100" dirty="0"/>
          </a:p>
        </p:txBody>
      </p:sp>
      <p:sp>
        <p:nvSpPr>
          <p:cNvPr id="18" name="Shape 16"/>
          <p:cNvSpPr/>
          <p:nvPr/>
        </p:nvSpPr>
        <p:spPr>
          <a:xfrm>
            <a:off x="9815322" y="1325880"/>
            <a:ext cx="201168" cy="201168"/>
          </a:xfrm>
          <a:prstGeom prst="rightArrow">
            <a:avLst/>
          </a:prstGeom>
          <a:solidFill>
            <a:srgbClr val="76B900"/>
          </a:solidFill>
          <a:ln w="12700">
            <a:solidFill>
              <a:srgbClr val="76B900"/>
            </a:solidFill>
            <a:prstDash val="solid"/>
          </a:ln>
        </p:spPr>
      </p:sp>
      <p:sp>
        <p:nvSpPr>
          <p:cNvPr id="19" name="card-6 · Answer"/>
          <p:cNvSpPr/>
          <p:nvPr/>
        </p:nvSpPr>
        <p:spPr>
          <a:xfrm>
            <a:off x="10053066" y="1024128"/>
            <a:ext cx="1635709" cy="841248"/>
          </a:xfrm>
          <a:prstGeom prst="rect">
            <a:avLst/>
          </a:prstGeom>
          <a:solidFill>
            <a:srgbClr val="5B8C3A"/>
          </a:solidFill>
          <a:ln w="19050">
            <a:solidFill>
              <a:srgbClr val="446B29"/>
            </a:solidFill>
            <a:prstDash val="solid"/>
          </a:ln>
        </p:spPr>
      </p:sp>
      <p:sp>
        <p:nvSpPr>
          <p:cNvPr id="20" name="Text 18"/>
          <p:cNvSpPr txBox="1"/>
          <p:nvPr/>
        </p:nvSpPr>
        <p:spPr>
          <a:xfrm>
            <a:off x="10117074"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6 · Answer</a:t>
            </a:r>
            <a:endParaRPr lang="en-US" sz="1100" dirty="0"/>
          </a:p>
          <a:p>
            <a:pPr algn="l" indent="0" marL="0">
              <a:lnSpc>
                <a:spcPct val="92000"/>
              </a:lnSpc>
              <a:buNone/>
            </a:pPr>
            <a:r>
              <a:rPr lang="en-US" sz="1000" dirty="0">
                <a:solidFill>
                  <a:srgbClr val="DCE8CF"/>
                </a:solidFill>
              </a:rPr>
              <a:t>with the record ids</a:t>
            </a:r>
            <a:endParaRPr lang="en-US" sz="1100" dirty="0"/>
          </a:p>
          <a:p>
            <a:pPr algn="l" indent="0" marL="0">
              <a:lnSpc>
                <a:spcPct val="92000"/>
              </a:lnSpc>
              <a:buNone/>
            </a:pPr>
            <a:r>
              <a:rPr lang="en-US" sz="1000" dirty="0">
                <a:solidFill>
                  <a:srgbClr val="DCE8CF"/>
                </a:solidFill>
              </a:rPr>
              <a:t>it was built from</a:t>
            </a:r>
            <a:endParaRPr lang="en-US" sz="1100" dirty="0"/>
          </a:p>
        </p:txBody>
      </p:sp>
      <p:sp>
        <p:nvSpPr>
          <p:cNvPr id="21" name="Text 19"/>
          <p:cNvSpPr txBox="1"/>
          <p:nvPr/>
        </p:nvSpPr>
        <p:spPr>
          <a:xfrm>
            <a:off x="502920" y="1901952"/>
            <a:ext cx="11185855" cy="237744"/>
          </a:xfrm>
          <a:prstGeom prst="rect">
            <a:avLst/>
          </a:prstGeom>
          <a:noFill/>
          <a:ln/>
        </p:spPr>
        <p:txBody>
          <a:bodyPr wrap="square" lIns="0" tIns="0" rIns="0" bIns="0" rtlCol="0" anchor="ctr"/>
          <a:lstStyle/>
          <a:p>
            <a:pPr algn="ctr" indent="0" marL="0">
              <a:buNone/>
            </a:pPr>
            <a:r>
              <a:rPr lang="en-US" sz="1000" b="1" dirty="0">
                <a:solidFill>
                  <a:srgbClr val="14302A"/>
                </a:solidFill>
              </a:rPr>
              <a:t>Steps 1, 2, 4 and 6 never touch a model. </a:t>
            </a:r>
            <a:pPr algn="ctr" indent="0" marL="0">
              <a:buNone/>
            </a:pPr>
            <a:r>
              <a:rPr lang="en-US" sz="1000" dirty="0">
                <a:solidFill>
                  <a:srgbClr val="5C6B64"/>
                </a:solidFill>
              </a:rPr>
              <a:t>Only step 3's semantic branch and step 4's narration do - which is why eight of eleven questions answer in under a tenth of a second.</a:t>
            </a:r>
            <a:endParaRPr lang="en-US" sz="1000" dirty="0"/>
          </a:p>
        </p:txBody>
      </p:sp>
      <p:sp>
        <p:nvSpPr>
          <p:cNvPr id="22" name="frame-05-app-manager-a"/>
          <p:cNvSpPr/>
          <p:nvPr/>
        </p:nvSpPr>
        <p:spPr>
          <a:xfrm>
            <a:off x="484632" y="2269440"/>
            <a:ext cx="2825496" cy="1953360"/>
          </a:xfrm>
          <a:prstGeom prst="rect">
            <a:avLst/>
          </a:prstGeom>
          <a:solidFill>
            <a:srgbClr val="FFFFFF"/>
          </a:solidFill>
          <a:ln w="12700">
            <a:solidFill>
              <a:srgbClr val="C3CCC0"/>
            </a:solidFill>
            <a:prstDash val="solid"/>
          </a:ln>
        </p:spPr>
      </p:sp>
      <p:pic>
        <p:nvPicPr>
          <p:cNvPr id="23" name="Image 0" descr="docs/screenshots/05-app-manager-assistant.jpg">    </p:cNvPr>
          <p:cNvPicPr>
            <a:picLocks noChangeAspect="1"/>
          </p:cNvPicPr>
          <p:nvPr/>
        </p:nvPicPr>
        <p:blipFill>
          <a:blip r:embed="rId1"/>
          <a:stretch>
            <a:fillRect/>
          </a:stretch>
        </p:blipFill>
        <p:spPr>
          <a:xfrm>
            <a:off x="502920" y="2287728"/>
            <a:ext cx="2788920" cy="1916784"/>
          </a:xfrm>
          <a:prstGeom prst="rect">
            <a:avLst/>
          </a:prstGeom>
        </p:spPr>
      </p:pic>
      <p:sp>
        <p:nvSpPr>
          <p:cNvPr id="24" name="Text 21"/>
          <p:cNvSpPr txBox="1"/>
          <p:nvPr/>
        </p:nvSpPr>
        <p:spPr>
          <a:xfrm>
            <a:off x="3438144"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The question a service manager asks</a:t>
            </a:r>
            <a:endParaRPr lang="en-US" sz="1200" dirty="0"/>
          </a:p>
        </p:txBody>
      </p:sp>
      <p:sp>
        <p:nvSpPr>
          <p:cNvPr id="25" name="Text 22"/>
          <p:cNvSpPr txBox="1"/>
          <p:nvPr/>
        </p:nvSpPr>
        <p:spPr>
          <a:xfrm>
            <a:off x="3438144"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Plain English in; a keyword router picks the tool</a:t>
            </a:r>
            <a:endParaRPr lang="en-US" sz="1000" dirty="0"/>
          </a:p>
          <a:p>
            <a:pPr marL="342900" indent="-342900">
              <a:lnSpc>
                <a:spcPct val="100000"/>
              </a:lnSpc>
              <a:spcAft>
                <a:spcPts val="300"/>
              </a:spcAft>
              <a:buSzPct val="100000"/>
              <a:buChar char="•"/>
            </a:pPr>
            <a:r>
              <a:rPr lang="en-US" sz="1000" dirty="0">
                <a:solidFill>
                  <a:srgbClr val="5C6B64"/>
                </a:solidFill>
              </a:rPr>
              <a:t>The answer ends in the six record ids it used -</a:t>
            </a:r>
            <a:endParaRPr lang="en-US" sz="1000" dirty="0"/>
          </a:p>
          <a:p>
            <a:pPr marL="342900" indent="-342900">
              <a:lnSpc>
                <a:spcPct val="100000"/>
              </a:lnSpc>
              <a:spcAft>
                <a:spcPts val="300"/>
              </a:spcAft>
              <a:buSzPct val="100000"/>
              <a:buChar char="•"/>
            </a:pPr>
            <a:r>
              <a:rPr lang="en-US" sz="1000" dirty="0">
                <a:solidFill>
                  <a:srgbClr val="5C6B64"/>
                </a:solidFill>
              </a:rPr>
              <a:t>the same six as docs/EXAMPLES.md</a:t>
            </a:r>
            <a:endParaRPr lang="en-US" sz="1000" dirty="0"/>
          </a:p>
          <a:p>
            <a:pPr marL="342900" indent="-342900">
              <a:lnSpc>
                <a:spcPct val="100000"/>
              </a:lnSpc>
              <a:spcAft>
                <a:spcPts val="300"/>
              </a:spcAft>
              <a:buSzPct val="100000"/>
              <a:buChar char="•"/>
            </a:pPr>
            <a:r>
              <a:rPr lang="en-US" sz="1000" dirty="0">
                <a:solidFill>
                  <a:srgbClr val="5C6B64"/>
                </a:solidFill>
              </a:rPr>
              <a:t>Measured: 9 of 11 answer in under 0.11s</a:t>
            </a:r>
            <a:endParaRPr lang="en-US" sz="1000" dirty="0"/>
          </a:p>
        </p:txBody>
      </p:sp>
      <p:sp>
        <p:nvSpPr>
          <p:cNvPr id="26" name="frame-09-grafana-dashb"/>
          <p:cNvSpPr/>
          <p:nvPr/>
        </p:nvSpPr>
        <p:spPr>
          <a:xfrm>
            <a:off x="6214720" y="2269440"/>
            <a:ext cx="2825496" cy="1953360"/>
          </a:xfrm>
          <a:prstGeom prst="rect">
            <a:avLst/>
          </a:prstGeom>
          <a:solidFill>
            <a:srgbClr val="FFFFFF"/>
          </a:solidFill>
          <a:ln w="12700">
            <a:solidFill>
              <a:srgbClr val="C3CCC0"/>
            </a:solidFill>
            <a:prstDash val="solid"/>
          </a:ln>
        </p:spPr>
      </p:sp>
      <p:pic>
        <p:nvPicPr>
          <p:cNvPr id="27" name="Image 1" descr="docs/screenshots/09-grafana-dashboard.jpg">    </p:cNvPr>
          <p:cNvPicPr>
            <a:picLocks noChangeAspect="1"/>
          </p:cNvPicPr>
          <p:nvPr/>
        </p:nvPicPr>
        <p:blipFill>
          <a:blip r:embed="rId2"/>
          <a:stretch>
            <a:fillRect/>
          </a:stretch>
        </p:blipFill>
        <p:spPr>
          <a:xfrm>
            <a:off x="6233008" y="2287728"/>
            <a:ext cx="2788920" cy="1916784"/>
          </a:xfrm>
          <a:prstGeom prst="rect">
            <a:avLst/>
          </a:prstGeom>
        </p:spPr>
      </p:pic>
      <p:sp>
        <p:nvSpPr>
          <p:cNvPr id="28" name="Text 24"/>
          <p:cNvSpPr txBox="1"/>
          <p:nvPr/>
        </p:nvSpPr>
        <p:spPr>
          <a:xfrm>
            <a:off x="9168232"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Grafana — the thesis, measured</a:t>
            </a:r>
            <a:endParaRPr lang="en-US" sz="1200" dirty="0"/>
          </a:p>
        </p:txBody>
      </p:sp>
      <p:sp>
        <p:nvSpPr>
          <p:cNvPr id="29" name="Text 25"/>
          <p:cNvSpPr txBox="1"/>
          <p:nvPr/>
        </p:nvSpPr>
        <p:spPr>
          <a:xfrm>
            <a:off x="9168232"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90.9% of answers composed in Python, over 30 min</a:t>
            </a:r>
            <a:endParaRPr lang="en-US" sz="1000" dirty="0"/>
          </a:p>
          <a:p>
            <a:pPr marL="342900" indent="-342900">
              <a:lnSpc>
                <a:spcPct val="100000"/>
              </a:lnSpc>
              <a:spcAft>
                <a:spcPts val="300"/>
              </a:spcAft>
              <a:buSzPct val="100000"/>
              <a:buChar char="•"/>
            </a:pPr>
            <a:r>
              <a:rPr lang="en-US" sz="1000" dirty="0">
                <a:solidFill>
                  <a:srgbClr val="5C6B64"/>
                </a:solidFill>
              </a:rPr>
              <a:t>Ungrounded 0 · cut short 0 · blocks 0 · errors 0</a:t>
            </a:r>
            <a:endParaRPr lang="en-US" sz="1000" dirty="0"/>
          </a:p>
          <a:p>
            <a:pPr marL="342900" indent="-342900">
              <a:lnSpc>
                <a:spcPct val="100000"/>
              </a:lnSpc>
              <a:spcAft>
                <a:spcPts val="300"/>
              </a:spcAft>
              <a:buSzPct val="100000"/>
              <a:buChar char="•"/>
            </a:pPr>
            <a:r>
              <a:rPr lang="en-US" sz="1000" dirty="0">
                <a:solidFill>
                  <a:srgbClr val="5C6B64"/>
                </a:solidFill>
              </a:rPr>
              <a:t>p50 by path: python ~0s against llm ~3s</a:t>
            </a:r>
            <a:endParaRPr lang="en-US" sz="1000" dirty="0"/>
          </a:p>
          <a:p>
            <a:pPr marL="342900" indent="-342900">
              <a:lnSpc>
                <a:spcPct val="100000"/>
              </a:lnSpc>
              <a:spcAft>
                <a:spcPts val="300"/>
              </a:spcAft>
              <a:buSzPct val="100000"/>
              <a:buChar char="•"/>
            </a:pPr>
            <a:r>
              <a:rPr lang="en-US" sz="1000" dirty="0">
                <a:solidFill>
                  <a:srgbClr val="5C6B64"/>
                </a:solidFill>
              </a:rPr>
              <a:t>GPU to 100% on the semantic queries, flat otherwise</a:t>
            </a:r>
            <a:endParaRPr lang="en-US" sz="1000" dirty="0"/>
          </a:p>
        </p:txBody>
      </p:sp>
      <p:sp>
        <p:nvSpPr>
          <p:cNvPr id="30" name="frame-08-prometheus-to"/>
          <p:cNvSpPr/>
          <p:nvPr/>
        </p:nvSpPr>
        <p:spPr>
          <a:xfrm>
            <a:off x="484632" y="4427424"/>
            <a:ext cx="2825496" cy="1953360"/>
          </a:xfrm>
          <a:prstGeom prst="rect">
            <a:avLst/>
          </a:prstGeom>
          <a:solidFill>
            <a:srgbClr val="FFFFFF"/>
          </a:solidFill>
          <a:ln w="12700">
            <a:solidFill>
              <a:srgbClr val="C3CCC0"/>
            </a:solidFill>
            <a:prstDash val="solid"/>
          </a:ln>
        </p:spPr>
      </p:sp>
      <p:pic>
        <p:nvPicPr>
          <p:cNvPr id="31" name="Image 2" descr="docs/screenshots/08-prometheus-tool-calls.jpg">    </p:cNvPr>
          <p:cNvPicPr>
            <a:picLocks noChangeAspect="1"/>
          </p:cNvPicPr>
          <p:nvPr/>
        </p:nvPicPr>
        <p:blipFill>
          <a:blip r:embed="rId3"/>
          <a:stretch>
            <a:fillRect/>
          </a:stretch>
        </p:blipFill>
        <p:spPr>
          <a:xfrm>
            <a:off x="502920" y="4445712"/>
            <a:ext cx="2788920" cy="1916784"/>
          </a:xfrm>
          <a:prstGeom prst="rect">
            <a:avLst/>
          </a:prstGeom>
        </p:spPr>
      </p:pic>
      <p:sp>
        <p:nvSpPr>
          <p:cNvPr id="32" name="Text 27"/>
          <p:cNvSpPr txBox="1"/>
          <p:nvPr/>
        </p:nvSpPr>
        <p:spPr>
          <a:xfrm>
            <a:off x="3438144"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Prometheus — which tools actually ran</a:t>
            </a:r>
            <a:endParaRPr lang="en-US" sz="1200" dirty="0"/>
          </a:p>
        </p:txBody>
      </p:sp>
      <p:sp>
        <p:nvSpPr>
          <p:cNvPr id="33" name="Text 28"/>
          <p:cNvSpPr txBox="1"/>
          <p:nvPr/>
        </p:nvSpPr>
        <p:spPr>
          <a:xfrm>
            <a:off x="3438144"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rate(asoia_tool_calls_total[5m]) x 60, six series</a:t>
            </a:r>
            <a:endParaRPr lang="en-US" sz="1000" dirty="0"/>
          </a:p>
          <a:p>
            <a:pPr marL="342900" indent="-342900">
              <a:lnSpc>
                <a:spcPct val="100000"/>
              </a:lnSpc>
              <a:spcAft>
                <a:spcPts val="300"/>
              </a:spcAft>
              <a:buSzPct val="100000"/>
              <a:buChar char="•"/>
            </a:pPr>
            <a:r>
              <a:rPr lang="en-US" sz="1000" dirty="0">
                <a:solidFill>
                  <a:srgbClr val="5C6B64"/>
                </a:solidFill>
              </a:rPr>
              <a:t>Two bursts of load, thirty minutes apart</a:t>
            </a:r>
            <a:endParaRPr lang="en-US" sz="1000" dirty="0"/>
          </a:p>
          <a:p>
            <a:pPr marL="342900" indent="-342900">
              <a:lnSpc>
                <a:spcPct val="100000"/>
              </a:lnSpc>
              <a:spcAft>
                <a:spcPts val="300"/>
              </a:spcAft>
              <a:buSzPct val="100000"/>
              <a:buChar char="•"/>
            </a:pPr>
            <a:r>
              <a:rPr lang="en-US" sz="1000" dirty="0">
                <a:solidFill>
                  <a:srgbClr val="5C6B64"/>
                </a:solidFill>
              </a:rPr>
              <a:t>list_ros peaks at 10.3/min; search_updates is rare</a:t>
            </a:r>
            <a:endParaRPr lang="en-US" sz="1000" dirty="0"/>
          </a:p>
          <a:p>
            <a:pPr marL="342900" indent="-342900">
              <a:lnSpc>
                <a:spcPct val="100000"/>
              </a:lnSpc>
              <a:spcAft>
                <a:spcPts val="300"/>
              </a:spcAft>
              <a:buSzPct val="100000"/>
              <a:buChar char="•"/>
            </a:pPr>
            <a:r>
              <a:rPr lang="en-US" sz="1000" dirty="0">
                <a:solidFill>
                  <a:srgbClr val="5C6B64"/>
                </a:solidFill>
              </a:rPr>
              <a:t>Counters are per-process: load must hit the API</a:t>
            </a:r>
            <a:endParaRPr lang="en-US" sz="1000" dirty="0"/>
          </a:p>
        </p:txBody>
      </p:sp>
      <p:sp>
        <p:nvSpPr>
          <p:cNvPr id="34" name="frame-11-attu-schema-1"/>
          <p:cNvSpPr/>
          <p:nvPr/>
        </p:nvSpPr>
        <p:spPr>
          <a:xfrm>
            <a:off x="6214720" y="4427424"/>
            <a:ext cx="2825496" cy="1953360"/>
          </a:xfrm>
          <a:prstGeom prst="rect">
            <a:avLst/>
          </a:prstGeom>
          <a:solidFill>
            <a:srgbClr val="FFFFFF"/>
          </a:solidFill>
          <a:ln w="12700">
            <a:solidFill>
              <a:srgbClr val="C3CCC0"/>
            </a:solidFill>
            <a:prstDash val="solid"/>
          </a:ln>
        </p:spPr>
      </p:sp>
      <p:pic>
        <p:nvPicPr>
          <p:cNvPr id="35" name="Image 3" descr="docs/screenshots/11-attu-schema-1024.jpg">    </p:cNvPr>
          <p:cNvPicPr>
            <a:picLocks noChangeAspect="1"/>
          </p:cNvPicPr>
          <p:nvPr/>
        </p:nvPicPr>
        <p:blipFill>
          <a:blip r:embed="rId4"/>
          <a:stretch>
            <a:fillRect/>
          </a:stretch>
        </p:blipFill>
        <p:spPr>
          <a:xfrm>
            <a:off x="6233008" y="4445712"/>
            <a:ext cx="2788920" cy="1916784"/>
          </a:xfrm>
          <a:prstGeom prst="rect">
            <a:avLst/>
          </a:prstGeom>
        </p:spPr>
      </p:pic>
      <p:sp>
        <p:nvSpPr>
          <p:cNvPr id="36" name="Text 30"/>
          <p:cNvSpPr txBox="1"/>
          <p:nvPr/>
        </p:nvSpPr>
        <p:spPr>
          <a:xfrm>
            <a:off x="9168232"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Milvus in Attu — the store, in full</a:t>
            </a:r>
            <a:endParaRPr lang="en-US" sz="1200" dirty="0"/>
          </a:p>
        </p:txBody>
      </p:sp>
      <p:sp>
        <p:nvSpPr>
          <p:cNvPr id="37" name="Text 31"/>
          <p:cNvSpPr txBox="1"/>
          <p:nvPr/>
        </p:nvSpPr>
        <p:spPr>
          <a:xfrm>
            <a:off x="9168232"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vector: FloatVector(1024), AUTOINDEX(COSINE)</a:t>
            </a:r>
            <a:endParaRPr lang="en-US" sz="1000" dirty="0"/>
          </a:p>
          <a:p>
            <a:pPr marL="342900" indent="-342900">
              <a:lnSpc>
                <a:spcPct val="100000"/>
              </a:lnSpc>
              <a:spcAft>
                <a:spcPts val="300"/>
              </a:spcAft>
              <a:buSzPct val="100000"/>
              <a:buChar char="•"/>
            </a:pPr>
            <a:r>
              <a:rPr lang="en-US" sz="1000" dirty="0">
                <a:solidFill>
                  <a:srgbClr val="5C6B64"/>
                </a:solidFill>
              </a:rPr>
              <a:t>Loaded, replica 1, 1,690 entities, 13 fields</a:t>
            </a:r>
            <a:endParaRPr lang="en-US" sz="1000" dirty="0"/>
          </a:p>
          <a:p>
            <a:pPr marL="342900" indent="-342900">
              <a:lnSpc>
                <a:spcPct val="100000"/>
              </a:lnSpc>
              <a:spcAft>
                <a:spcPts val="300"/>
              </a:spcAft>
              <a:buSzPct val="100000"/>
              <a:buChar char="•"/>
            </a:pPr>
            <a:r>
              <a:rPr lang="en-US" sz="1000" dirty="0">
                <a:solidFill>
                  <a:srgbClr val="5C6B64"/>
                </a:solidFill>
              </a:rPr>
              <a:t>Width is load-bearing: the hosted embedder is 2048,</a:t>
            </a:r>
            <a:endParaRPr lang="en-US" sz="1000" dirty="0"/>
          </a:p>
          <a:p>
            <a:pPr marL="342900" indent="-342900">
              <a:lnSpc>
                <a:spcPct val="100000"/>
              </a:lnSpc>
              <a:spcAft>
                <a:spcPts val="300"/>
              </a:spcAft>
              <a:buSzPct val="100000"/>
              <a:buChar char="•"/>
            </a:pPr>
            <a:r>
              <a:rPr lang="en-US" sz="1000" dirty="0">
                <a:solidFill>
                  <a:srgbClr val="5C6B64"/>
                </a:solidFill>
              </a:rPr>
              <a:t>so switching mode without rebuilding breaks search</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The rest of the surface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Five tabs a service advisor actually uses, and the two store consoles behind them. The agent's UI shows no vector internals — that is an operator's view, and it lives in Attu and sqlite-web.</a:t>
            </a:r>
            <a:endParaRPr lang="en-US" sz="1150" dirty="0"/>
          </a:p>
        </p:txBody>
      </p:sp>
      <p:sp>
        <p:nvSpPr>
          <p:cNvPr id="4" name="frame-01-app-dashboard"/>
          <p:cNvSpPr/>
          <p:nvPr/>
        </p:nvSpPr>
        <p:spPr>
          <a:xfrm>
            <a:off x="886023" y="1261872"/>
            <a:ext cx="2803916" cy="1938528"/>
          </a:xfrm>
          <a:prstGeom prst="rect">
            <a:avLst/>
          </a:prstGeom>
          <a:solidFill>
            <a:srgbClr val="FFFFFF"/>
          </a:solidFill>
          <a:ln w="12700">
            <a:solidFill>
              <a:srgbClr val="C3CCC0"/>
            </a:solidFill>
            <a:prstDash val="solid"/>
          </a:ln>
        </p:spPr>
      </p:sp>
      <p:pic>
        <p:nvPicPr>
          <p:cNvPr id="5" name="Image 0" descr="docs/screenshots/01-app-dashboard.jpg">    </p:cNvPr>
          <p:cNvPicPr>
            <a:picLocks noChangeAspect="1"/>
          </p:cNvPicPr>
          <p:nvPr/>
        </p:nvPicPr>
        <p:blipFill>
          <a:blip r:embed="rId1"/>
          <a:stretch>
            <a:fillRect/>
          </a:stretch>
        </p:blipFill>
        <p:spPr>
          <a:xfrm>
            <a:off x="904311" y="1280160"/>
            <a:ext cx="2767340" cy="1901952"/>
          </a:xfrm>
          <a:prstGeom prst="rect">
            <a:avLst/>
          </a:prstGeom>
        </p:spPr>
      </p:pic>
      <p:sp>
        <p:nvSpPr>
          <p:cNvPr id="6" name="Text 3"/>
          <p:cNvSpPr txBox="1"/>
          <p:nvPr/>
        </p:nvSpPr>
        <p:spPr>
          <a:xfrm>
            <a:off x="502920"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Dashboard</a:t>
            </a:r>
            <a:endParaRPr lang="en-US" sz="1200" dirty="0"/>
          </a:p>
        </p:txBody>
      </p:sp>
      <p:sp>
        <p:nvSpPr>
          <p:cNvPr id="7" name="Text 4"/>
          <p:cNvSpPr txBox="1"/>
          <p:nvPr/>
        </p:nvSpPr>
        <p:spPr>
          <a:xfrm>
            <a:off x="502920"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66 open repair orders of 400 — 11 unsafe to release, 43 past promise — each row saying why, with its measurement</a:t>
            </a:r>
            <a:endParaRPr lang="en-US" sz="1000" dirty="0"/>
          </a:p>
        </p:txBody>
      </p:sp>
      <p:sp>
        <p:nvSpPr>
          <p:cNvPr id="8" name="frame-02-app-repair-or"/>
          <p:cNvSpPr/>
          <p:nvPr/>
        </p:nvSpPr>
        <p:spPr>
          <a:xfrm>
            <a:off x="4693890" y="1261872"/>
            <a:ext cx="2803916" cy="1938528"/>
          </a:xfrm>
          <a:prstGeom prst="rect">
            <a:avLst/>
          </a:prstGeom>
          <a:solidFill>
            <a:srgbClr val="FFFFFF"/>
          </a:solidFill>
          <a:ln w="12700">
            <a:solidFill>
              <a:srgbClr val="C3CCC0"/>
            </a:solidFill>
            <a:prstDash val="solid"/>
          </a:ln>
        </p:spPr>
      </p:sp>
      <p:pic>
        <p:nvPicPr>
          <p:cNvPr id="9" name="Image 1" descr="docs/screenshots/02-app-repair-order.jpg">    </p:cNvPr>
          <p:cNvPicPr>
            <a:picLocks noChangeAspect="1"/>
          </p:cNvPicPr>
          <p:nvPr/>
        </p:nvPicPr>
        <p:blipFill>
          <a:blip r:embed="rId2"/>
          <a:stretch>
            <a:fillRect/>
          </a:stretch>
        </p:blipFill>
        <p:spPr>
          <a:xfrm>
            <a:off x="4712178" y="1280160"/>
            <a:ext cx="2767340" cy="1901952"/>
          </a:xfrm>
          <a:prstGeom prst="rect">
            <a:avLst/>
          </a:prstGeom>
        </p:spPr>
      </p:pic>
      <p:sp>
        <p:nvSpPr>
          <p:cNvPr id="10" name="Text 6"/>
          <p:cNvSpPr txBox="1"/>
          <p:nvPr/>
        </p:nvSpPr>
        <p:spPr>
          <a:xfrm>
            <a:off x="4310786"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Repair Order</a:t>
            </a:r>
            <a:endParaRPr lang="en-US" sz="1200" dirty="0"/>
          </a:p>
        </p:txBody>
      </p:sp>
      <p:sp>
        <p:nvSpPr>
          <p:cNvPr id="11" name="Text 7"/>
          <p:cNvSpPr txBox="1"/>
          <p:nvPr/>
        </p:nvSpPr>
        <p:spPr>
          <a:xfrm>
            <a:off x="4310786"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State folded from the event log, never stored — promise breached, hours against flat rate, 12 events cited</a:t>
            </a:r>
            <a:endParaRPr lang="en-US" sz="1000" dirty="0"/>
          </a:p>
        </p:txBody>
      </p:sp>
      <p:sp>
        <p:nvSpPr>
          <p:cNvPr id="12" name="frame-04-app-shift-han"/>
          <p:cNvSpPr/>
          <p:nvPr/>
        </p:nvSpPr>
        <p:spPr>
          <a:xfrm>
            <a:off x="8501756" y="1261872"/>
            <a:ext cx="2803916" cy="1938528"/>
          </a:xfrm>
          <a:prstGeom prst="rect">
            <a:avLst/>
          </a:prstGeom>
          <a:solidFill>
            <a:srgbClr val="FFFFFF"/>
          </a:solidFill>
          <a:ln w="12700">
            <a:solidFill>
              <a:srgbClr val="C3CCC0"/>
            </a:solidFill>
            <a:prstDash val="solid"/>
          </a:ln>
        </p:spPr>
      </p:sp>
      <p:pic>
        <p:nvPicPr>
          <p:cNvPr id="13" name="Image 2" descr="docs/screenshots/04-app-shift-handover.jpg">    </p:cNvPr>
          <p:cNvPicPr>
            <a:picLocks noChangeAspect="1"/>
          </p:cNvPicPr>
          <p:nvPr/>
        </p:nvPicPr>
        <p:blipFill>
          <a:blip r:embed="rId3"/>
          <a:stretch>
            <a:fillRect/>
          </a:stretch>
        </p:blipFill>
        <p:spPr>
          <a:xfrm>
            <a:off x="8520044" y="1280160"/>
            <a:ext cx="2767340" cy="1901952"/>
          </a:xfrm>
          <a:prstGeom prst="rect">
            <a:avLst/>
          </a:prstGeom>
        </p:spPr>
      </p:pic>
      <p:sp>
        <p:nvSpPr>
          <p:cNvPr id="14" name="Text 9"/>
          <p:cNvSpPr txBox="1"/>
          <p:nvPr/>
        </p:nvSpPr>
        <p:spPr>
          <a:xfrm>
            <a:off x="8118653"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Shift Handover</a:t>
            </a:r>
            <a:endParaRPr lang="en-US" sz="1200" dirty="0"/>
          </a:p>
        </p:txBody>
      </p:sp>
      <p:sp>
        <p:nvSpPr>
          <p:cNvPr id="15" name="Text 10"/>
          <p:cNvSpPr txBox="1"/>
          <p:nvPr/>
        </p:nvSpPr>
        <p:spPr>
          <a:xfrm>
            <a:off x="8118653"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brief a manager reads at changeover: safety first, then breached, at-risk, blocked — composed in 0.05s</a:t>
            </a:r>
            <a:endParaRPr lang="en-US" sz="1000" dirty="0"/>
          </a:p>
        </p:txBody>
      </p:sp>
      <p:sp>
        <p:nvSpPr>
          <p:cNvPr id="16" name="frame-03-app-technicia"/>
          <p:cNvSpPr/>
          <p:nvPr/>
        </p:nvSpPr>
        <p:spPr>
          <a:xfrm>
            <a:off x="886023" y="4041648"/>
            <a:ext cx="2803916" cy="1938528"/>
          </a:xfrm>
          <a:prstGeom prst="rect">
            <a:avLst/>
          </a:prstGeom>
          <a:solidFill>
            <a:srgbClr val="FFFFFF"/>
          </a:solidFill>
          <a:ln w="12700">
            <a:solidFill>
              <a:srgbClr val="C3CCC0"/>
            </a:solidFill>
            <a:prstDash val="solid"/>
          </a:ln>
        </p:spPr>
      </p:sp>
      <p:pic>
        <p:nvPicPr>
          <p:cNvPr id="17" name="Image 3" descr="docs/screenshots/03-app-technician-update.jpg">    </p:cNvPr>
          <p:cNvPicPr>
            <a:picLocks noChangeAspect="1"/>
          </p:cNvPicPr>
          <p:nvPr/>
        </p:nvPicPr>
        <p:blipFill>
          <a:blip r:embed="rId4"/>
          <a:stretch>
            <a:fillRect/>
          </a:stretch>
        </p:blipFill>
        <p:spPr>
          <a:xfrm>
            <a:off x="904311" y="4059936"/>
            <a:ext cx="2767340" cy="1901952"/>
          </a:xfrm>
          <a:prstGeom prst="rect">
            <a:avLst/>
          </a:prstGeom>
        </p:spPr>
      </p:pic>
      <p:sp>
        <p:nvSpPr>
          <p:cNvPr id="18" name="Text 12"/>
          <p:cNvSpPr txBox="1"/>
          <p:nvPr/>
        </p:nvSpPr>
        <p:spPr>
          <a:xfrm>
            <a:off x="502920"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Technician Update</a:t>
            </a:r>
            <a:endParaRPr lang="en-US" sz="1200" dirty="0"/>
          </a:p>
        </p:txBody>
      </p:sp>
      <p:sp>
        <p:nvSpPr>
          <p:cNvPr id="19" name="Text 13"/>
          <p:cNvSpPr txBox="1"/>
          <p:nvPr/>
        </p:nvSpPr>
        <p:spPr>
          <a:xfrm>
            <a:off x="502920"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What the RO already says, shown before anything is typed, so nothing is logged twice. Dictate or type it</a:t>
            </a:r>
            <a:endParaRPr lang="en-US" sz="1000" dirty="0"/>
          </a:p>
        </p:txBody>
      </p:sp>
      <p:sp>
        <p:nvSpPr>
          <p:cNvPr id="20" name="frame-07-prometheus-ta"/>
          <p:cNvSpPr/>
          <p:nvPr/>
        </p:nvSpPr>
        <p:spPr>
          <a:xfrm>
            <a:off x="4693890" y="4041648"/>
            <a:ext cx="2803916" cy="1938528"/>
          </a:xfrm>
          <a:prstGeom prst="rect">
            <a:avLst/>
          </a:prstGeom>
          <a:solidFill>
            <a:srgbClr val="FFFFFF"/>
          </a:solidFill>
          <a:ln w="12700">
            <a:solidFill>
              <a:srgbClr val="C3CCC0"/>
            </a:solidFill>
            <a:prstDash val="solid"/>
          </a:ln>
        </p:spPr>
      </p:sp>
      <p:pic>
        <p:nvPicPr>
          <p:cNvPr id="21" name="Image 4" descr="docs/screenshots/07-prometheus-targets.jpg">    </p:cNvPr>
          <p:cNvPicPr>
            <a:picLocks noChangeAspect="1"/>
          </p:cNvPicPr>
          <p:nvPr/>
        </p:nvPicPr>
        <p:blipFill>
          <a:blip r:embed="rId5"/>
          <a:stretch>
            <a:fillRect/>
          </a:stretch>
        </p:blipFill>
        <p:spPr>
          <a:xfrm>
            <a:off x="4712178" y="4059936"/>
            <a:ext cx="2767340" cy="1901952"/>
          </a:xfrm>
          <a:prstGeom prst="rect">
            <a:avLst/>
          </a:prstGeom>
        </p:spPr>
      </p:pic>
      <p:sp>
        <p:nvSpPr>
          <p:cNvPr id="22" name="Text 15"/>
          <p:cNvSpPr txBox="1"/>
          <p:nvPr/>
        </p:nvSpPr>
        <p:spPr>
          <a:xfrm>
            <a:off x="4310786"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Prometheus targets</a:t>
            </a:r>
            <a:endParaRPr lang="en-US" sz="1200" dirty="0"/>
          </a:p>
        </p:txBody>
      </p:sp>
      <p:sp>
        <p:nvSpPr>
          <p:cNvPr id="23" name="Text 16"/>
          <p:cNvSpPr txBox="1"/>
          <p:nvPr/>
        </p:nvSpPr>
        <p:spPr>
          <a:xfrm>
            <a:off x="4310786"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Both scrape jobs up: the app on :9400 and NVIDIA DCGM on :9401, which is what puts real GPU telemetry on the dashboard</a:t>
            </a:r>
            <a:endParaRPr lang="en-US" sz="1000" dirty="0"/>
          </a:p>
        </p:txBody>
      </p:sp>
      <p:sp>
        <p:nvSpPr>
          <p:cNvPr id="24" name="frame-12-sqlite-web.jp"/>
          <p:cNvSpPr/>
          <p:nvPr/>
        </p:nvSpPr>
        <p:spPr>
          <a:xfrm>
            <a:off x="8501756" y="4041648"/>
            <a:ext cx="2803916" cy="1938528"/>
          </a:xfrm>
          <a:prstGeom prst="rect">
            <a:avLst/>
          </a:prstGeom>
          <a:solidFill>
            <a:srgbClr val="FFFFFF"/>
          </a:solidFill>
          <a:ln w="12700">
            <a:solidFill>
              <a:srgbClr val="C3CCC0"/>
            </a:solidFill>
            <a:prstDash val="solid"/>
          </a:ln>
        </p:spPr>
      </p:sp>
      <p:pic>
        <p:nvPicPr>
          <p:cNvPr id="25" name="Image 5" descr="docs/screenshots/12-sqlite-web.jpg">    </p:cNvPr>
          <p:cNvPicPr>
            <a:picLocks noChangeAspect="1"/>
          </p:cNvPicPr>
          <p:nvPr/>
        </p:nvPicPr>
        <p:blipFill>
          <a:blip r:embed="rId6"/>
          <a:stretch>
            <a:fillRect/>
          </a:stretch>
        </p:blipFill>
        <p:spPr>
          <a:xfrm>
            <a:off x="8520044" y="4059936"/>
            <a:ext cx="2767340" cy="1901952"/>
          </a:xfrm>
          <a:prstGeom prst="rect">
            <a:avLst/>
          </a:prstGeom>
        </p:spPr>
      </p:pic>
      <p:sp>
        <p:nvSpPr>
          <p:cNvPr id="26" name="Text 18"/>
          <p:cNvSpPr txBox="1"/>
          <p:nvPr/>
        </p:nvSpPr>
        <p:spPr>
          <a:xfrm>
            <a:off x="8118653"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sqlite-web</a:t>
            </a:r>
            <a:endParaRPr lang="en-US" sz="1200" dirty="0"/>
          </a:p>
        </p:txBody>
      </p:sp>
      <p:sp>
        <p:nvSpPr>
          <p:cNvPr id="27" name="Text 19"/>
          <p:cNvSpPr txBox="1"/>
          <p:nvPr/>
        </p:nvSpPr>
        <p:spPr>
          <a:xfrm>
            <a:off x="8118653"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system of record itself — 9 tables, 12 indexes, 6.4 MB. An operator view, outside the advisor's UI</a:t>
            </a:r>
            <a:endParaRPr lang="en-US" sz="1000" dirty="0"/>
          </a:p>
        </p:txBody>
      </p:sp>
      <p:sp>
        <p:nvSpPr>
          <p:cNvPr id="28" name="Text 20"/>
          <p:cNvSpPr txBox="1"/>
          <p:nvPr/>
        </p:nvSpPr>
        <p:spPr>
          <a:xfrm>
            <a:off x="502920" y="6355080"/>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Every frame on these two slides came from one box with all three NIMs local, taken by scripts/capture_screenshots.py on 2026-10-09 — not by hand. Each one is checked against a string that must appear in the page before it counts as captured; docs/screenshots/README.md says what each shows.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2026-10-09T18:37:44Z</dcterms:created>
  <dcterms:modified xsi:type="dcterms:W3CDTF">2026-10-09T18:37:44Z</dcterms:modified>
</cp:coreProperties>
</file>