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d6c59e29-4628-9ea7-45c0-49c7adaaa4de}">
          <p14:sldIdLst>
            <p14:sldId id="256"/>
          </p14:sldIdLst>
        </p14:section>
        <p14:section name="Architecture" id="{00c8d29a-bcaf-cc8b-820e-7101069bff04}">
          <p14:sldIdLst>
            <p14:sldId id="257"/>
          </p14:sldIdLst>
        </p14:section>
        <p14:section name="Application flow" id="{7096eb24-3e81-065a-3388-562289248600}">
          <p14:sldIdLst>
            <p14:sldId id="258"/>
          </p14:sldIdLst>
        </p14:section>
        <p14:section name="Components" id="{8875833f-fc42-2bbc-94d3-d7b91e5e2f0f}">
          <p14:sldIdLst>
            <p14:sldId id="259"/>
          </p14:sldIdLst>
        </p14:section>
        <p14:section name="Deployment" id="{d5c8273b-f460-2d17-d0ae-62d8ec5a765d}">
          <p14:sldIdLst>
            <p14:sldId id="260"/>
          </p14:sldIdLst>
        </p14:section>
        <p14:section name="Data model" id="{77fd44de-da2c-5070-f078-b26149be1d60}">
          <p14:sldIdLst>
            <p14:sldId id="261"/>
          </p14:sldIdLst>
        </p14:section>
        <p14:section name="Lifecycle" id="{cdac4b9d-4196-e7ef-5940-c0eea78eb87c}">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NemoClaw is the one NVIDIA component of fourteen not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Architecture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Green is NVIDIA: filled is a served model or infrastructure, outlined is a framework, plain is this project's own code</a:t>
            </a:r>
            <a:endParaRPr lang="en-US" sz="1150" dirty="0"/>
          </a:p>
        </p:txBody>
      </p:sp>
      <p:sp>
        <p:nvSpPr>
          <p:cNvPr id="4" name="Shape 2"/>
          <p:cNvSpPr/>
          <p:nvPr/>
        </p:nvSpPr>
        <p:spPr>
          <a:xfrm>
            <a:off x="2788920" y="1060704"/>
            <a:ext cx="6355080" cy="256032"/>
          </a:xfrm>
          <a:prstGeom prst="rect">
            <a:avLst/>
          </a:prstGeom>
          <a:solidFill>
            <a:srgbClr val="14302A"/>
          </a:solidFill>
          <a:ln w="12700">
            <a:solidFill>
              <a:srgbClr val="14302A"/>
            </a:solidFill>
            <a:prstDash val="solid"/>
          </a:ln>
        </p:spPr>
      </p:sp>
      <p:sp>
        <p:nvSpPr>
          <p:cNvPr id="5" name="Text 3"/>
          <p:cNvSpPr txBox="1"/>
          <p:nvPr/>
        </p:nvSpPr>
        <p:spPr>
          <a:xfrm>
            <a:off x="2898648" y="1060704"/>
            <a:ext cx="6135624" cy="256032"/>
          </a:xfrm>
          <a:prstGeom prst="rect">
            <a:avLst/>
          </a:prstGeom>
          <a:noFill/>
          <a:ln/>
        </p:spPr>
        <p:txBody>
          <a:bodyPr wrap="square" lIns="0" tIns="0" rIns="0" bIns="0" rtlCol="0" anchor="ctr"/>
          <a:lstStyle/>
          <a:p>
            <a:pPr algn="ctr" indent="0" marL="0">
              <a:buNone/>
            </a:pPr>
            <a:r>
              <a:rPr lang="en-US" sz="1100" b="1" spc="60" kern="0" dirty="0">
                <a:solidFill>
                  <a:srgbClr val="FFFFFF"/>
                </a:solidFill>
              </a:rPr>
              <a:t>SERVICE OPERATIONS INTELLIGENCE PLATFORM</a:t>
            </a:r>
            <a:endParaRPr lang="en-US" sz="1100" dirty="0"/>
          </a:p>
        </p:txBody>
      </p:sp>
      <p:sp>
        <p:nvSpPr>
          <p:cNvPr id="6" name="Shape 4"/>
          <p:cNvSpPr/>
          <p:nvPr/>
        </p:nvSpPr>
        <p:spPr>
          <a:xfrm>
            <a:off x="502920" y="1060704"/>
            <a:ext cx="2057400" cy="256032"/>
          </a:xfrm>
          <a:prstGeom prst="rect">
            <a:avLst/>
          </a:prstGeom>
          <a:solidFill>
            <a:srgbClr val="1E4035"/>
          </a:solidFill>
          <a:ln w="12700">
            <a:solidFill>
              <a:srgbClr val="1E4035"/>
            </a:solidFill>
            <a:prstDash val="solid"/>
          </a:ln>
        </p:spPr>
      </p:sp>
      <p:sp>
        <p:nvSpPr>
          <p:cNvPr id="7" name="Text 5"/>
          <p:cNvSpPr txBox="1"/>
          <p:nvPr/>
        </p:nvSpPr>
        <p:spPr>
          <a:xfrm>
            <a:off x="612648" y="1060704"/>
            <a:ext cx="1837944" cy="256032"/>
          </a:xfrm>
          <a:prstGeom prst="rect">
            <a:avLst/>
          </a:prstGeom>
          <a:noFill/>
          <a:ln/>
        </p:spPr>
        <p:txBody>
          <a:bodyPr wrap="square" lIns="0" tIns="0" rIns="0" bIns="0" rtlCol="0" anchor="ctr"/>
          <a:lstStyle/>
          <a:p>
            <a:pPr algn="l" indent="0" marL="0">
              <a:buNone/>
            </a:pPr>
            <a:r>
              <a:rPr lang="en-US" sz="1100" b="1" spc="60" kern="0" dirty="0">
                <a:solidFill>
                  <a:srgbClr val="FFFFFF"/>
                </a:solidFill>
              </a:rPr>
              <a:t>Inputs</a:t>
            </a:r>
            <a:endParaRPr lang="en-US" sz="1100" dirty="0"/>
          </a:p>
        </p:txBody>
      </p:sp>
      <p:sp>
        <p:nvSpPr>
          <p:cNvPr id="8" name="card-Spoken update"/>
          <p:cNvSpPr/>
          <p:nvPr/>
        </p:nvSpPr>
        <p:spPr>
          <a:xfrm>
            <a:off x="502920" y="1389888"/>
            <a:ext cx="2057400" cy="420624"/>
          </a:xfrm>
          <a:prstGeom prst="rect">
            <a:avLst/>
          </a:prstGeom>
          <a:solidFill>
            <a:srgbClr val="FFFFFF"/>
          </a:solidFill>
          <a:ln w="12700">
            <a:solidFill>
              <a:srgbClr val="C3CCC0"/>
            </a:solidFill>
            <a:prstDash val="solid"/>
          </a:ln>
        </p:spPr>
      </p:sp>
      <p:sp>
        <p:nvSpPr>
          <p:cNvPr id="9" name="Text 7"/>
          <p:cNvSpPr txBox="1"/>
          <p:nvPr/>
        </p:nvSpPr>
        <p:spPr>
          <a:xfrm>
            <a:off x="566928" y="1426464"/>
            <a:ext cx="1929384" cy="347472"/>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10" name="card-Typed update"/>
          <p:cNvSpPr/>
          <p:nvPr/>
        </p:nvSpPr>
        <p:spPr>
          <a:xfrm>
            <a:off x="502920" y="1883664"/>
            <a:ext cx="2057400" cy="420624"/>
          </a:xfrm>
          <a:prstGeom prst="rect">
            <a:avLst/>
          </a:prstGeom>
          <a:solidFill>
            <a:srgbClr val="FFFFFF"/>
          </a:solidFill>
          <a:ln w="12700">
            <a:solidFill>
              <a:srgbClr val="C3CCC0"/>
            </a:solidFill>
            <a:prstDash val="solid"/>
          </a:ln>
        </p:spPr>
      </p:sp>
      <p:sp>
        <p:nvSpPr>
          <p:cNvPr id="11" name="Text 9"/>
          <p:cNvSpPr txBox="1"/>
          <p:nvPr/>
        </p:nvSpPr>
        <p:spPr>
          <a:xfrm>
            <a:off x="566928" y="1920240"/>
            <a:ext cx="1929384" cy="347472"/>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12" name="card-Manager question"/>
          <p:cNvSpPr/>
          <p:nvPr/>
        </p:nvSpPr>
        <p:spPr>
          <a:xfrm>
            <a:off x="502920" y="2377440"/>
            <a:ext cx="2057400" cy="420624"/>
          </a:xfrm>
          <a:prstGeom prst="rect">
            <a:avLst/>
          </a:prstGeom>
          <a:solidFill>
            <a:srgbClr val="FFFFFF"/>
          </a:solidFill>
          <a:ln w="12700">
            <a:solidFill>
              <a:srgbClr val="C3CCC0"/>
            </a:solidFill>
            <a:prstDash val="solid"/>
          </a:ln>
        </p:spPr>
      </p:sp>
      <p:sp>
        <p:nvSpPr>
          <p:cNvPr id="13" name="Text 11"/>
          <p:cNvSpPr txBox="1"/>
          <p:nvPr/>
        </p:nvSpPr>
        <p:spPr>
          <a:xfrm>
            <a:off x="566928" y="2414016"/>
            <a:ext cx="1929384" cy="347472"/>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14" name="Shape 12"/>
          <p:cNvSpPr/>
          <p:nvPr/>
        </p:nvSpPr>
        <p:spPr>
          <a:xfrm>
            <a:off x="502920" y="2907792"/>
            <a:ext cx="2057400" cy="256032"/>
          </a:xfrm>
          <a:prstGeom prst="rect">
            <a:avLst/>
          </a:prstGeom>
          <a:solidFill>
            <a:srgbClr val="1E4035"/>
          </a:solidFill>
          <a:ln w="12700">
            <a:solidFill>
              <a:srgbClr val="1E4035"/>
            </a:solidFill>
            <a:prstDash val="solid"/>
          </a:ln>
        </p:spPr>
      </p:sp>
      <p:sp>
        <p:nvSpPr>
          <p:cNvPr id="15" name="Text 13"/>
          <p:cNvSpPr txBox="1"/>
          <p:nvPr/>
        </p:nvSpPr>
        <p:spPr>
          <a:xfrm>
            <a:off x="612648" y="2907792"/>
            <a:ext cx="1837944" cy="256032"/>
          </a:xfrm>
          <a:prstGeom prst="rect">
            <a:avLst/>
          </a:prstGeom>
          <a:noFill/>
          <a:ln/>
        </p:spPr>
        <p:txBody>
          <a:bodyPr wrap="square" lIns="0" tIns="0" rIns="0" bIns="0" rtlCol="0" anchor="ctr"/>
          <a:lstStyle/>
          <a:p>
            <a:pPr algn="l" indent="0" marL="0">
              <a:buNone/>
            </a:pPr>
            <a:r>
              <a:rPr lang="en-US" sz="1100" b="1" spc="60" kern="0" dirty="0">
                <a:solidFill>
                  <a:srgbClr val="FFFFFF"/>
                </a:solidFill>
              </a:rPr>
              <a:t>Corpora</a:t>
            </a:r>
            <a:endParaRPr lang="en-US" sz="1100" dirty="0"/>
          </a:p>
        </p:txBody>
      </p:sp>
      <p:sp>
        <p:nvSpPr>
          <p:cNvPr id="16" name="card-Repair orders · 40"/>
          <p:cNvSpPr/>
          <p:nvPr/>
        </p:nvSpPr>
        <p:spPr>
          <a:xfrm>
            <a:off x="502920" y="3236976"/>
            <a:ext cx="2057400" cy="402336"/>
          </a:xfrm>
          <a:prstGeom prst="rect">
            <a:avLst/>
          </a:prstGeom>
          <a:solidFill>
            <a:srgbClr val="FFFFFF"/>
          </a:solidFill>
          <a:ln w="12700">
            <a:solidFill>
              <a:srgbClr val="C3CCC0"/>
            </a:solidFill>
            <a:prstDash val="solid"/>
          </a:ln>
        </p:spPr>
      </p:sp>
      <p:sp>
        <p:nvSpPr>
          <p:cNvPr id="17" name="Text 15"/>
          <p:cNvSpPr txBox="1"/>
          <p:nvPr/>
        </p:nvSpPr>
        <p:spPr>
          <a:xfrm>
            <a:off x="566928" y="3273552"/>
            <a:ext cx="1929384" cy="32918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18" name="card-Shift updates · 1,"/>
          <p:cNvSpPr/>
          <p:nvPr/>
        </p:nvSpPr>
        <p:spPr>
          <a:xfrm>
            <a:off x="502920" y="3703320"/>
            <a:ext cx="2057400" cy="402336"/>
          </a:xfrm>
          <a:prstGeom prst="rect">
            <a:avLst/>
          </a:prstGeom>
          <a:solidFill>
            <a:srgbClr val="FFFFFF"/>
          </a:solidFill>
          <a:ln w="12700">
            <a:solidFill>
              <a:srgbClr val="C3CCC0"/>
            </a:solidFill>
            <a:prstDash val="solid"/>
          </a:ln>
        </p:spPr>
      </p:sp>
      <p:sp>
        <p:nvSpPr>
          <p:cNvPr id="19" name="Text 17"/>
          <p:cNvSpPr txBox="1"/>
          <p:nvPr/>
        </p:nvSpPr>
        <p:spPr>
          <a:xfrm>
            <a:off x="566928" y="3739896"/>
            <a:ext cx="1929384" cy="32918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20" name="card-Labour operations "/>
          <p:cNvSpPr/>
          <p:nvPr/>
        </p:nvSpPr>
        <p:spPr>
          <a:xfrm>
            <a:off x="502920" y="4169664"/>
            <a:ext cx="2057400" cy="402336"/>
          </a:xfrm>
          <a:prstGeom prst="rect">
            <a:avLst/>
          </a:prstGeom>
          <a:solidFill>
            <a:srgbClr val="FFFFFF"/>
          </a:solidFill>
          <a:ln w="12700">
            <a:solidFill>
              <a:srgbClr val="C3CCC0"/>
            </a:solidFill>
            <a:prstDash val="solid"/>
          </a:ln>
        </p:spPr>
      </p:sp>
      <p:sp>
        <p:nvSpPr>
          <p:cNvPr id="21" name="Text 19"/>
          <p:cNvSpPr txBox="1"/>
          <p:nvPr/>
        </p:nvSpPr>
        <p:spPr>
          <a:xfrm>
            <a:off x="566928" y="4206240"/>
            <a:ext cx="1929384" cy="32918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operations · 104</a:t>
            </a:r>
            <a:endParaRPr lang="en-US" sz="1100" dirty="0"/>
          </a:p>
        </p:txBody>
      </p:sp>
      <p:sp>
        <p:nvSpPr>
          <p:cNvPr id="22" name="card-Staff · 50"/>
          <p:cNvSpPr/>
          <p:nvPr/>
        </p:nvSpPr>
        <p:spPr>
          <a:xfrm>
            <a:off x="502920" y="4636008"/>
            <a:ext cx="2057400" cy="402336"/>
          </a:xfrm>
          <a:prstGeom prst="rect">
            <a:avLst/>
          </a:prstGeom>
          <a:solidFill>
            <a:srgbClr val="FFFFFF"/>
          </a:solidFill>
          <a:ln w="12700">
            <a:solidFill>
              <a:srgbClr val="C3CCC0"/>
            </a:solidFill>
            <a:prstDash val="solid"/>
          </a:ln>
        </p:spPr>
      </p:sp>
      <p:sp>
        <p:nvSpPr>
          <p:cNvPr id="23" name="Text 21"/>
          <p:cNvSpPr txBox="1"/>
          <p:nvPr/>
        </p:nvSpPr>
        <p:spPr>
          <a:xfrm>
            <a:off x="566928" y="4672584"/>
            <a:ext cx="1929384" cy="32918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24" name="Shape 22"/>
          <p:cNvSpPr/>
          <p:nvPr/>
        </p:nvSpPr>
        <p:spPr>
          <a:xfrm>
            <a:off x="2788920" y="1389888"/>
            <a:ext cx="6355080" cy="219456"/>
          </a:xfrm>
          <a:prstGeom prst="rect">
            <a:avLst/>
          </a:prstGeom>
          <a:solidFill>
            <a:srgbClr val="1E4035"/>
          </a:solidFill>
          <a:ln w="12700">
            <a:solidFill>
              <a:srgbClr val="1E4035"/>
            </a:solidFill>
            <a:prstDash val="solid"/>
          </a:ln>
        </p:spPr>
      </p:sp>
      <p:sp>
        <p:nvSpPr>
          <p:cNvPr id="25" name="Text 23"/>
          <p:cNvSpPr txBox="1"/>
          <p:nvPr/>
        </p:nvSpPr>
        <p:spPr>
          <a:xfrm>
            <a:off x="2898648" y="1389888"/>
            <a:ext cx="6135624" cy="219456"/>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26" name="lane-Riva ASR"/>
          <p:cNvSpPr/>
          <p:nvPr/>
        </p:nvSpPr>
        <p:spPr>
          <a:xfrm>
            <a:off x="2788920" y="1645920"/>
            <a:ext cx="1533906" cy="402336"/>
          </a:xfrm>
          <a:prstGeom prst="rect">
            <a:avLst/>
          </a:prstGeom>
          <a:solidFill>
            <a:srgbClr val="5B8C3A"/>
          </a:solidFill>
          <a:ln w="19050">
            <a:solidFill>
              <a:srgbClr val="446B29"/>
            </a:solidFill>
            <a:prstDash val="solid"/>
          </a:ln>
        </p:spPr>
      </p:sp>
      <p:sp>
        <p:nvSpPr>
          <p:cNvPr id="27" name="Text 25"/>
          <p:cNvSpPr txBox="1"/>
          <p:nvPr/>
        </p:nvSpPr>
        <p:spPr>
          <a:xfrm>
            <a:off x="2843784" y="1645920"/>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28" name="lane-Nemotron 8B"/>
          <p:cNvSpPr/>
          <p:nvPr/>
        </p:nvSpPr>
        <p:spPr>
          <a:xfrm>
            <a:off x="4395978" y="1645920"/>
            <a:ext cx="1533906" cy="402336"/>
          </a:xfrm>
          <a:prstGeom prst="rect">
            <a:avLst/>
          </a:prstGeom>
          <a:solidFill>
            <a:srgbClr val="5B8C3A"/>
          </a:solidFill>
          <a:ln w="19050">
            <a:solidFill>
              <a:srgbClr val="446B29"/>
            </a:solidFill>
            <a:prstDash val="solid"/>
          </a:ln>
        </p:spPr>
      </p:sp>
      <p:sp>
        <p:nvSpPr>
          <p:cNvPr id="29" name="Text 27"/>
          <p:cNvSpPr txBox="1"/>
          <p:nvPr/>
        </p:nvSpPr>
        <p:spPr>
          <a:xfrm>
            <a:off x="4450842" y="1645920"/>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30" name="lane-Entity resolver"/>
          <p:cNvSpPr/>
          <p:nvPr/>
        </p:nvSpPr>
        <p:spPr>
          <a:xfrm>
            <a:off x="6003036" y="1645920"/>
            <a:ext cx="1533906" cy="402336"/>
          </a:xfrm>
          <a:prstGeom prst="rect">
            <a:avLst/>
          </a:prstGeom>
          <a:solidFill>
            <a:srgbClr val="FFFFFF"/>
          </a:solidFill>
          <a:ln w="12700">
            <a:solidFill>
              <a:srgbClr val="C3CCC0"/>
            </a:solidFill>
            <a:prstDash val="solid"/>
          </a:ln>
        </p:spPr>
      </p:sp>
      <p:sp>
        <p:nvSpPr>
          <p:cNvPr id="31" name="Text 29"/>
          <p:cNvSpPr txBox="1"/>
          <p:nvPr/>
        </p:nvSpPr>
        <p:spPr>
          <a:xfrm>
            <a:off x="6057900" y="1645920"/>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32" name="lane-Reconciler"/>
          <p:cNvSpPr/>
          <p:nvPr/>
        </p:nvSpPr>
        <p:spPr>
          <a:xfrm>
            <a:off x="7610094" y="1645920"/>
            <a:ext cx="1533906" cy="402336"/>
          </a:xfrm>
          <a:prstGeom prst="rect">
            <a:avLst/>
          </a:prstGeom>
          <a:solidFill>
            <a:srgbClr val="FFFFFF"/>
          </a:solidFill>
          <a:ln w="12700">
            <a:solidFill>
              <a:srgbClr val="C3CCC0"/>
            </a:solidFill>
            <a:prstDash val="solid"/>
          </a:ln>
        </p:spPr>
      </p:sp>
      <p:sp>
        <p:nvSpPr>
          <p:cNvPr id="33" name="Text 31"/>
          <p:cNvSpPr txBox="1"/>
          <p:nvPr/>
        </p:nvSpPr>
        <p:spPr>
          <a:xfrm>
            <a:off x="7664958" y="1645920"/>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34" name="Shape 32"/>
          <p:cNvSpPr/>
          <p:nvPr/>
        </p:nvSpPr>
        <p:spPr>
          <a:xfrm>
            <a:off x="2788920" y="2066544"/>
            <a:ext cx="6355080" cy="219456"/>
          </a:xfrm>
          <a:prstGeom prst="rect">
            <a:avLst/>
          </a:prstGeom>
          <a:solidFill>
            <a:srgbClr val="1E4035"/>
          </a:solidFill>
          <a:ln w="12700">
            <a:solidFill>
              <a:srgbClr val="1E4035"/>
            </a:solidFill>
            <a:prstDash val="solid"/>
          </a:ln>
        </p:spPr>
      </p:sp>
      <p:sp>
        <p:nvSpPr>
          <p:cNvPr id="35" name="Text 33"/>
          <p:cNvSpPr txBox="1"/>
          <p:nvPr/>
        </p:nvSpPr>
        <p:spPr>
          <a:xfrm>
            <a:off x="2898648" y="2066544"/>
            <a:ext cx="6135624" cy="219456"/>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36" name="lane-Event log"/>
          <p:cNvSpPr/>
          <p:nvPr/>
        </p:nvSpPr>
        <p:spPr>
          <a:xfrm>
            <a:off x="2788920" y="2322576"/>
            <a:ext cx="1533906" cy="402336"/>
          </a:xfrm>
          <a:prstGeom prst="rect">
            <a:avLst/>
          </a:prstGeom>
          <a:solidFill>
            <a:srgbClr val="FFFFFF"/>
          </a:solidFill>
          <a:ln w="12700">
            <a:solidFill>
              <a:srgbClr val="C3CCC0"/>
            </a:solidFill>
            <a:prstDash val="solid"/>
          </a:ln>
        </p:spPr>
      </p:sp>
      <p:sp>
        <p:nvSpPr>
          <p:cNvPr id="37" name="Text 35"/>
          <p:cNvSpPr txBox="1"/>
          <p:nvPr/>
        </p:nvSpPr>
        <p:spPr>
          <a:xfrm>
            <a:off x="2843784" y="2322576"/>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38" name="lane-Fold engine"/>
          <p:cNvSpPr/>
          <p:nvPr/>
        </p:nvSpPr>
        <p:spPr>
          <a:xfrm>
            <a:off x="4395978" y="2322576"/>
            <a:ext cx="1533906" cy="402336"/>
          </a:xfrm>
          <a:prstGeom prst="rect">
            <a:avLst/>
          </a:prstGeom>
          <a:solidFill>
            <a:srgbClr val="FFFFFF"/>
          </a:solidFill>
          <a:ln w="12700">
            <a:solidFill>
              <a:srgbClr val="C3CCC0"/>
            </a:solidFill>
            <a:prstDash val="solid"/>
          </a:ln>
        </p:spPr>
      </p:sp>
      <p:sp>
        <p:nvSpPr>
          <p:cNvPr id="39" name="Text 37"/>
          <p:cNvSpPr txBox="1"/>
          <p:nvPr/>
        </p:nvSpPr>
        <p:spPr>
          <a:xfrm>
            <a:off x="4450842" y="2322576"/>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40" name="lane-Lifecycle gate"/>
          <p:cNvSpPr/>
          <p:nvPr/>
        </p:nvSpPr>
        <p:spPr>
          <a:xfrm>
            <a:off x="6003036" y="2322576"/>
            <a:ext cx="1533906" cy="402336"/>
          </a:xfrm>
          <a:prstGeom prst="rect">
            <a:avLst/>
          </a:prstGeom>
          <a:solidFill>
            <a:srgbClr val="FFFFFF"/>
          </a:solidFill>
          <a:ln w="12700">
            <a:solidFill>
              <a:srgbClr val="C3CCC0"/>
            </a:solidFill>
            <a:prstDash val="solid"/>
          </a:ln>
        </p:spPr>
      </p:sp>
      <p:sp>
        <p:nvSpPr>
          <p:cNvPr id="41" name="Text 39"/>
          <p:cNvSpPr txBox="1"/>
          <p:nvPr/>
        </p:nvSpPr>
        <p:spPr>
          <a:xfrm>
            <a:off x="6057900" y="2322576"/>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42" name="lane-Diff card"/>
          <p:cNvSpPr/>
          <p:nvPr/>
        </p:nvSpPr>
        <p:spPr>
          <a:xfrm>
            <a:off x="7610094" y="2322576"/>
            <a:ext cx="1533906" cy="402336"/>
          </a:xfrm>
          <a:prstGeom prst="rect">
            <a:avLst/>
          </a:prstGeom>
          <a:solidFill>
            <a:srgbClr val="FFFFFF"/>
          </a:solidFill>
          <a:ln w="12700">
            <a:solidFill>
              <a:srgbClr val="C3CCC0"/>
            </a:solidFill>
            <a:prstDash val="solid"/>
          </a:ln>
        </p:spPr>
      </p:sp>
      <p:sp>
        <p:nvSpPr>
          <p:cNvPr id="43" name="Text 41"/>
          <p:cNvSpPr txBox="1"/>
          <p:nvPr/>
        </p:nvSpPr>
        <p:spPr>
          <a:xfrm>
            <a:off x="7664958" y="2322576"/>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44" name="Shape 42"/>
          <p:cNvSpPr/>
          <p:nvPr/>
        </p:nvSpPr>
        <p:spPr>
          <a:xfrm>
            <a:off x="2788920" y="2743200"/>
            <a:ext cx="6355080" cy="219456"/>
          </a:xfrm>
          <a:prstGeom prst="rect">
            <a:avLst/>
          </a:prstGeom>
          <a:solidFill>
            <a:srgbClr val="1E4035"/>
          </a:solidFill>
          <a:ln w="12700">
            <a:solidFill>
              <a:srgbClr val="1E4035"/>
            </a:solidFill>
            <a:prstDash val="solid"/>
          </a:ln>
        </p:spPr>
      </p:sp>
      <p:sp>
        <p:nvSpPr>
          <p:cNvPr id="45" name="Text 43"/>
          <p:cNvSpPr txBox="1"/>
          <p:nvPr/>
        </p:nvSpPr>
        <p:spPr>
          <a:xfrm>
            <a:off x="2898648" y="2743200"/>
            <a:ext cx="6135624" cy="219456"/>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46" name="lane-NeMo Curator"/>
          <p:cNvSpPr/>
          <p:nvPr/>
        </p:nvSpPr>
        <p:spPr>
          <a:xfrm>
            <a:off x="2788920" y="2999232"/>
            <a:ext cx="1533906" cy="402336"/>
          </a:xfrm>
          <a:prstGeom prst="rect">
            <a:avLst/>
          </a:prstGeom>
          <a:solidFill>
            <a:srgbClr val="FFFFFF"/>
          </a:solidFill>
          <a:ln w="22225">
            <a:solidFill>
              <a:srgbClr val="76B900"/>
            </a:solidFill>
            <a:prstDash val="solid"/>
          </a:ln>
        </p:spPr>
      </p:sp>
      <p:sp>
        <p:nvSpPr>
          <p:cNvPr id="47" name="Text 45"/>
          <p:cNvSpPr txBox="1"/>
          <p:nvPr/>
        </p:nvSpPr>
        <p:spPr>
          <a:xfrm>
            <a:off x="2843784" y="2999232"/>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48" name="lane-NV-EmbedQA E5"/>
          <p:cNvSpPr/>
          <p:nvPr/>
        </p:nvSpPr>
        <p:spPr>
          <a:xfrm>
            <a:off x="4395978" y="2999232"/>
            <a:ext cx="1533906" cy="402336"/>
          </a:xfrm>
          <a:prstGeom prst="rect">
            <a:avLst/>
          </a:prstGeom>
          <a:solidFill>
            <a:srgbClr val="5B8C3A"/>
          </a:solidFill>
          <a:ln w="19050">
            <a:solidFill>
              <a:srgbClr val="446B29"/>
            </a:solidFill>
            <a:prstDash val="solid"/>
          </a:ln>
        </p:spPr>
      </p:sp>
      <p:sp>
        <p:nvSpPr>
          <p:cNvPr id="49" name="Text 47"/>
          <p:cNvSpPr txBox="1"/>
          <p:nvPr/>
        </p:nvSpPr>
        <p:spPr>
          <a:xfrm>
            <a:off x="4450842" y="2999232"/>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50" name="lane-Milvus upsert"/>
          <p:cNvSpPr/>
          <p:nvPr/>
        </p:nvSpPr>
        <p:spPr>
          <a:xfrm>
            <a:off x="6003036" y="2999232"/>
            <a:ext cx="1533906" cy="402336"/>
          </a:xfrm>
          <a:prstGeom prst="rect">
            <a:avLst/>
          </a:prstGeom>
          <a:solidFill>
            <a:srgbClr val="FFFFFF"/>
          </a:solidFill>
          <a:ln w="12700">
            <a:solidFill>
              <a:srgbClr val="C3CCC0"/>
            </a:solidFill>
            <a:prstDash val="solid"/>
          </a:ln>
        </p:spPr>
      </p:sp>
      <p:sp>
        <p:nvSpPr>
          <p:cNvPr id="51" name="Text 49"/>
          <p:cNvSpPr txBox="1"/>
          <p:nvPr/>
        </p:nvSpPr>
        <p:spPr>
          <a:xfrm>
            <a:off x="6057900" y="2999232"/>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52" name="lane-Index audit"/>
          <p:cNvSpPr/>
          <p:nvPr/>
        </p:nvSpPr>
        <p:spPr>
          <a:xfrm>
            <a:off x="7610094" y="2999232"/>
            <a:ext cx="1533906" cy="402336"/>
          </a:xfrm>
          <a:prstGeom prst="rect">
            <a:avLst/>
          </a:prstGeom>
          <a:solidFill>
            <a:srgbClr val="FFFFFF"/>
          </a:solidFill>
          <a:ln w="12700">
            <a:solidFill>
              <a:srgbClr val="C3CCC0"/>
            </a:solidFill>
            <a:prstDash val="solid"/>
          </a:ln>
        </p:spPr>
      </p:sp>
      <p:sp>
        <p:nvSpPr>
          <p:cNvPr id="53" name="Text 51"/>
          <p:cNvSpPr txBox="1"/>
          <p:nvPr/>
        </p:nvSpPr>
        <p:spPr>
          <a:xfrm>
            <a:off x="7664958" y="2999232"/>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54" name="Shape 52"/>
          <p:cNvSpPr/>
          <p:nvPr/>
        </p:nvSpPr>
        <p:spPr>
          <a:xfrm>
            <a:off x="2788920" y="3419856"/>
            <a:ext cx="6355080" cy="219456"/>
          </a:xfrm>
          <a:prstGeom prst="rect">
            <a:avLst/>
          </a:prstGeom>
          <a:solidFill>
            <a:srgbClr val="1E4035"/>
          </a:solidFill>
          <a:ln w="12700">
            <a:solidFill>
              <a:srgbClr val="1E4035"/>
            </a:solidFill>
            <a:prstDash val="solid"/>
          </a:ln>
        </p:spPr>
      </p:sp>
      <p:sp>
        <p:nvSpPr>
          <p:cNvPr id="55" name="Text 53"/>
          <p:cNvSpPr txBox="1"/>
          <p:nvPr/>
        </p:nvSpPr>
        <p:spPr>
          <a:xfrm>
            <a:off x="2898648" y="3419856"/>
            <a:ext cx="6135624" cy="219456"/>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56" name="lane-Vector search"/>
          <p:cNvSpPr/>
          <p:nvPr/>
        </p:nvSpPr>
        <p:spPr>
          <a:xfrm>
            <a:off x="2788920" y="3675888"/>
            <a:ext cx="1533906" cy="402336"/>
          </a:xfrm>
          <a:prstGeom prst="rect">
            <a:avLst/>
          </a:prstGeom>
          <a:solidFill>
            <a:srgbClr val="FFFFFF"/>
          </a:solidFill>
          <a:ln w="12700">
            <a:solidFill>
              <a:srgbClr val="C3CCC0"/>
            </a:solidFill>
            <a:prstDash val="solid"/>
          </a:ln>
        </p:spPr>
      </p:sp>
      <p:sp>
        <p:nvSpPr>
          <p:cNvPr id="57" name="Text 55"/>
          <p:cNvSpPr txBox="1"/>
          <p:nvPr/>
        </p:nvSpPr>
        <p:spPr>
          <a:xfrm>
            <a:off x="2843784" y="3675888"/>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58" name="lane-NV-RerankQA 4B"/>
          <p:cNvSpPr/>
          <p:nvPr/>
        </p:nvSpPr>
        <p:spPr>
          <a:xfrm>
            <a:off x="4395978" y="3675888"/>
            <a:ext cx="1533906" cy="402336"/>
          </a:xfrm>
          <a:prstGeom prst="rect">
            <a:avLst/>
          </a:prstGeom>
          <a:solidFill>
            <a:srgbClr val="5B8C3A"/>
          </a:solidFill>
          <a:ln w="19050">
            <a:solidFill>
              <a:srgbClr val="446B29"/>
            </a:solidFill>
            <a:prstDash val="solid"/>
          </a:ln>
        </p:spPr>
      </p:sp>
      <p:sp>
        <p:nvSpPr>
          <p:cNvPr id="59" name="Text 57"/>
          <p:cNvSpPr txBox="1"/>
          <p:nvPr/>
        </p:nvSpPr>
        <p:spPr>
          <a:xfrm>
            <a:off x="4450842" y="3675888"/>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60" name="lane-Context assembly"/>
          <p:cNvSpPr/>
          <p:nvPr/>
        </p:nvSpPr>
        <p:spPr>
          <a:xfrm>
            <a:off x="6003036" y="3675888"/>
            <a:ext cx="1533906" cy="402336"/>
          </a:xfrm>
          <a:prstGeom prst="rect">
            <a:avLst/>
          </a:prstGeom>
          <a:solidFill>
            <a:srgbClr val="FFFFFF"/>
          </a:solidFill>
          <a:ln w="12700">
            <a:solidFill>
              <a:srgbClr val="C3CCC0"/>
            </a:solidFill>
            <a:prstDash val="solid"/>
          </a:ln>
        </p:spPr>
      </p:sp>
      <p:sp>
        <p:nvSpPr>
          <p:cNvPr id="61" name="Text 59"/>
          <p:cNvSpPr txBox="1"/>
          <p:nvPr/>
        </p:nvSpPr>
        <p:spPr>
          <a:xfrm>
            <a:off x="6057900" y="3675888"/>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62" name="lane-Citations"/>
          <p:cNvSpPr/>
          <p:nvPr/>
        </p:nvSpPr>
        <p:spPr>
          <a:xfrm>
            <a:off x="7610094" y="3675888"/>
            <a:ext cx="1533906" cy="402336"/>
          </a:xfrm>
          <a:prstGeom prst="rect">
            <a:avLst/>
          </a:prstGeom>
          <a:solidFill>
            <a:srgbClr val="FFFFFF"/>
          </a:solidFill>
          <a:ln w="12700">
            <a:solidFill>
              <a:srgbClr val="C3CCC0"/>
            </a:solidFill>
            <a:prstDash val="solid"/>
          </a:ln>
        </p:spPr>
      </p:sp>
      <p:sp>
        <p:nvSpPr>
          <p:cNvPr id="63" name="Text 61"/>
          <p:cNvSpPr txBox="1"/>
          <p:nvPr/>
        </p:nvSpPr>
        <p:spPr>
          <a:xfrm>
            <a:off x="7664958" y="3675888"/>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64" name="Shape 62"/>
          <p:cNvSpPr/>
          <p:nvPr/>
        </p:nvSpPr>
        <p:spPr>
          <a:xfrm>
            <a:off x="2788920" y="4096512"/>
            <a:ext cx="6355080" cy="219456"/>
          </a:xfrm>
          <a:prstGeom prst="rect">
            <a:avLst/>
          </a:prstGeom>
          <a:solidFill>
            <a:srgbClr val="1E4035"/>
          </a:solidFill>
          <a:ln w="12700">
            <a:solidFill>
              <a:srgbClr val="1E4035"/>
            </a:solidFill>
            <a:prstDash val="solid"/>
          </a:ln>
        </p:spPr>
      </p:sp>
      <p:sp>
        <p:nvSpPr>
          <p:cNvPr id="65" name="Text 63"/>
          <p:cNvSpPr txBox="1"/>
          <p:nvPr/>
        </p:nvSpPr>
        <p:spPr>
          <a:xfrm>
            <a:off x="2898648" y="4096512"/>
            <a:ext cx="6135624" cy="219456"/>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66" name="lane-Query planner"/>
          <p:cNvSpPr/>
          <p:nvPr/>
        </p:nvSpPr>
        <p:spPr>
          <a:xfrm>
            <a:off x="2788920" y="4352544"/>
            <a:ext cx="1533906" cy="402336"/>
          </a:xfrm>
          <a:prstGeom prst="rect">
            <a:avLst/>
          </a:prstGeom>
          <a:solidFill>
            <a:srgbClr val="FFFFFF"/>
          </a:solidFill>
          <a:ln w="12700">
            <a:solidFill>
              <a:srgbClr val="C3CCC0"/>
            </a:solidFill>
            <a:prstDash val="solid"/>
          </a:ln>
        </p:spPr>
      </p:sp>
      <p:sp>
        <p:nvSpPr>
          <p:cNvPr id="67" name="Text 65"/>
          <p:cNvSpPr txBox="1"/>
          <p:nvPr/>
        </p:nvSpPr>
        <p:spPr>
          <a:xfrm>
            <a:off x="2843784" y="4352544"/>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68" name="lane-Switchyard"/>
          <p:cNvSpPr/>
          <p:nvPr/>
        </p:nvSpPr>
        <p:spPr>
          <a:xfrm>
            <a:off x="4395978" y="4352544"/>
            <a:ext cx="1533906" cy="402336"/>
          </a:xfrm>
          <a:prstGeom prst="rect">
            <a:avLst/>
          </a:prstGeom>
          <a:solidFill>
            <a:srgbClr val="FFFFFF"/>
          </a:solidFill>
          <a:ln w="22225">
            <a:solidFill>
              <a:srgbClr val="76B900"/>
            </a:solidFill>
            <a:prstDash val="solid"/>
          </a:ln>
        </p:spPr>
      </p:sp>
      <p:sp>
        <p:nvSpPr>
          <p:cNvPr id="69" name="Text 67"/>
          <p:cNvSpPr txBox="1"/>
          <p:nvPr/>
        </p:nvSpPr>
        <p:spPr>
          <a:xfrm>
            <a:off x="4450842" y="4352544"/>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70" name="lane-10 typed tools"/>
          <p:cNvSpPr/>
          <p:nvPr/>
        </p:nvSpPr>
        <p:spPr>
          <a:xfrm>
            <a:off x="6003036" y="4352544"/>
            <a:ext cx="1533906" cy="402336"/>
          </a:xfrm>
          <a:prstGeom prst="rect">
            <a:avLst/>
          </a:prstGeom>
          <a:solidFill>
            <a:srgbClr val="FFFFFF"/>
          </a:solidFill>
          <a:ln w="12700">
            <a:solidFill>
              <a:srgbClr val="C3CCC0"/>
            </a:solidFill>
            <a:prstDash val="solid"/>
          </a:ln>
        </p:spPr>
      </p:sp>
      <p:sp>
        <p:nvSpPr>
          <p:cNvPr id="71" name="Text 69"/>
          <p:cNvSpPr txBox="1"/>
          <p:nvPr/>
        </p:nvSpPr>
        <p:spPr>
          <a:xfrm>
            <a:off x="6057900" y="4352544"/>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10 typed tools</a:t>
            </a:r>
            <a:endParaRPr lang="en-US" sz="1100" dirty="0"/>
          </a:p>
        </p:txBody>
      </p:sp>
      <p:sp>
        <p:nvSpPr>
          <p:cNvPr id="72" name="lane-Narration"/>
          <p:cNvSpPr/>
          <p:nvPr/>
        </p:nvSpPr>
        <p:spPr>
          <a:xfrm>
            <a:off x="7610094" y="4352544"/>
            <a:ext cx="1533906" cy="402336"/>
          </a:xfrm>
          <a:prstGeom prst="rect">
            <a:avLst/>
          </a:prstGeom>
          <a:solidFill>
            <a:srgbClr val="5B8C3A"/>
          </a:solidFill>
          <a:ln w="19050">
            <a:solidFill>
              <a:srgbClr val="446B29"/>
            </a:solidFill>
            <a:prstDash val="solid"/>
          </a:ln>
        </p:spPr>
      </p:sp>
      <p:sp>
        <p:nvSpPr>
          <p:cNvPr id="73" name="Text 71"/>
          <p:cNvSpPr txBox="1"/>
          <p:nvPr/>
        </p:nvSpPr>
        <p:spPr>
          <a:xfrm>
            <a:off x="7664958" y="4352544"/>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74" name="Shape 72"/>
          <p:cNvSpPr/>
          <p:nvPr/>
        </p:nvSpPr>
        <p:spPr>
          <a:xfrm>
            <a:off x="2788920" y="4773168"/>
            <a:ext cx="6355080" cy="219456"/>
          </a:xfrm>
          <a:prstGeom prst="rect">
            <a:avLst/>
          </a:prstGeom>
          <a:solidFill>
            <a:srgbClr val="1E4035"/>
          </a:solidFill>
          <a:ln w="12700">
            <a:solidFill>
              <a:srgbClr val="1E4035"/>
            </a:solidFill>
            <a:prstDash val="solid"/>
          </a:ln>
        </p:spPr>
      </p:sp>
      <p:sp>
        <p:nvSpPr>
          <p:cNvPr id="75" name="Text 73"/>
          <p:cNvSpPr txBox="1"/>
          <p:nvPr/>
        </p:nvSpPr>
        <p:spPr>
          <a:xfrm>
            <a:off x="2898648" y="4773168"/>
            <a:ext cx="6135624" cy="219456"/>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76" name="lane-NeMo Guardrails"/>
          <p:cNvSpPr/>
          <p:nvPr/>
        </p:nvSpPr>
        <p:spPr>
          <a:xfrm>
            <a:off x="2788920" y="5029200"/>
            <a:ext cx="1533906" cy="402336"/>
          </a:xfrm>
          <a:prstGeom prst="rect">
            <a:avLst/>
          </a:prstGeom>
          <a:solidFill>
            <a:srgbClr val="FFFFFF"/>
          </a:solidFill>
          <a:ln w="22225">
            <a:solidFill>
              <a:srgbClr val="76B900"/>
            </a:solidFill>
            <a:prstDash val="solid"/>
          </a:ln>
        </p:spPr>
      </p:sp>
      <p:sp>
        <p:nvSpPr>
          <p:cNvPr id="77" name="Text 75"/>
          <p:cNvSpPr txBox="1"/>
          <p:nvPr/>
        </p:nvSpPr>
        <p:spPr>
          <a:xfrm>
            <a:off x="2843784" y="5029200"/>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78" name="lane-Injection rail"/>
          <p:cNvSpPr/>
          <p:nvPr/>
        </p:nvSpPr>
        <p:spPr>
          <a:xfrm>
            <a:off x="4395978" y="5029200"/>
            <a:ext cx="1533906" cy="402336"/>
          </a:xfrm>
          <a:prstGeom prst="rect">
            <a:avLst/>
          </a:prstGeom>
          <a:solidFill>
            <a:srgbClr val="FFFFFF"/>
          </a:solidFill>
          <a:ln w="12700">
            <a:solidFill>
              <a:srgbClr val="C3CCC0"/>
            </a:solidFill>
            <a:prstDash val="solid"/>
          </a:ln>
        </p:spPr>
      </p:sp>
      <p:sp>
        <p:nvSpPr>
          <p:cNvPr id="79" name="Text 77"/>
          <p:cNvSpPr txBox="1"/>
          <p:nvPr/>
        </p:nvSpPr>
        <p:spPr>
          <a:xfrm>
            <a:off x="4450842" y="5029200"/>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80" name="lane-Grounding rail"/>
          <p:cNvSpPr/>
          <p:nvPr/>
        </p:nvSpPr>
        <p:spPr>
          <a:xfrm>
            <a:off x="6003036" y="5029200"/>
            <a:ext cx="1533906" cy="402336"/>
          </a:xfrm>
          <a:prstGeom prst="rect">
            <a:avLst/>
          </a:prstGeom>
          <a:solidFill>
            <a:srgbClr val="FFFFFF"/>
          </a:solidFill>
          <a:ln w="12700">
            <a:solidFill>
              <a:srgbClr val="C3CCC0"/>
            </a:solidFill>
            <a:prstDash val="solid"/>
          </a:ln>
        </p:spPr>
      </p:sp>
      <p:sp>
        <p:nvSpPr>
          <p:cNvPr id="81" name="Text 79"/>
          <p:cNvSpPr txBox="1"/>
          <p:nvPr/>
        </p:nvSpPr>
        <p:spPr>
          <a:xfrm>
            <a:off x="6057900" y="5029200"/>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82" name="lane-Release claim"/>
          <p:cNvSpPr/>
          <p:nvPr/>
        </p:nvSpPr>
        <p:spPr>
          <a:xfrm>
            <a:off x="7610094" y="5029200"/>
            <a:ext cx="1533906" cy="402336"/>
          </a:xfrm>
          <a:prstGeom prst="rect">
            <a:avLst/>
          </a:prstGeom>
          <a:solidFill>
            <a:srgbClr val="FFFFFF"/>
          </a:solidFill>
          <a:ln w="12700">
            <a:solidFill>
              <a:srgbClr val="C3CCC0"/>
            </a:solidFill>
            <a:prstDash val="solid"/>
          </a:ln>
        </p:spPr>
      </p:sp>
      <p:sp>
        <p:nvSpPr>
          <p:cNvPr id="83" name="Text 81"/>
          <p:cNvSpPr txBox="1"/>
          <p:nvPr/>
        </p:nvSpPr>
        <p:spPr>
          <a:xfrm>
            <a:off x="7664958" y="5029200"/>
            <a:ext cx="1424178" cy="40233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84" name="Shape 82"/>
          <p:cNvSpPr/>
          <p:nvPr/>
        </p:nvSpPr>
        <p:spPr>
          <a:xfrm>
            <a:off x="9418320" y="1060704"/>
            <a:ext cx="2270455" cy="256032"/>
          </a:xfrm>
          <a:prstGeom prst="rect">
            <a:avLst/>
          </a:prstGeom>
          <a:solidFill>
            <a:srgbClr val="1E4035"/>
          </a:solidFill>
          <a:ln w="12700">
            <a:solidFill>
              <a:srgbClr val="1E4035"/>
            </a:solidFill>
            <a:prstDash val="solid"/>
          </a:ln>
        </p:spPr>
      </p:sp>
      <p:sp>
        <p:nvSpPr>
          <p:cNvPr id="85" name="Text 83"/>
          <p:cNvSpPr txBox="1"/>
          <p:nvPr/>
        </p:nvSpPr>
        <p:spPr>
          <a:xfrm>
            <a:off x="9528048" y="1060704"/>
            <a:ext cx="2050999" cy="256032"/>
          </a:xfrm>
          <a:prstGeom prst="rect">
            <a:avLst/>
          </a:prstGeom>
          <a:noFill/>
          <a:ln/>
        </p:spPr>
        <p:txBody>
          <a:bodyPr wrap="square" lIns="0" tIns="0" rIns="0" bIns="0" rtlCol="0" anchor="ctr"/>
          <a:lstStyle/>
          <a:p>
            <a:pPr algn="l" indent="0" marL="0">
              <a:buNone/>
            </a:pPr>
            <a:r>
              <a:rPr lang="en-US" sz="1100" b="1" spc="60" kern="0" dirty="0">
                <a:solidFill>
                  <a:srgbClr val="FFFFFF"/>
                </a:solidFill>
              </a:rPr>
              <a:t>Experience</a:t>
            </a:r>
            <a:endParaRPr lang="en-US" sz="1100" dirty="0"/>
          </a:p>
        </p:txBody>
      </p:sp>
      <p:sp>
        <p:nvSpPr>
          <p:cNvPr id="86" name="card-Operations console"/>
          <p:cNvSpPr/>
          <p:nvPr/>
        </p:nvSpPr>
        <p:spPr>
          <a:xfrm>
            <a:off x="9418320" y="1389888"/>
            <a:ext cx="2270455" cy="420624"/>
          </a:xfrm>
          <a:prstGeom prst="rect">
            <a:avLst/>
          </a:prstGeom>
          <a:solidFill>
            <a:srgbClr val="FFFFFF"/>
          </a:solidFill>
          <a:ln w="12700">
            <a:solidFill>
              <a:srgbClr val="C3CCC0"/>
            </a:solidFill>
            <a:prstDash val="solid"/>
          </a:ln>
        </p:spPr>
      </p:sp>
      <p:sp>
        <p:nvSpPr>
          <p:cNvPr id="87" name="Text 85"/>
          <p:cNvSpPr txBox="1"/>
          <p:nvPr/>
        </p:nvSpPr>
        <p:spPr>
          <a:xfrm>
            <a:off x="9482328" y="1426464"/>
            <a:ext cx="2142439" cy="347472"/>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88" name="card-Review workbench ·"/>
          <p:cNvSpPr/>
          <p:nvPr/>
        </p:nvSpPr>
        <p:spPr>
          <a:xfrm>
            <a:off x="9418320" y="1883664"/>
            <a:ext cx="2270455" cy="420624"/>
          </a:xfrm>
          <a:prstGeom prst="rect">
            <a:avLst/>
          </a:prstGeom>
          <a:solidFill>
            <a:srgbClr val="FFFFFF"/>
          </a:solidFill>
          <a:ln w="12700">
            <a:solidFill>
              <a:srgbClr val="C3CCC0"/>
            </a:solidFill>
            <a:prstDash val="solid"/>
          </a:ln>
        </p:spPr>
      </p:sp>
      <p:sp>
        <p:nvSpPr>
          <p:cNvPr id="89" name="Text 87"/>
          <p:cNvSpPr txBox="1"/>
          <p:nvPr/>
        </p:nvSpPr>
        <p:spPr>
          <a:xfrm>
            <a:off x="9482328" y="1920240"/>
            <a:ext cx="2142439" cy="347472"/>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90" name="card-HTTP API · 27 rout"/>
          <p:cNvSpPr/>
          <p:nvPr/>
        </p:nvSpPr>
        <p:spPr>
          <a:xfrm>
            <a:off x="9418320" y="2377440"/>
            <a:ext cx="2270455" cy="420624"/>
          </a:xfrm>
          <a:prstGeom prst="rect">
            <a:avLst/>
          </a:prstGeom>
          <a:solidFill>
            <a:srgbClr val="FFFFFF"/>
          </a:solidFill>
          <a:ln w="12700">
            <a:solidFill>
              <a:srgbClr val="C3CCC0"/>
            </a:solidFill>
            <a:prstDash val="solid"/>
          </a:ln>
        </p:spPr>
      </p:sp>
      <p:sp>
        <p:nvSpPr>
          <p:cNvPr id="91" name="Text 89"/>
          <p:cNvSpPr txBox="1"/>
          <p:nvPr/>
        </p:nvSpPr>
        <p:spPr>
          <a:xfrm>
            <a:off x="9482328" y="2414016"/>
            <a:ext cx="2142439" cy="347472"/>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92" name="Shape 90"/>
          <p:cNvSpPr/>
          <p:nvPr/>
        </p:nvSpPr>
        <p:spPr>
          <a:xfrm>
            <a:off x="9418320" y="2907792"/>
            <a:ext cx="2270455" cy="256032"/>
          </a:xfrm>
          <a:prstGeom prst="rect">
            <a:avLst/>
          </a:prstGeom>
          <a:solidFill>
            <a:srgbClr val="1E4035"/>
          </a:solidFill>
          <a:ln w="12700">
            <a:solidFill>
              <a:srgbClr val="1E4035"/>
            </a:solidFill>
            <a:prstDash val="solid"/>
          </a:ln>
        </p:spPr>
      </p:sp>
      <p:sp>
        <p:nvSpPr>
          <p:cNvPr id="93" name="Text 91"/>
          <p:cNvSpPr txBox="1"/>
          <p:nvPr/>
        </p:nvSpPr>
        <p:spPr>
          <a:xfrm>
            <a:off x="9528048" y="2907792"/>
            <a:ext cx="2050999" cy="256032"/>
          </a:xfrm>
          <a:prstGeom prst="rect">
            <a:avLst/>
          </a:prstGeom>
          <a:noFill/>
          <a:ln/>
        </p:spPr>
        <p:txBody>
          <a:bodyPr wrap="square" lIns="0" tIns="0" rIns="0" bIns="0" rtlCol="0" anchor="ctr"/>
          <a:lstStyle/>
          <a:p>
            <a:pPr algn="l" indent="0" marL="0">
              <a:buNone/>
            </a:pPr>
            <a:r>
              <a:rPr lang="en-US" sz="1100" b="1" spc="60" kern="0" dirty="0">
                <a:solidFill>
                  <a:srgbClr val="FFFFFF"/>
                </a:solidFill>
              </a:rPr>
              <a:t>Observability</a:t>
            </a:r>
            <a:endParaRPr lang="en-US" sz="1100" dirty="0"/>
          </a:p>
        </p:txBody>
      </p:sp>
      <p:sp>
        <p:nvSpPr>
          <p:cNvPr id="94" name="card-NVIDIA DCGM · 19 G"/>
          <p:cNvSpPr/>
          <p:nvPr/>
        </p:nvSpPr>
        <p:spPr>
          <a:xfrm>
            <a:off x="9418320" y="3236976"/>
            <a:ext cx="2270455" cy="402336"/>
          </a:xfrm>
          <a:prstGeom prst="rect">
            <a:avLst/>
          </a:prstGeom>
          <a:solidFill>
            <a:srgbClr val="5B8C3A"/>
          </a:solidFill>
          <a:ln w="19050">
            <a:solidFill>
              <a:srgbClr val="446B29"/>
            </a:solidFill>
            <a:prstDash val="solid"/>
          </a:ln>
        </p:spPr>
      </p:sp>
      <p:sp>
        <p:nvSpPr>
          <p:cNvPr id="95" name="Text 93"/>
          <p:cNvSpPr txBox="1"/>
          <p:nvPr/>
        </p:nvSpPr>
        <p:spPr>
          <a:xfrm>
            <a:off x="9482328" y="3273552"/>
            <a:ext cx="2142439" cy="32918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GPU series</a:t>
            </a:r>
            <a:endParaRPr lang="en-US" sz="1100" dirty="0"/>
          </a:p>
        </p:txBody>
      </p:sp>
      <p:sp>
        <p:nvSpPr>
          <p:cNvPr id="96" name="card-Prometheus · 13 ap"/>
          <p:cNvSpPr/>
          <p:nvPr/>
        </p:nvSpPr>
        <p:spPr>
          <a:xfrm>
            <a:off x="9418320" y="3703320"/>
            <a:ext cx="2270455" cy="402336"/>
          </a:xfrm>
          <a:prstGeom prst="rect">
            <a:avLst/>
          </a:prstGeom>
          <a:solidFill>
            <a:srgbClr val="FFFFFF"/>
          </a:solidFill>
          <a:ln w="12700">
            <a:solidFill>
              <a:srgbClr val="C3CCC0"/>
            </a:solidFill>
            <a:prstDash val="solid"/>
          </a:ln>
        </p:spPr>
      </p:sp>
      <p:sp>
        <p:nvSpPr>
          <p:cNvPr id="97" name="Text 95"/>
          <p:cNvSpPr txBox="1"/>
          <p:nvPr/>
        </p:nvSpPr>
        <p:spPr>
          <a:xfrm>
            <a:off x="9482328" y="3739896"/>
            <a:ext cx="2142439" cy="32918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app series</a:t>
            </a:r>
            <a:endParaRPr lang="en-US" sz="1100" dirty="0"/>
          </a:p>
        </p:txBody>
      </p:sp>
      <p:sp>
        <p:nvSpPr>
          <p:cNvPr id="98" name="card-Grafana · 11 panel"/>
          <p:cNvSpPr/>
          <p:nvPr/>
        </p:nvSpPr>
        <p:spPr>
          <a:xfrm>
            <a:off x="9418320" y="4169664"/>
            <a:ext cx="2270455" cy="402336"/>
          </a:xfrm>
          <a:prstGeom prst="rect">
            <a:avLst/>
          </a:prstGeom>
          <a:solidFill>
            <a:srgbClr val="FFFFFF"/>
          </a:solidFill>
          <a:ln w="12700">
            <a:solidFill>
              <a:srgbClr val="C3CCC0"/>
            </a:solidFill>
            <a:prstDash val="solid"/>
          </a:ln>
        </p:spPr>
      </p:sp>
      <p:sp>
        <p:nvSpPr>
          <p:cNvPr id="99" name="Text 97"/>
          <p:cNvSpPr txBox="1"/>
          <p:nvPr/>
        </p:nvSpPr>
        <p:spPr>
          <a:xfrm>
            <a:off x="9482328" y="4206240"/>
            <a:ext cx="2142439" cy="32918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00" name="card-Attu and sqlite-we"/>
          <p:cNvSpPr/>
          <p:nvPr/>
        </p:nvSpPr>
        <p:spPr>
          <a:xfrm>
            <a:off x="9418320" y="4636008"/>
            <a:ext cx="2270455" cy="402336"/>
          </a:xfrm>
          <a:prstGeom prst="rect">
            <a:avLst/>
          </a:prstGeom>
          <a:solidFill>
            <a:srgbClr val="FFFFFF"/>
          </a:solidFill>
          <a:ln w="12700">
            <a:solidFill>
              <a:srgbClr val="C3CCC0"/>
            </a:solidFill>
            <a:prstDash val="solid"/>
          </a:ln>
        </p:spPr>
      </p:sp>
      <p:sp>
        <p:nvSpPr>
          <p:cNvPr id="101" name="Text 99"/>
          <p:cNvSpPr txBox="1"/>
          <p:nvPr/>
        </p:nvSpPr>
        <p:spPr>
          <a:xfrm>
            <a:off x="9482328" y="4672584"/>
            <a:ext cx="2142439" cy="32918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02" name="Shape 100"/>
          <p:cNvSpPr/>
          <p:nvPr/>
        </p:nvSpPr>
        <p:spPr>
          <a:xfrm>
            <a:off x="502920" y="5541264"/>
            <a:ext cx="11185855" cy="256032"/>
          </a:xfrm>
          <a:prstGeom prst="rect">
            <a:avLst/>
          </a:prstGeom>
          <a:solidFill>
            <a:srgbClr val="14302A"/>
          </a:solidFill>
          <a:ln w="12700">
            <a:solidFill>
              <a:srgbClr val="14302A"/>
            </a:solidFill>
            <a:prstDash val="solid"/>
          </a:ln>
        </p:spPr>
      </p:sp>
      <p:sp>
        <p:nvSpPr>
          <p:cNvPr id="103" name="Text 101"/>
          <p:cNvSpPr txBox="1"/>
          <p:nvPr/>
        </p:nvSpPr>
        <p:spPr>
          <a:xfrm>
            <a:off x="612648" y="5541264"/>
            <a:ext cx="10966399" cy="256032"/>
          </a:xfrm>
          <a:prstGeom prst="rect">
            <a:avLst/>
          </a:prstGeom>
          <a:noFill/>
          <a:ln/>
        </p:spPr>
        <p:txBody>
          <a:bodyPr wrap="square" lIns="0" tIns="0" rIns="0" bIns="0" rtlCol="0" anchor="ctr"/>
          <a:lstStyle/>
          <a:p>
            <a:pPr algn="ctr" indent="0" marL="0">
              <a:buNone/>
            </a:pPr>
            <a:r>
              <a:rPr lang="en-US" sz="1100" b="1" spc="60" kern="0" dirty="0">
                <a:solidFill>
                  <a:srgbClr val="FFFFFF"/>
                </a:solidFill>
              </a:rPr>
              <a:t>TRACEABILITY, ASSURANCE &amp; GOVERNANCE</a:t>
            </a:r>
            <a:endParaRPr lang="en-US" sz="1100" dirty="0"/>
          </a:p>
        </p:txBody>
      </p:sp>
      <p:sp>
        <p:nvSpPr>
          <p:cNvPr id="104" name="gov-Answer log"/>
          <p:cNvSpPr/>
          <p:nvPr/>
        </p:nvSpPr>
        <p:spPr>
          <a:xfrm>
            <a:off x="502920" y="5870448"/>
            <a:ext cx="1788109" cy="475488"/>
          </a:xfrm>
          <a:prstGeom prst="rect">
            <a:avLst/>
          </a:prstGeom>
          <a:solidFill>
            <a:srgbClr val="FFFFFF"/>
          </a:solidFill>
          <a:ln w="12700">
            <a:solidFill>
              <a:srgbClr val="C3CCC0"/>
            </a:solidFill>
            <a:prstDash val="solid"/>
          </a:ln>
        </p:spPr>
      </p:sp>
      <p:sp>
        <p:nvSpPr>
          <p:cNvPr id="105" name="Text 103"/>
          <p:cNvSpPr txBox="1"/>
          <p:nvPr/>
        </p:nvSpPr>
        <p:spPr>
          <a:xfrm>
            <a:off x="576072" y="5897880"/>
            <a:ext cx="1641805" cy="420624"/>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Answer log</a:t>
            </a:r>
            <a:endParaRPr lang="en-US" sz="1050" dirty="0"/>
          </a:p>
          <a:p>
            <a:pPr indent="0" marL="0">
              <a:lnSpc>
                <a:spcPct val="90000"/>
              </a:lnSpc>
              <a:buNone/>
            </a:pPr>
            <a:r>
              <a:rPr lang="en-US" sz="1000" dirty="0">
                <a:solidFill>
                  <a:srgbClr val="5C6B64"/>
                </a:solidFill>
              </a:rPr>
              <a:t>706 logged</a:t>
            </a:r>
            <a:endParaRPr lang="en-US" sz="1050" dirty="0"/>
          </a:p>
        </p:txBody>
      </p:sp>
      <p:sp>
        <p:nvSpPr>
          <p:cNvPr id="106" name="gov-NeMo Relay"/>
          <p:cNvSpPr/>
          <p:nvPr/>
        </p:nvSpPr>
        <p:spPr>
          <a:xfrm>
            <a:off x="2382469" y="5870448"/>
            <a:ext cx="1788109" cy="475488"/>
          </a:xfrm>
          <a:prstGeom prst="rect">
            <a:avLst/>
          </a:prstGeom>
          <a:solidFill>
            <a:srgbClr val="FFFFFF"/>
          </a:solidFill>
          <a:ln w="22225">
            <a:solidFill>
              <a:srgbClr val="76B900"/>
            </a:solidFill>
            <a:prstDash val="solid"/>
          </a:ln>
        </p:spPr>
      </p:sp>
      <p:sp>
        <p:nvSpPr>
          <p:cNvPr id="107" name="Text 105"/>
          <p:cNvSpPr txBox="1"/>
          <p:nvPr/>
        </p:nvSpPr>
        <p:spPr>
          <a:xfrm>
            <a:off x="2455621" y="5897880"/>
            <a:ext cx="1641805" cy="420624"/>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NeMo Relay</a:t>
            </a:r>
            <a:endParaRPr lang="en-US" sz="1050" dirty="0"/>
          </a:p>
          <a:p>
            <a:pPr indent="0" marL="0">
              <a:lnSpc>
                <a:spcPct val="90000"/>
              </a:lnSpc>
              <a:buNone/>
            </a:pPr>
            <a:r>
              <a:rPr lang="en-US" sz="1000" dirty="0">
                <a:solidFill>
                  <a:srgbClr val="5C6B64"/>
                </a:solidFill>
              </a:rPr>
              <a:t>trace spans</a:t>
            </a:r>
            <a:endParaRPr lang="en-US" sz="1050" dirty="0"/>
          </a:p>
        </p:txBody>
      </p:sp>
      <p:sp>
        <p:nvSpPr>
          <p:cNvPr id="108" name="gov-NeMo Evaluator"/>
          <p:cNvSpPr/>
          <p:nvPr/>
        </p:nvSpPr>
        <p:spPr>
          <a:xfrm>
            <a:off x="4262018" y="5870448"/>
            <a:ext cx="1788109" cy="475488"/>
          </a:xfrm>
          <a:prstGeom prst="rect">
            <a:avLst/>
          </a:prstGeom>
          <a:solidFill>
            <a:srgbClr val="FFFFFF"/>
          </a:solidFill>
          <a:ln w="22225">
            <a:solidFill>
              <a:srgbClr val="76B900"/>
            </a:solidFill>
            <a:prstDash val="solid"/>
          </a:ln>
        </p:spPr>
      </p:sp>
      <p:sp>
        <p:nvSpPr>
          <p:cNvPr id="109" name="Text 107"/>
          <p:cNvSpPr txBox="1"/>
          <p:nvPr/>
        </p:nvSpPr>
        <p:spPr>
          <a:xfrm>
            <a:off x="4335170" y="5897880"/>
            <a:ext cx="1641805" cy="420624"/>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NeMo Evaluator</a:t>
            </a:r>
            <a:endParaRPr lang="en-US" sz="1050" dirty="0"/>
          </a:p>
          <a:p>
            <a:pPr indent="0" marL="0">
              <a:lnSpc>
                <a:spcPct val="90000"/>
              </a:lnSpc>
              <a:buNone/>
            </a:pPr>
            <a:r>
              <a:rPr lang="en-US" sz="1000" dirty="0">
                <a:solidFill>
                  <a:srgbClr val="5C6B64"/>
                </a:solidFill>
              </a:rPr>
              <a:t>run over run</a:t>
            </a:r>
            <a:endParaRPr lang="en-US" sz="1050" dirty="0"/>
          </a:p>
        </p:txBody>
      </p:sp>
      <p:sp>
        <p:nvSpPr>
          <p:cNvPr id="110" name="gov-Riva Magpie TTS"/>
          <p:cNvSpPr/>
          <p:nvPr/>
        </p:nvSpPr>
        <p:spPr>
          <a:xfrm>
            <a:off x="6141568" y="5870448"/>
            <a:ext cx="1788109" cy="475488"/>
          </a:xfrm>
          <a:prstGeom prst="rect">
            <a:avLst/>
          </a:prstGeom>
          <a:solidFill>
            <a:srgbClr val="5B8C3A"/>
          </a:solidFill>
          <a:ln w="12700">
            <a:solidFill>
              <a:srgbClr val="C3CCC0"/>
            </a:solidFill>
            <a:prstDash val="solid"/>
          </a:ln>
        </p:spPr>
      </p:sp>
      <p:sp>
        <p:nvSpPr>
          <p:cNvPr id="111" name="Text 109"/>
          <p:cNvSpPr txBox="1"/>
          <p:nvPr/>
        </p:nvSpPr>
        <p:spPr>
          <a:xfrm>
            <a:off x="6214720" y="5897880"/>
            <a:ext cx="1641805" cy="420624"/>
          </a:xfrm>
          <a:prstGeom prst="rect">
            <a:avLst/>
          </a:prstGeom>
          <a:noFill/>
          <a:ln/>
        </p:spPr>
        <p:txBody>
          <a:bodyPr wrap="square" lIns="0" tIns="0" rIns="0" bIns="0" rtlCol="0" anchor="t"/>
          <a:lstStyle/>
          <a:p>
            <a:pPr indent="0" marL="0">
              <a:lnSpc>
                <a:spcPct val="90000"/>
              </a:lnSpc>
              <a:buNone/>
            </a:pPr>
            <a:r>
              <a:rPr lang="en-US" sz="1050" b="1" dirty="0">
                <a:solidFill>
                  <a:srgbClr val="FFFFFF"/>
                </a:solidFill>
              </a:rPr>
              <a:t>Riva Magpie TTS</a:t>
            </a:r>
            <a:endParaRPr lang="en-US" sz="1050" dirty="0"/>
          </a:p>
          <a:p>
            <a:pPr indent="0" marL="0">
              <a:lnSpc>
                <a:spcPct val="90000"/>
              </a:lnSpc>
              <a:buNone/>
            </a:pPr>
            <a:r>
              <a:rPr lang="en-US" sz="1000" dirty="0">
                <a:solidFill>
                  <a:srgbClr val="DCE8CF"/>
                </a:solidFill>
              </a:rPr>
              <a:t>speech harness</a:t>
            </a:r>
            <a:endParaRPr lang="en-US" sz="1050" dirty="0"/>
          </a:p>
        </p:txBody>
      </p:sp>
      <p:sp>
        <p:nvSpPr>
          <p:cNvPr id="112" name="gov-Acceptance gates"/>
          <p:cNvSpPr/>
          <p:nvPr/>
        </p:nvSpPr>
        <p:spPr>
          <a:xfrm>
            <a:off x="8021117" y="5870448"/>
            <a:ext cx="1788109" cy="475488"/>
          </a:xfrm>
          <a:prstGeom prst="rect">
            <a:avLst/>
          </a:prstGeom>
          <a:solidFill>
            <a:srgbClr val="FFFFFF"/>
          </a:solidFill>
          <a:ln w="12700">
            <a:solidFill>
              <a:srgbClr val="C3CCC0"/>
            </a:solidFill>
            <a:prstDash val="solid"/>
          </a:ln>
        </p:spPr>
      </p:sp>
      <p:sp>
        <p:nvSpPr>
          <p:cNvPr id="113" name="Text 111"/>
          <p:cNvSpPr txBox="1"/>
          <p:nvPr/>
        </p:nvSpPr>
        <p:spPr>
          <a:xfrm>
            <a:off x="8094269" y="5897880"/>
            <a:ext cx="1641805" cy="420624"/>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Acceptance gates</a:t>
            </a:r>
            <a:endParaRPr lang="en-US" sz="1050" dirty="0"/>
          </a:p>
          <a:p>
            <a:pPr indent="0" marL="0">
              <a:lnSpc>
                <a:spcPct val="90000"/>
              </a:lnSpc>
              <a:buNone/>
            </a:pPr>
            <a:r>
              <a:rPr lang="en-US" sz="1000" dirty="0">
                <a:solidFill>
                  <a:srgbClr val="5C6B64"/>
                </a:solidFill>
              </a:rPr>
              <a:t>six floors</a:t>
            </a:r>
            <a:endParaRPr lang="en-US" sz="1050" dirty="0"/>
          </a:p>
        </p:txBody>
      </p:sp>
      <p:sp>
        <p:nvSpPr>
          <p:cNvPr id="114" name="gov-NemoClaw"/>
          <p:cNvSpPr/>
          <p:nvPr/>
        </p:nvSpPr>
        <p:spPr>
          <a:xfrm>
            <a:off x="9900666" y="5870448"/>
            <a:ext cx="1788109" cy="475488"/>
          </a:xfrm>
          <a:prstGeom prst="rect">
            <a:avLst/>
          </a:prstGeom>
          <a:solidFill>
            <a:srgbClr val="FFFFFF"/>
          </a:solidFill>
          <a:ln w="19050">
            <a:solidFill>
              <a:srgbClr val="76B900"/>
            </a:solidFill>
            <a:prstDash val="dash"/>
          </a:ln>
        </p:spPr>
      </p:sp>
      <p:sp>
        <p:nvSpPr>
          <p:cNvPr id="115" name="Text 113"/>
          <p:cNvSpPr txBox="1"/>
          <p:nvPr/>
        </p:nvSpPr>
        <p:spPr>
          <a:xfrm>
            <a:off x="9973818" y="5897880"/>
            <a:ext cx="1641805" cy="420624"/>
          </a:xfrm>
          <a:prstGeom prst="rect">
            <a:avLst/>
          </a:prstGeom>
          <a:noFill/>
          <a:ln/>
        </p:spPr>
        <p:txBody>
          <a:bodyPr wrap="square" lIns="0" tIns="0" rIns="0" bIns="0" rtlCol="0" anchor="t"/>
          <a:lstStyle/>
          <a:p>
            <a:pPr indent="0" marL="0">
              <a:lnSpc>
                <a:spcPct val="90000"/>
              </a:lnSpc>
              <a:buNone/>
            </a:pPr>
            <a:r>
              <a:rPr lang="en-US" sz="1050" b="1" dirty="0">
                <a:solidFill>
                  <a:srgbClr val="4A7023"/>
                </a:solidFill>
              </a:rPr>
              <a:t>NemoClaw</a:t>
            </a:r>
            <a:endParaRPr lang="en-US" sz="1050" dirty="0"/>
          </a:p>
          <a:p>
            <a:pPr indent="0" marL="0">
              <a:lnSpc>
                <a:spcPct val="90000"/>
              </a:lnSpc>
              <a:buNone/>
            </a:pPr>
            <a:r>
              <a:rPr lang="en-US" sz="1000" dirty="0">
                <a:solidFill>
                  <a:srgbClr val="5C6B64"/>
                </a:solidFill>
              </a:rPr>
              <a:t>blocked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60704"/>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60704"/>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53312"/>
            <a:ext cx="1788109" cy="841248"/>
          </a:xfrm>
          <a:prstGeom prst="rect">
            <a:avLst/>
          </a:prstGeom>
          <a:solidFill>
            <a:srgbClr val="FFFFFF"/>
          </a:solidFill>
          <a:ln w="12700">
            <a:solidFill>
              <a:srgbClr val="C3CCC0"/>
            </a:solidFill>
            <a:prstDash val="solid"/>
          </a:ln>
        </p:spPr>
      </p:sp>
      <p:sp>
        <p:nvSpPr>
          <p:cNvPr id="7" name="Text 5"/>
          <p:cNvSpPr txBox="1"/>
          <p:nvPr/>
        </p:nvSpPr>
        <p:spPr>
          <a:xfrm>
            <a:off x="594360" y="1417320"/>
            <a:ext cx="1605229" cy="713232"/>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Capture</a:t>
            </a:r>
            <a:endParaRPr lang="en-US" sz="1050" dirty="0"/>
          </a:p>
          <a:p>
            <a:pPr indent="0" marL="0">
              <a:lnSpc>
                <a:spcPct val="90000"/>
              </a:lnSpc>
              <a:buNone/>
            </a:pPr>
            <a:r>
              <a:rPr lang="en-US" sz="1000" dirty="0">
                <a:solidFill>
                  <a:srgbClr val="5C6B64"/>
                </a:solidFill>
              </a:rPr>
              <a:t>spoken or typed</a:t>
            </a:r>
            <a:endParaRPr lang="en-US" sz="1050" dirty="0"/>
          </a:p>
        </p:txBody>
      </p:sp>
      <p:sp>
        <p:nvSpPr>
          <p:cNvPr id="8" name="step-Riva ASR"/>
          <p:cNvSpPr/>
          <p:nvPr/>
        </p:nvSpPr>
        <p:spPr>
          <a:xfrm>
            <a:off x="2382469" y="1353312"/>
            <a:ext cx="1788109" cy="841248"/>
          </a:xfrm>
          <a:prstGeom prst="chevron">
            <a:avLst/>
          </a:prstGeom>
          <a:solidFill>
            <a:srgbClr val="5B8C3A"/>
          </a:solidFill>
          <a:ln w="19050">
            <a:solidFill>
              <a:srgbClr val="446B29"/>
            </a:solidFill>
            <a:prstDash val="solid"/>
          </a:ln>
        </p:spPr>
      </p:sp>
      <p:sp>
        <p:nvSpPr>
          <p:cNvPr id="9" name="Text 7"/>
          <p:cNvSpPr txBox="1"/>
          <p:nvPr/>
        </p:nvSpPr>
        <p:spPr>
          <a:xfrm>
            <a:off x="2601925" y="1417320"/>
            <a:ext cx="1440637" cy="713232"/>
          </a:xfrm>
          <a:prstGeom prst="rect">
            <a:avLst/>
          </a:prstGeom>
          <a:noFill/>
          <a:ln/>
        </p:spPr>
        <p:txBody>
          <a:bodyPr wrap="square" lIns="0" tIns="0" rIns="0" bIns="0" rtlCol="0" anchor="t"/>
          <a:lstStyle/>
          <a:p>
            <a:pPr indent="0" marL="0">
              <a:lnSpc>
                <a:spcPct val="90000"/>
              </a:lnSpc>
              <a:buNone/>
            </a:pPr>
            <a:r>
              <a:rPr lang="en-US" sz="1050" b="1" dirty="0">
                <a:solidFill>
                  <a:srgbClr val="FFFFFF"/>
                </a:solidFill>
              </a:rPr>
              <a:t>Riva ASR</a:t>
            </a:r>
            <a:endParaRPr lang="en-US" sz="1050" dirty="0"/>
          </a:p>
          <a:p>
            <a:pPr indent="0" marL="0">
              <a:lnSpc>
                <a:spcPct val="90000"/>
              </a:lnSpc>
              <a:buNone/>
            </a:pPr>
            <a:r>
              <a:rPr lang="en-US" sz="1000" dirty="0">
                <a:solidFill>
                  <a:srgbClr val="DCE8CF"/>
                </a:solidFill>
              </a:rPr>
              <a:t>speech to text</a:t>
            </a:r>
            <a:endParaRPr lang="en-US" sz="1050" dirty="0"/>
          </a:p>
        </p:txBody>
      </p:sp>
      <p:sp>
        <p:nvSpPr>
          <p:cNvPr id="10" name="step-Nemotron 8B"/>
          <p:cNvSpPr/>
          <p:nvPr/>
        </p:nvSpPr>
        <p:spPr>
          <a:xfrm>
            <a:off x="4262018" y="1353312"/>
            <a:ext cx="1788109" cy="841248"/>
          </a:xfrm>
          <a:prstGeom prst="chevron">
            <a:avLst/>
          </a:prstGeom>
          <a:solidFill>
            <a:srgbClr val="5B8C3A"/>
          </a:solidFill>
          <a:ln w="19050">
            <a:solidFill>
              <a:srgbClr val="446B29"/>
            </a:solidFill>
            <a:prstDash val="solid"/>
          </a:ln>
        </p:spPr>
      </p:sp>
      <p:sp>
        <p:nvSpPr>
          <p:cNvPr id="11" name="Text 9"/>
          <p:cNvSpPr txBox="1"/>
          <p:nvPr/>
        </p:nvSpPr>
        <p:spPr>
          <a:xfrm>
            <a:off x="4481474" y="1417320"/>
            <a:ext cx="1440637" cy="713232"/>
          </a:xfrm>
          <a:prstGeom prst="rect">
            <a:avLst/>
          </a:prstGeom>
          <a:noFill/>
          <a:ln/>
        </p:spPr>
        <p:txBody>
          <a:bodyPr wrap="square" lIns="0" tIns="0" rIns="0" bIns="0" rtlCol="0" anchor="t"/>
          <a:lstStyle/>
          <a:p>
            <a:pPr indent="0" marL="0">
              <a:lnSpc>
                <a:spcPct val="90000"/>
              </a:lnSpc>
              <a:buNone/>
            </a:pPr>
            <a:r>
              <a:rPr lang="en-US" sz="1050" b="1" dirty="0">
                <a:solidFill>
                  <a:srgbClr val="FFFFFF"/>
                </a:solidFill>
              </a:rPr>
              <a:t>Nemotron 8B</a:t>
            </a:r>
            <a:endParaRPr lang="en-US" sz="1050" dirty="0"/>
          </a:p>
          <a:p>
            <a:pPr indent="0" marL="0">
              <a:lnSpc>
                <a:spcPct val="90000"/>
              </a:lnSpc>
              <a:buNone/>
            </a:pPr>
            <a:r>
              <a:rPr lang="en-US" sz="1000" dirty="0">
                <a:solidFill>
                  <a:srgbClr val="DCE8CF"/>
                </a:solidFill>
              </a:rPr>
              <a:t>prose → strict JSON</a:t>
            </a:r>
            <a:endParaRPr lang="en-US" sz="1050" dirty="0"/>
          </a:p>
        </p:txBody>
      </p:sp>
      <p:sp>
        <p:nvSpPr>
          <p:cNvPr id="12" name="step-Resolve"/>
          <p:cNvSpPr/>
          <p:nvPr/>
        </p:nvSpPr>
        <p:spPr>
          <a:xfrm>
            <a:off x="6141568" y="1353312"/>
            <a:ext cx="1788109" cy="841248"/>
          </a:xfrm>
          <a:prstGeom prst="chevron">
            <a:avLst/>
          </a:prstGeom>
          <a:solidFill>
            <a:srgbClr val="FFFFFF"/>
          </a:solidFill>
          <a:ln w="12700">
            <a:solidFill>
              <a:srgbClr val="C3CCC0"/>
            </a:solidFill>
            <a:prstDash val="solid"/>
          </a:ln>
        </p:spPr>
      </p:sp>
      <p:sp>
        <p:nvSpPr>
          <p:cNvPr id="13" name="Text 11"/>
          <p:cNvSpPr txBox="1"/>
          <p:nvPr/>
        </p:nvSpPr>
        <p:spPr>
          <a:xfrm>
            <a:off x="6361024" y="1417320"/>
            <a:ext cx="1440637" cy="713232"/>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Resolve</a:t>
            </a:r>
            <a:endParaRPr lang="en-US" sz="1050" dirty="0"/>
          </a:p>
          <a:p>
            <a:pPr indent="0" marL="0">
              <a:lnSpc>
                <a:spcPct val="90000"/>
              </a:lnSpc>
              <a:buNone/>
            </a:pPr>
            <a:r>
              <a:rPr lang="en-US" sz="1000" dirty="0">
                <a:solidFill>
                  <a:srgbClr val="5C6B64"/>
                </a:solidFill>
              </a:rPr>
              <a:t>orders, op codes, spoken digits</a:t>
            </a:r>
            <a:endParaRPr lang="en-US" sz="1050" dirty="0"/>
          </a:p>
        </p:txBody>
      </p:sp>
      <p:sp>
        <p:nvSpPr>
          <p:cNvPr id="14" name="step-Reconcile"/>
          <p:cNvSpPr/>
          <p:nvPr/>
        </p:nvSpPr>
        <p:spPr>
          <a:xfrm>
            <a:off x="8021117" y="1353312"/>
            <a:ext cx="1788109" cy="841248"/>
          </a:xfrm>
          <a:prstGeom prst="chevron">
            <a:avLst/>
          </a:prstGeom>
          <a:solidFill>
            <a:srgbClr val="FFFFFF"/>
          </a:solidFill>
          <a:ln w="12700">
            <a:solidFill>
              <a:srgbClr val="C3CCC0"/>
            </a:solidFill>
            <a:prstDash val="solid"/>
          </a:ln>
        </p:spPr>
      </p:sp>
      <p:sp>
        <p:nvSpPr>
          <p:cNvPr id="15" name="Text 13"/>
          <p:cNvSpPr txBox="1"/>
          <p:nvPr/>
        </p:nvSpPr>
        <p:spPr>
          <a:xfrm>
            <a:off x="8240573" y="1417320"/>
            <a:ext cx="1440637" cy="713232"/>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Reconcile</a:t>
            </a:r>
            <a:endParaRPr lang="en-US" sz="1050" dirty="0"/>
          </a:p>
          <a:p>
            <a:pPr indent="0" marL="0">
              <a:lnSpc>
                <a:spcPct val="90000"/>
              </a:lnSpc>
              <a:buNone/>
            </a:pPr>
            <a:r>
              <a:rPr lang="en-US" sz="1000" dirty="0">
                <a:solidFill>
                  <a:srgbClr val="5C6B64"/>
                </a:solidFill>
              </a:rPr>
              <a:t>conflicts surfaced, not clobbered</a:t>
            </a:r>
            <a:endParaRPr lang="en-US" sz="1050" dirty="0"/>
          </a:p>
        </p:txBody>
      </p:sp>
      <p:sp>
        <p:nvSpPr>
          <p:cNvPr id="16" name="step-Curate and embed"/>
          <p:cNvSpPr/>
          <p:nvPr/>
        </p:nvSpPr>
        <p:spPr>
          <a:xfrm>
            <a:off x="9900666" y="1353312"/>
            <a:ext cx="1788109" cy="841248"/>
          </a:xfrm>
          <a:prstGeom prst="chevron">
            <a:avLst/>
          </a:prstGeom>
          <a:solidFill>
            <a:srgbClr val="FFFFFF"/>
          </a:solidFill>
          <a:ln w="22225">
            <a:solidFill>
              <a:srgbClr val="76B900"/>
            </a:solidFill>
            <a:prstDash val="solid"/>
          </a:ln>
        </p:spPr>
      </p:sp>
      <p:sp>
        <p:nvSpPr>
          <p:cNvPr id="17" name="Text 15"/>
          <p:cNvSpPr txBox="1"/>
          <p:nvPr/>
        </p:nvSpPr>
        <p:spPr>
          <a:xfrm>
            <a:off x="10120122" y="1417320"/>
            <a:ext cx="1440637" cy="713232"/>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Curate and embed</a:t>
            </a:r>
            <a:endParaRPr lang="en-US" sz="1050" dirty="0"/>
          </a:p>
          <a:p>
            <a:pPr indent="0" marL="0">
              <a:lnSpc>
                <a:spcPct val="90000"/>
              </a:lnSpc>
              <a:buNone/>
            </a:pPr>
            <a:r>
              <a:rPr lang="en-US" sz="1000" dirty="0">
                <a:solidFill>
                  <a:srgbClr val="5C6B64"/>
                </a:solidFill>
              </a:rPr>
              <a:t>quarantine, then index</a:t>
            </a:r>
            <a:endParaRPr lang="en-US" sz="1050" dirty="0"/>
          </a:p>
        </p:txBody>
      </p:sp>
      <p:sp>
        <p:nvSpPr>
          <p:cNvPr id="18" name="Shape 16"/>
          <p:cNvSpPr/>
          <p:nvPr/>
        </p:nvSpPr>
        <p:spPr>
          <a:xfrm>
            <a:off x="5916168" y="2286000"/>
            <a:ext cx="384048" cy="237744"/>
          </a:xfrm>
          <a:prstGeom prst="downArrow">
            <a:avLst/>
          </a:prstGeom>
          <a:solidFill>
            <a:srgbClr val="76B900"/>
          </a:solidFill>
          <a:ln w="12700">
            <a:solidFill>
              <a:srgbClr val="76B900"/>
            </a:solidFill>
            <a:prstDash val="solid"/>
          </a:ln>
        </p:spPr>
      </p:sp>
      <p:sp>
        <p:nvSpPr>
          <p:cNvPr id="19" name="Shape 17"/>
          <p:cNvSpPr/>
          <p:nvPr/>
        </p:nvSpPr>
        <p:spPr>
          <a:xfrm>
            <a:off x="502920" y="2578608"/>
            <a:ext cx="11185855" cy="237744"/>
          </a:xfrm>
          <a:prstGeom prst="rect">
            <a:avLst/>
          </a:prstGeom>
          <a:solidFill>
            <a:srgbClr val="1E4035"/>
          </a:solidFill>
          <a:ln w="12700">
            <a:solidFill>
              <a:srgbClr val="1E4035"/>
            </a:solidFill>
            <a:prstDash val="solid"/>
          </a:ln>
        </p:spPr>
      </p:sp>
      <p:sp>
        <p:nvSpPr>
          <p:cNvPr id="20" name="Text 18"/>
          <p:cNvSpPr txBox="1"/>
          <p:nvPr/>
        </p:nvSpPr>
        <p:spPr>
          <a:xfrm>
            <a:off x="612648" y="2578608"/>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1" name="card-Event log — 10,927"/>
          <p:cNvSpPr/>
          <p:nvPr/>
        </p:nvSpPr>
        <p:spPr>
          <a:xfrm>
            <a:off x="502920" y="2871216"/>
            <a:ext cx="5501488" cy="548640"/>
          </a:xfrm>
          <a:prstGeom prst="rect">
            <a:avLst/>
          </a:prstGeom>
          <a:solidFill>
            <a:srgbClr val="FFFFFF"/>
          </a:solidFill>
          <a:ln w="12700">
            <a:solidFill>
              <a:srgbClr val="C3CCC0"/>
            </a:solidFill>
            <a:prstDash val="solid"/>
          </a:ln>
        </p:spPr>
      </p:sp>
      <p:sp>
        <p:nvSpPr>
          <p:cNvPr id="22" name="Text 20"/>
          <p:cNvSpPr txBox="1"/>
          <p:nvPr/>
        </p:nvSpPr>
        <p:spPr>
          <a:xfrm>
            <a:off x="566928" y="2907792"/>
            <a:ext cx="5373472"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Event log — 10,927 events</a:t>
            </a:r>
            <a:endParaRPr lang="en-US" sz="1100" dirty="0"/>
          </a:p>
          <a:p>
            <a:pPr algn="l" indent="0" marL="0">
              <a:lnSpc>
                <a:spcPct val="92000"/>
              </a:lnSpc>
              <a:buNone/>
            </a:pPr>
            <a:r>
              <a:rPr lang="en-US" sz="1000" dirty="0">
                <a:solidFill>
                  <a:srgbClr val="5C6B64"/>
                </a:solidFill>
              </a:rPr>
              <a:t>Append-only. Every repair order's state is folded from it on each read.</a:t>
            </a:r>
            <a:endParaRPr lang="en-US" sz="1100" dirty="0"/>
          </a:p>
        </p:txBody>
      </p:sp>
      <p:sp>
        <p:nvSpPr>
          <p:cNvPr id="23" name="card-Vector index — 1,9"/>
          <p:cNvSpPr/>
          <p:nvPr/>
        </p:nvSpPr>
        <p:spPr>
          <a:xfrm>
            <a:off x="6187288" y="2871216"/>
            <a:ext cx="5501488" cy="548640"/>
          </a:xfrm>
          <a:prstGeom prst="rect">
            <a:avLst/>
          </a:prstGeom>
          <a:solidFill>
            <a:srgbClr val="FFFFFF"/>
          </a:solidFill>
          <a:ln w="12700">
            <a:solidFill>
              <a:srgbClr val="C3CCC0"/>
            </a:solidFill>
            <a:prstDash val="solid"/>
          </a:ln>
        </p:spPr>
      </p:sp>
      <p:sp>
        <p:nvSpPr>
          <p:cNvPr id="24" name="Text 22"/>
          <p:cNvSpPr txBox="1"/>
          <p:nvPr/>
        </p:nvSpPr>
        <p:spPr>
          <a:xfrm>
            <a:off x="6251296" y="2907792"/>
            <a:ext cx="5373472"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Vector index — 1,949 @ 1024d</a:t>
            </a:r>
            <a:endParaRPr lang="en-US" sz="1100" dirty="0"/>
          </a:p>
          <a:p>
            <a:pPr algn="l" indent="0" marL="0">
              <a:lnSpc>
                <a:spcPct val="92000"/>
              </a:lnSpc>
              <a:buNone/>
            </a:pPr>
            <a:r>
              <a:rPr lang="en-US" sz="1000" dirty="0">
                <a:solidFill>
                  <a:srgbClr val="5C6B64"/>
                </a:solidFill>
              </a:rPr>
              <a:t>Derived, and rebuildable. Holds no fact the record does not.</a:t>
            </a:r>
            <a:endParaRPr lang="en-US" sz="1100" dirty="0"/>
          </a:p>
        </p:txBody>
      </p:sp>
      <p:sp>
        <p:nvSpPr>
          <p:cNvPr id="25" name="Shape 23"/>
          <p:cNvSpPr/>
          <p:nvPr/>
        </p:nvSpPr>
        <p:spPr>
          <a:xfrm>
            <a:off x="5916168" y="3456432"/>
            <a:ext cx="384048" cy="237744"/>
          </a:xfrm>
          <a:prstGeom prst="downArrow">
            <a:avLst/>
          </a:prstGeom>
          <a:solidFill>
            <a:srgbClr val="76B900"/>
          </a:solidFill>
          <a:ln w="12700">
            <a:solidFill>
              <a:srgbClr val="76B900"/>
            </a:solidFill>
            <a:prstDash val="solid"/>
          </a:ln>
        </p:spPr>
      </p:sp>
      <p:sp>
        <p:nvSpPr>
          <p:cNvPr id="26" name="Shape 24"/>
          <p:cNvSpPr/>
          <p:nvPr/>
        </p:nvSpPr>
        <p:spPr>
          <a:xfrm>
            <a:off x="502920" y="3675888"/>
            <a:ext cx="11185855" cy="237744"/>
          </a:xfrm>
          <a:prstGeom prst="rect">
            <a:avLst/>
          </a:prstGeom>
          <a:solidFill>
            <a:srgbClr val="14302A"/>
          </a:solidFill>
          <a:ln w="12700">
            <a:solidFill>
              <a:srgbClr val="14302A"/>
            </a:solidFill>
            <a:prstDash val="solid"/>
          </a:ln>
        </p:spPr>
      </p:sp>
      <p:sp>
        <p:nvSpPr>
          <p:cNvPr id="27" name="Text 25"/>
          <p:cNvSpPr txBox="1"/>
          <p:nvPr/>
        </p:nvSpPr>
        <p:spPr>
          <a:xfrm>
            <a:off x="612648" y="3675888"/>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28" name="step-Question"/>
          <p:cNvSpPr/>
          <p:nvPr/>
        </p:nvSpPr>
        <p:spPr>
          <a:xfrm>
            <a:off x="502920" y="3968496"/>
            <a:ext cx="1788109" cy="841248"/>
          </a:xfrm>
          <a:prstGeom prst="rect">
            <a:avLst/>
          </a:prstGeom>
          <a:solidFill>
            <a:srgbClr val="FFFFFF"/>
          </a:solidFill>
          <a:ln w="12700">
            <a:solidFill>
              <a:srgbClr val="C3CCC0"/>
            </a:solidFill>
            <a:prstDash val="solid"/>
          </a:ln>
        </p:spPr>
      </p:sp>
      <p:sp>
        <p:nvSpPr>
          <p:cNvPr id="29" name="Text 27"/>
          <p:cNvSpPr txBox="1"/>
          <p:nvPr/>
        </p:nvSpPr>
        <p:spPr>
          <a:xfrm>
            <a:off x="594360" y="4032504"/>
            <a:ext cx="1605229" cy="713232"/>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Question</a:t>
            </a:r>
            <a:endParaRPr lang="en-US" sz="1050" dirty="0"/>
          </a:p>
          <a:p>
            <a:pPr indent="0" marL="0">
              <a:lnSpc>
                <a:spcPct val="90000"/>
              </a:lnSpc>
              <a:buNone/>
            </a:pPr>
            <a:r>
              <a:rPr lang="en-US" sz="1000" dirty="0">
                <a:solidFill>
                  <a:srgbClr val="5C6B64"/>
                </a:solidFill>
              </a:rPr>
              <a:t>console or HTTP API</a:t>
            </a:r>
            <a:endParaRPr lang="en-US" sz="1050" dirty="0"/>
          </a:p>
        </p:txBody>
      </p:sp>
      <p:sp>
        <p:nvSpPr>
          <p:cNvPr id="30" name="step-Rails"/>
          <p:cNvSpPr/>
          <p:nvPr/>
        </p:nvSpPr>
        <p:spPr>
          <a:xfrm>
            <a:off x="2382469" y="3968496"/>
            <a:ext cx="1788109" cy="841248"/>
          </a:xfrm>
          <a:prstGeom prst="chevron">
            <a:avLst/>
          </a:prstGeom>
          <a:solidFill>
            <a:srgbClr val="FFFFFF"/>
          </a:solidFill>
          <a:ln w="22225">
            <a:solidFill>
              <a:srgbClr val="76B900"/>
            </a:solidFill>
            <a:prstDash val="solid"/>
          </a:ln>
        </p:spPr>
      </p:sp>
      <p:sp>
        <p:nvSpPr>
          <p:cNvPr id="31" name="Text 29"/>
          <p:cNvSpPr txBox="1"/>
          <p:nvPr/>
        </p:nvSpPr>
        <p:spPr>
          <a:xfrm>
            <a:off x="2601925" y="4032504"/>
            <a:ext cx="1440637" cy="713232"/>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Rails</a:t>
            </a:r>
            <a:endParaRPr lang="en-US" sz="1050" dirty="0"/>
          </a:p>
          <a:p>
            <a:pPr indent="0" marL="0">
              <a:lnSpc>
                <a:spcPct val="90000"/>
              </a:lnSpc>
              <a:buNone/>
            </a:pPr>
            <a:r>
              <a:rPr lang="en-US" sz="1000" dirty="0">
                <a:solidFill>
                  <a:srgbClr val="5C6B64"/>
                </a:solidFill>
              </a:rPr>
              <a:t>injection, scope, NeMo self-check</a:t>
            </a:r>
            <a:endParaRPr lang="en-US" sz="1050" dirty="0"/>
          </a:p>
        </p:txBody>
      </p:sp>
      <p:sp>
        <p:nvSpPr>
          <p:cNvPr id="32" name="step-Plan"/>
          <p:cNvSpPr/>
          <p:nvPr/>
        </p:nvSpPr>
        <p:spPr>
          <a:xfrm>
            <a:off x="4262018" y="3968496"/>
            <a:ext cx="1788109" cy="841248"/>
          </a:xfrm>
          <a:prstGeom prst="chevron">
            <a:avLst/>
          </a:prstGeom>
          <a:solidFill>
            <a:srgbClr val="FFFFFF"/>
          </a:solidFill>
          <a:ln w="12700">
            <a:solidFill>
              <a:srgbClr val="C3CCC0"/>
            </a:solidFill>
            <a:prstDash val="solid"/>
          </a:ln>
        </p:spPr>
      </p:sp>
      <p:sp>
        <p:nvSpPr>
          <p:cNvPr id="33" name="Text 31"/>
          <p:cNvSpPr txBox="1"/>
          <p:nvPr/>
        </p:nvSpPr>
        <p:spPr>
          <a:xfrm>
            <a:off x="4481474" y="4032504"/>
            <a:ext cx="1440637" cy="713232"/>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Plan</a:t>
            </a:r>
            <a:endParaRPr lang="en-US" sz="1050" dirty="0"/>
          </a:p>
          <a:p>
            <a:pPr indent="0" marL="0">
              <a:lnSpc>
                <a:spcPct val="90000"/>
              </a:lnSpc>
              <a:buNone/>
            </a:pPr>
            <a:r>
              <a:rPr lang="en-US" sz="1000" dirty="0">
                <a:solidFill>
                  <a:srgbClr val="5C6B64"/>
                </a:solidFill>
              </a:rPr>
              <a:t>routes 24 of 24 with no model</a:t>
            </a:r>
            <a:endParaRPr lang="en-US" sz="1050" dirty="0"/>
          </a:p>
        </p:txBody>
      </p:sp>
      <p:sp>
        <p:nvSpPr>
          <p:cNvPr id="34" name="step-Tool call"/>
          <p:cNvSpPr/>
          <p:nvPr/>
        </p:nvSpPr>
        <p:spPr>
          <a:xfrm>
            <a:off x="6141568" y="3968496"/>
            <a:ext cx="1788109" cy="841248"/>
          </a:xfrm>
          <a:prstGeom prst="chevron">
            <a:avLst/>
          </a:prstGeom>
          <a:solidFill>
            <a:srgbClr val="FFFFFF"/>
          </a:solidFill>
          <a:ln w="12700">
            <a:solidFill>
              <a:srgbClr val="C3CCC0"/>
            </a:solidFill>
            <a:prstDash val="solid"/>
          </a:ln>
        </p:spPr>
      </p:sp>
      <p:sp>
        <p:nvSpPr>
          <p:cNvPr id="35" name="Text 33"/>
          <p:cNvSpPr txBox="1"/>
          <p:nvPr/>
        </p:nvSpPr>
        <p:spPr>
          <a:xfrm>
            <a:off x="6361024" y="4032504"/>
            <a:ext cx="1440637" cy="713232"/>
          </a:xfrm>
          <a:prstGeom prst="rect">
            <a:avLst/>
          </a:prstGeom>
          <a:noFill/>
          <a:ln/>
        </p:spPr>
        <p:txBody>
          <a:bodyPr wrap="square" lIns="0" tIns="0" rIns="0" bIns="0" rtlCol="0" anchor="t"/>
          <a:lstStyle/>
          <a:p>
            <a:pPr indent="0" marL="0">
              <a:lnSpc>
                <a:spcPct val="90000"/>
              </a:lnSpc>
              <a:buNone/>
            </a:pPr>
            <a:r>
              <a:rPr lang="en-US" sz="1050" b="1" dirty="0">
                <a:solidFill>
                  <a:srgbClr val="14302A"/>
                </a:solidFill>
              </a:rPr>
              <a:t>Tool call</a:t>
            </a:r>
            <a:endParaRPr lang="en-US" sz="1050" dirty="0"/>
          </a:p>
          <a:p>
            <a:pPr indent="0" marL="0">
              <a:lnSpc>
                <a:spcPct val="90000"/>
              </a:lnSpc>
              <a:buNone/>
            </a:pPr>
            <a:r>
              <a:rPr lang="en-US" sz="1000" dirty="0">
                <a:solidFill>
                  <a:srgbClr val="5C6B64"/>
                </a:solidFill>
              </a:rPr>
              <a:t>one of ten, deterministic</a:t>
            </a:r>
            <a:endParaRPr lang="en-US" sz="1050" dirty="0"/>
          </a:p>
        </p:txBody>
      </p:sp>
      <p:sp>
        <p:nvSpPr>
          <p:cNvPr id="36" name="step-Retrieve + reran"/>
          <p:cNvSpPr/>
          <p:nvPr/>
        </p:nvSpPr>
        <p:spPr>
          <a:xfrm>
            <a:off x="8021117" y="3968496"/>
            <a:ext cx="1788109" cy="841248"/>
          </a:xfrm>
          <a:prstGeom prst="chevron">
            <a:avLst/>
          </a:prstGeom>
          <a:solidFill>
            <a:srgbClr val="5B8C3A"/>
          </a:solidFill>
          <a:ln w="19050">
            <a:solidFill>
              <a:srgbClr val="446B29"/>
            </a:solidFill>
            <a:prstDash val="solid"/>
          </a:ln>
        </p:spPr>
      </p:sp>
      <p:sp>
        <p:nvSpPr>
          <p:cNvPr id="37" name="Text 35"/>
          <p:cNvSpPr txBox="1"/>
          <p:nvPr/>
        </p:nvSpPr>
        <p:spPr>
          <a:xfrm>
            <a:off x="8240573" y="4032504"/>
            <a:ext cx="1440637" cy="713232"/>
          </a:xfrm>
          <a:prstGeom prst="rect">
            <a:avLst/>
          </a:prstGeom>
          <a:noFill/>
          <a:ln/>
        </p:spPr>
        <p:txBody>
          <a:bodyPr wrap="square" lIns="0" tIns="0" rIns="0" bIns="0" rtlCol="0" anchor="t"/>
          <a:lstStyle/>
          <a:p>
            <a:pPr indent="0" marL="0">
              <a:lnSpc>
                <a:spcPct val="90000"/>
              </a:lnSpc>
              <a:buNone/>
            </a:pPr>
            <a:r>
              <a:rPr lang="en-US" sz="1050" b="1" dirty="0">
                <a:solidFill>
                  <a:srgbClr val="FFFFFF"/>
                </a:solidFill>
              </a:rPr>
              <a:t>Retrieve + rerank</a:t>
            </a:r>
            <a:endParaRPr lang="en-US" sz="1050" dirty="0"/>
          </a:p>
          <a:p>
            <a:pPr indent="0" marL="0">
              <a:lnSpc>
                <a:spcPct val="90000"/>
              </a:lnSpc>
              <a:buNone/>
            </a:pPr>
            <a:r>
              <a:rPr lang="en-US" sz="1000" dirty="0">
                <a:solidFill>
                  <a:srgbClr val="DCE8CF"/>
                </a:solidFill>
              </a:rPr>
              <a:t>free-text search only</a:t>
            </a:r>
            <a:endParaRPr lang="en-US" sz="1050" dirty="0"/>
          </a:p>
        </p:txBody>
      </p:sp>
      <p:sp>
        <p:nvSpPr>
          <p:cNvPr id="38" name="step-Compose or narra"/>
          <p:cNvSpPr/>
          <p:nvPr/>
        </p:nvSpPr>
        <p:spPr>
          <a:xfrm>
            <a:off x="9900666" y="3968496"/>
            <a:ext cx="1788109" cy="841248"/>
          </a:xfrm>
          <a:prstGeom prst="chevron">
            <a:avLst/>
          </a:prstGeom>
          <a:solidFill>
            <a:srgbClr val="5B8C3A"/>
          </a:solidFill>
          <a:ln w="19050">
            <a:solidFill>
              <a:srgbClr val="446B29"/>
            </a:solidFill>
            <a:prstDash val="solid"/>
          </a:ln>
        </p:spPr>
      </p:sp>
      <p:sp>
        <p:nvSpPr>
          <p:cNvPr id="39" name="Text 37"/>
          <p:cNvSpPr txBox="1"/>
          <p:nvPr/>
        </p:nvSpPr>
        <p:spPr>
          <a:xfrm>
            <a:off x="10120122" y="4032504"/>
            <a:ext cx="1440637" cy="713232"/>
          </a:xfrm>
          <a:prstGeom prst="rect">
            <a:avLst/>
          </a:prstGeom>
          <a:noFill/>
          <a:ln/>
        </p:spPr>
        <p:txBody>
          <a:bodyPr wrap="square" lIns="0" tIns="0" rIns="0" bIns="0" rtlCol="0" anchor="t"/>
          <a:lstStyle/>
          <a:p>
            <a:pPr indent="0" marL="0">
              <a:lnSpc>
                <a:spcPct val="90000"/>
              </a:lnSpc>
              <a:buNone/>
            </a:pPr>
            <a:r>
              <a:rPr lang="en-US" sz="1050" b="1" dirty="0">
                <a:solidFill>
                  <a:srgbClr val="FFFFFF"/>
                </a:solidFill>
              </a:rPr>
              <a:t>Compose or narrate</a:t>
            </a:r>
            <a:endParaRPr lang="en-US" sz="1050" dirty="0"/>
          </a:p>
          <a:p>
            <a:pPr indent="0" marL="0">
              <a:lnSpc>
                <a:spcPct val="90000"/>
              </a:lnSpc>
              <a:buNone/>
            </a:pPr>
            <a:r>
              <a:rPr lang="en-US" sz="1000" dirty="0">
                <a:solidFill>
                  <a:srgbClr val="DCE8CF"/>
                </a:solidFill>
              </a:rPr>
              <a:t>figures computed, prose written</a:t>
            </a:r>
            <a:endParaRPr lang="en-US" sz="1050" dirty="0"/>
          </a:p>
        </p:txBody>
      </p:sp>
      <p:sp>
        <p:nvSpPr>
          <p:cNvPr id="40" name="card-Grounding check"/>
          <p:cNvSpPr/>
          <p:nvPr/>
        </p:nvSpPr>
        <p:spPr>
          <a:xfrm>
            <a:off x="502920" y="4937760"/>
            <a:ext cx="2727884" cy="566928"/>
          </a:xfrm>
          <a:prstGeom prst="rect">
            <a:avLst/>
          </a:prstGeom>
          <a:solidFill>
            <a:srgbClr val="FFFFFF"/>
          </a:solidFill>
          <a:ln w="12700">
            <a:solidFill>
              <a:srgbClr val="C3CCC0"/>
            </a:solidFill>
            <a:prstDash val="solid"/>
          </a:ln>
        </p:spPr>
      </p:sp>
      <p:sp>
        <p:nvSpPr>
          <p:cNvPr id="41" name="Text 39"/>
          <p:cNvSpPr txBox="1"/>
          <p:nvPr/>
        </p:nvSpPr>
        <p:spPr>
          <a:xfrm>
            <a:off x="566928" y="4974336"/>
            <a:ext cx="2599868" cy="49377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2" name="card-Negation check"/>
          <p:cNvSpPr/>
          <p:nvPr/>
        </p:nvSpPr>
        <p:spPr>
          <a:xfrm>
            <a:off x="3322244" y="4937760"/>
            <a:ext cx="2727884" cy="566928"/>
          </a:xfrm>
          <a:prstGeom prst="rect">
            <a:avLst/>
          </a:prstGeom>
          <a:solidFill>
            <a:srgbClr val="FFFFFF"/>
          </a:solidFill>
          <a:ln w="12700">
            <a:solidFill>
              <a:srgbClr val="C3CCC0"/>
            </a:solidFill>
            <a:prstDash val="solid"/>
          </a:ln>
        </p:spPr>
      </p:sp>
      <p:sp>
        <p:nvSpPr>
          <p:cNvPr id="43" name="Text 41"/>
          <p:cNvSpPr txBox="1"/>
          <p:nvPr/>
        </p:nvSpPr>
        <p:spPr>
          <a:xfrm>
            <a:off x="3386252" y="4974336"/>
            <a:ext cx="2599868" cy="49377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4" name="card-Release-claim rail"/>
          <p:cNvSpPr/>
          <p:nvPr/>
        </p:nvSpPr>
        <p:spPr>
          <a:xfrm>
            <a:off x="6141568" y="4937760"/>
            <a:ext cx="2727884" cy="566928"/>
          </a:xfrm>
          <a:prstGeom prst="rect">
            <a:avLst/>
          </a:prstGeom>
          <a:solidFill>
            <a:srgbClr val="FFFFFF"/>
          </a:solidFill>
          <a:ln w="12700">
            <a:solidFill>
              <a:srgbClr val="C3CCC0"/>
            </a:solidFill>
            <a:prstDash val="solid"/>
          </a:ln>
        </p:spPr>
      </p:sp>
      <p:sp>
        <p:nvSpPr>
          <p:cNvPr id="45" name="Text 43"/>
          <p:cNvSpPr txBox="1"/>
          <p:nvPr/>
        </p:nvSpPr>
        <p:spPr>
          <a:xfrm>
            <a:off x="6205576" y="4974336"/>
            <a:ext cx="2599868" cy="49377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46" name="card-Answer log"/>
          <p:cNvSpPr/>
          <p:nvPr/>
        </p:nvSpPr>
        <p:spPr>
          <a:xfrm>
            <a:off x="8960891" y="4937760"/>
            <a:ext cx="2727884" cy="566928"/>
          </a:xfrm>
          <a:prstGeom prst="rect">
            <a:avLst/>
          </a:prstGeom>
          <a:solidFill>
            <a:srgbClr val="FFFFFF"/>
          </a:solidFill>
          <a:ln w="12700">
            <a:solidFill>
              <a:srgbClr val="C3CCC0"/>
            </a:solidFill>
            <a:prstDash val="solid"/>
          </a:ln>
        </p:spPr>
      </p:sp>
      <p:sp>
        <p:nvSpPr>
          <p:cNvPr id="47" name="Text 45"/>
          <p:cNvSpPr txBox="1"/>
          <p:nvPr/>
        </p:nvSpPr>
        <p:spPr>
          <a:xfrm>
            <a:off x="9024899" y="4974336"/>
            <a:ext cx="2599868" cy="49377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48" name="answer"/>
          <p:cNvSpPr/>
          <p:nvPr/>
        </p:nvSpPr>
        <p:spPr>
          <a:xfrm>
            <a:off x="502920" y="5614416"/>
            <a:ext cx="11185855" cy="493776"/>
          </a:xfrm>
          <a:prstGeom prst="rect">
            <a:avLst/>
          </a:prstGeom>
          <a:solidFill>
            <a:srgbClr val="5B8C3A"/>
          </a:solidFill>
          <a:ln w="12700">
            <a:solidFill>
              <a:srgbClr val="446B29"/>
            </a:solidFill>
            <a:prstDash val="solid"/>
          </a:ln>
        </p:spPr>
      </p:sp>
      <p:sp>
        <p:nvSpPr>
          <p:cNvPr id="49" name="Text 47"/>
          <p:cNvSpPr txBox="1"/>
          <p:nvPr/>
        </p:nvSpPr>
        <p:spPr>
          <a:xfrm>
            <a:off x="630936" y="5614416"/>
            <a:ext cx="10929823" cy="493776"/>
          </a:xfrm>
          <a:prstGeom prst="rect">
            <a:avLst/>
          </a:prstGeom>
          <a:noFill/>
          <a:ln/>
        </p:spPr>
        <p:txBody>
          <a:bodyPr wrap="square" lIns="0" tIns="0" rIns="0" bIns="0" rtlCol="0" anchor="ctr"/>
          <a:lstStyle/>
          <a:p>
            <a:pPr indent="0" marL="0">
              <a:buNone/>
            </a:pPr>
            <a:r>
              <a:rPr lang="en-US" sz="115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150" dirty="0"/>
          </a:p>
        </p:txBody>
      </p:sp>
      <p:sp>
        <p:nvSpPr>
          <p:cNvPr id="50" name="Text 48"/>
          <p:cNvSpPr txBox="1"/>
          <p:nvPr/>
        </p:nvSpPr>
        <p:spPr>
          <a:xfrm>
            <a:off x="502920" y="6126480"/>
            <a:ext cx="11185855" cy="274320"/>
          </a:xfrm>
          <a:prstGeom prst="rect">
            <a:avLst/>
          </a:prstGeom>
          <a:noFill/>
          <a:ln/>
        </p:spPr>
        <p:txBody>
          <a:bodyPr wrap="square" lIns="0" tIns="0" rIns="0" bIns="0" rtlCol="0" anchor="ctr"/>
          <a:lstStyle/>
          <a:p>
            <a:pPr indent="0" marL="0">
              <a:buNone/>
            </a:pPr>
            <a:r>
              <a:rPr lang="en-US" sz="1000" i="1" dirty="0">
                <a:solidFill>
                  <a:srgbClr val="5C6B64"/>
                </a:solidFill>
              </a:rPr>
              <a:t>Five of six question classes never reach a model — that is why the deterministic measures sit at a 100% floor rather than a hopeful one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ten tools.</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6 of 6 question classes</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Six measures as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2026-10-05T16:53:26Z</dcterms:created>
  <dcterms:modified xsi:type="dcterms:W3CDTF">2026-10-05T16:53:26Z</dcterms:modified>
</cp:coreProperties>
</file>